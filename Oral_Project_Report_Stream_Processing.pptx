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B36"/>
        </a:solidFill>
      </p:bgPr>
    </p:bg>
    <p:spTree>
      <p:nvGrpSpPr>
        <p:cNvPr id="1" name=""/>
        <p:cNvGrpSpPr/>
        <p:nvPr/>
      </p:nvGrpSpPr>
      <p:grpSpPr>
        <a:xfrm>
          <a:off x="0" y="0"/>
          <a:ext cx="0" cy="0"/>
          <a:chOff x="0" y="0"/>
          <a:chExt cx="0" cy="0"/>
        </a:xfrm>
      </p:grpSpPr>
      <p:sp>
        <p:nvSpPr>
          <p:cNvPr id="2" name="Shape 0"/>
          <p:cNvSpPr/>
          <p:nvPr/>
        </p:nvSpPr>
        <p:spPr>
          <a:xfrm>
            <a:off x="7818120" y="1051560"/>
            <a:ext cx="3703320" cy="4754880"/>
          </a:xfrm>
          <a:prstGeom prst="roundRect">
            <a:avLst>
              <a:gd name="adj" fmla="val 2469"/>
            </a:avLst>
          </a:prstGeom>
          <a:solidFill>
            <a:srgbClr val="2C3743"/>
          </a:solidFill>
          <a:ln w="12700">
            <a:solidFill>
              <a:srgbClr val="3A4653"/>
            </a:solidFill>
            <a:prstDash val="solid"/>
          </a:ln>
        </p:spPr>
      </p:sp>
      <p:sp>
        <p:nvSpPr>
          <p:cNvPr id="3" name="Shape 1"/>
          <p:cNvSpPr/>
          <p:nvPr/>
        </p:nvSpPr>
        <p:spPr>
          <a:xfrm>
            <a:off x="8092440" y="1453896"/>
            <a:ext cx="146304" cy="146304"/>
          </a:xfrm>
          <a:prstGeom prst="ellipse">
            <a:avLst/>
          </a:prstGeom>
          <a:solidFill>
            <a:srgbClr val="5C6B79"/>
          </a:solidFill>
          <a:ln w="12700">
            <a:solidFill>
              <a:srgbClr val="333333"/>
            </a:solidFill>
            <a:prstDash val="solid"/>
          </a:ln>
        </p:spPr>
      </p:sp>
      <p:sp>
        <p:nvSpPr>
          <p:cNvPr id="4" name="Text 2"/>
          <p:cNvSpPr/>
          <p:nvPr/>
        </p:nvSpPr>
        <p:spPr>
          <a:xfrm>
            <a:off x="8366760" y="1371600"/>
            <a:ext cx="2103120" cy="310896"/>
          </a:xfrm>
          <a:prstGeom prst="rect">
            <a:avLst/>
          </a:prstGeom>
          <a:noFill/>
          <a:ln/>
        </p:spPr>
        <p:txBody>
          <a:bodyPr wrap="square" lIns="0" tIns="0" rIns="0" bIns="0" rtlCol="0" anchor="ctr"/>
          <a:lstStyle/>
          <a:p>
            <a:pPr indent="0" marL="0">
              <a:buNone/>
            </a:pPr>
            <a:r>
              <a:rPr lang="en-US" sz="1100" dirty="0">
                <a:solidFill>
                  <a:srgbClr val="8A98A5"/>
                </a:solidFill>
                <a:latin typeface="Courier New" pitchFamily="34" charset="0"/>
                <a:ea typeface="Courier New" pitchFamily="34" charset="-122"/>
                <a:cs typeface="Courier New" pitchFamily="34" charset="-120"/>
              </a:rPr>
              <a:t>T 64.2  H 44.0  S 73.8</a:t>
            </a:r>
            <a:endParaRPr lang="en-US" sz="1100" dirty="0"/>
          </a:p>
        </p:txBody>
      </p:sp>
      <p:sp>
        <p:nvSpPr>
          <p:cNvPr id="5" name="Shape 3"/>
          <p:cNvSpPr/>
          <p:nvPr/>
        </p:nvSpPr>
        <p:spPr>
          <a:xfrm>
            <a:off x="8092440" y="1984248"/>
            <a:ext cx="146304" cy="146304"/>
          </a:xfrm>
          <a:prstGeom prst="ellipse">
            <a:avLst/>
          </a:prstGeom>
          <a:solidFill>
            <a:srgbClr val="5C6B79"/>
          </a:solidFill>
          <a:ln w="12700">
            <a:solidFill>
              <a:srgbClr val="333333"/>
            </a:solidFill>
            <a:prstDash val="solid"/>
          </a:ln>
        </p:spPr>
      </p:sp>
      <p:sp>
        <p:nvSpPr>
          <p:cNvPr id="6" name="Text 4"/>
          <p:cNvSpPr/>
          <p:nvPr/>
        </p:nvSpPr>
        <p:spPr>
          <a:xfrm>
            <a:off x="8366760" y="1901952"/>
            <a:ext cx="2103120" cy="310896"/>
          </a:xfrm>
          <a:prstGeom prst="rect">
            <a:avLst/>
          </a:prstGeom>
          <a:noFill/>
          <a:ln/>
        </p:spPr>
        <p:txBody>
          <a:bodyPr wrap="square" lIns="0" tIns="0" rIns="0" bIns="0" rtlCol="0" anchor="ctr"/>
          <a:lstStyle/>
          <a:p>
            <a:pPr indent="0" marL="0">
              <a:buNone/>
            </a:pPr>
            <a:r>
              <a:rPr lang="en-US" sz="1100" dirty="0">
                <a:solidFill>
                  <a:srgbClr val="8A98A5"/>
                </a:solidFill>
                <a:latin typeface="Courier New" pitchFamily="34" charset="0"/>
                <a:ea typeface="Courier New" pitchFamily="34" charset="-122"/>
                <a:cs typeface="Courier New" pitchFamily="34" charset="-120"/>
              </a:rPr>
              <a:t>T 66.1  H 48.1  S 75.0</a:t>
            </a:r>
            <a:endParaRPr lang="en-US" sz="1100" dirty="0"/>
          </a:p>
        </p:txBody>
      </p:sp>
      <p:sp>
        <p:nvSpPr>
          <p:cNvPr id="7" name="Shape 5"/>
          <p:cNvSpPr/>
          <p:nvPr/>
        </p:nvSpPr>
        <p:spPr>
          <a:xfrm>
            <a:off x="8092440" y="2514600"/>
            <a:ext cx="146304" cy="146304"/>
          </a:xfrm>
          <a:prstGeom prst="ellipse">
            <a:avLst/>
          </a:prstGeom>
          <a:solidFill>
            <a:srgbClr val="5C6B79"/>
          </a:solidFill>
          <a:ln w="12700">
            <a:solidFill>
              <a:srgbClr val="333333"/>
            </a:solidFill>
            <a:prstDash val="solid"/>
          </a:ln>
        </p:spPr>
      </p:sp>
      <p:sp>
        <p:nvSpPr>
          <p:cNvPr id="8" name="Text 6"/>
          <p:cNvSpPr/>
          <p:nvPr/>
        </p:nvSpPr>
        <p:spPr>
          <a:xfrm>
            <a:off x="8366760" y="2432304"/>
            <a:ext cx="2103120" cy="310896"/>
          </a:xfrm>
          <a:prstGeom prst="rect">
            <a:avLst/>
          </a:prstGeom>
          <a:noFill/>
          <a:ln/>
        </p:spPr>
        <p:txBody>
          <a:bodyPr wrap="square" lIns="0" tIns="0" rIns="0" bIns="0" rtlCol="0" anchor="ctr"/>
          <a:lstStyle/>
          <a:p>
            <a:pPr indent="0" marL="0">
              <a:buNone/>
            </a:pPr>
            <a:r>
              <a:rPr lang="en-US" sz="1100" dirty="0">
                <a:solidFill>
                  <a:srgbClr val="8A98A5"/>
                </a:solidFill>
                <a:latin typeface="Courier New" pitchFamily="34" charset="0"/>
                <a:ea typeface="Courier New" pitchFamily="34" charset="-122"/>
                <a:cs typeface="Courier New" pitchFamily="34" charset="-120"/>
              </a:rPr>
              <a:t>T 63.5  H 41.7  S 69.2</a:t>
            </a:r>
            <a:endParaRPr lang="en-US" sz="1100" dirty="0"/>
          </a:p>
        </p:txBody>
      </p:sp>
      <p:sp>
        <p:nvSpPr>
          <p:cNvPr id="9" name="Shape 7"/>
          <p:cNvSpPr/>
          <p:nvPr/>
        </p:nvSpPr>
        <p:spPr>
          <a:xfrm>
            <a:off x="8092440" y="3044952"/>
            <a:ext cx="146304" cy="146304"/>
          </a:xfrm>
          <a:prstGeom prst="ellipse">
            <a:avLst/>
          </a:prstGeom>
          <a:solidFill>
            <a:srgbClr val="D4881F"/>
          </a:solidFill>
          <a:ln w="12700">
            <a:solidFill>
              <a:srgbClr val="333333"/>
            </a:solidFill>
            <a:prstDash val="solid"/>
          </a:ln>
        </p:spPr>
      </p:sp>
      <p:sp>
        <p:nvSpPr>
          <p:cNvPr id="10" name="Text 8"/>
          <p:cNvSpPr/>
          <p:nvPr/>
        </p:nvSpPr>
        <p:spPr>
          <a:xfrm>
            <a:off x="8366760" y="2962656"/>
            <a:ext cx="2103120" cy="31089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 87.0  H 63.6  S 101.5</a:t>
            </a:r>
            <a:endParaRPr lang="en-US" sz="1100" dirty="0"/>
          </a:p>
        </p:txBody>
      </p:sp>
      <p:sp>
        <p:nvSpPr>
          <p:cNvPr id="11" name="Text 9"/>
          <p:cNvSpPr/>
          <p:nvPr/>
        </p:nvSpPr>
        <p:spPr>
          <a:xfrm>
            <a:off x="10469880" y="2962656"/>
            <a:ext cx="868680" cy="310896"/>
          </a:xfrm>
          <a:prstGeom prst="rect">
            <a:avLst/>
          </a:prstGeom>
          <a:noFill/>
          <a:ln/>
        </p:spPr>
        <p:txBody>
          <a:bodyPr wrap="square" lIns="0" tIns="0" rIns="0" bIns="0" rtlCol="0" anchor="ctr"/>
          <a:lstStyle/>
          <a:p>
            <a:pPr algn="r" indent="0" marL="0">
              <a:buNone/>
            </a:pPr>
            <a:r>
              <a:rPr lang="en-US" sz="950" b="1" dirty="0">
                <a:solidFill>
                  <a:srgbClr val="D4881F"/>
                </a:solidFill>
                <a:latin typeface="Calibri" pitchFamily="34" charset="0"/>
                <a:ea typeface="Calibri" pitchFamily="34" charset="-122"/>
                <a:cs typeface="Calibri" pitchFamily="34" charset="-120"/>
              </a:rPr>
              <a:t>ALERT</a:t>
            </a:r>
            <a:endParaRPr lang="en-US" sz="950" dirty="0"/>
          </a:p>
        </p:txBody>
      </p:sp>
      <p:sp>
        <p:nvSpPr>
          <p:cNvPr id="12" name="Shape 10"/>
          <p:cNvSpPr/>
          <p:nvPr/>
        </p:nvSpPr>
        <p:spPr>
          <a:xfrm>
            <a:off x="8092440" y="3575304"/>
            <a:ext cx="146304" cy="146304"/>
          </a:xfrm>
          <a:prstGeom prst="ellipse">
            <a:avLst/>
          </a:prstGeom>
          <a:solidFill>
            <a:srgbClr val="5C6B79"/>
          </a:solidFill>
          <a:ln w="12700">
            <a:solidFill>
              <a:srgbClr val="333333"/>
            </a:solidFill>
            <a:prstDash val="solid"/>
          </a:ln>
        </p:spPr>
      </p:sp>
      <p:sp>
        <p:nvSpPr>
          <p:cNvPr id="13" name="Text 11"/>
          <p:cNvSpPr/>
          <p:nvPr/>
        </p:nvSpPr>
        <p:spPr>
          <a:xfrm>
            <a:off x="8366760" y="3493008"/>
            <a:ext cx="2103120" cy="310896"/>
          </a:xfrm>
          <a:prstGeom prst="rect">
            <a:avLst/>
          </a:prstGeom>
          <a:noFill/>
          <a:ln/>
        </p:spPr>
        <p:txBody>
          <a:bodyPr wrap="square" lIns="0" tIns="0" rIns="0" bIns="0" rtlCol="0" anchor="ctr"/>
          <a:lstStyle/>
          <a:p>
            <a:pPr indent="0" marL="0">
              <a:buNone/>
            </a:pPr>
            <a:r>
              <a:rPr lang="en-US" sz="1100" dirty="0">
                <a:solidFill>
                  <a:srgbClr val="8A98A5"/>
                </a:solidFill>
                <a:latin typeface="Courier New" pitchFamily="34" charset="0"/>
                <a:ea typeface="Courier New" pitchFamily="34" charset="-122"/>
                <a:cs typeface="Courier New" pitchFamily="34" charset="-120"/>
              </a:rPr>
              <a:t>T 65.8  H 46.9  S 71.4</a:t>
            </a:r>
            <a:endParaRPr lang="en-US" sz="1100" dirty="0"/>
          </a:p>
        </p:txBody>
      </p:sp>
      <p:sp>
        <p:nvSpPr>
          <p:cNvPr id="14" name="Shape 12"/>
          <p:cNvSpPr/>
          <p:nvPr/>
        </p:nvSpPr>
        <p:spPr>
          <a:xfrm>
            <a:off x="8092440" y="4105656"/>
            <a:ext cx="146304" cy="146304"/>
          </a:xfrm>
          <a:prstGeom prst="ellipse">
            <a:avLst/>
          </a:prstGeom>
          <a:solidFill>
            <a:srgbClr val="5C6B79"/>
          </a:solidFill>
          <a:ln w="12700">
            <a:solidFill>
              <a:srgbClr val="333333"/>
            </a:solidFill>
            <a:prstDash val="solid"/>
          </a:ln>
        </p:spPr>
      </p:sp>
      <p:sp>
        <p:nvSpPr>
          <p:cNvPr id="15" name="Text 13"/>
          <p:cNvSpPr/>
          <p:nvPr/>
        </p:nvSpPr>
        <p:spPr>
          <a:xfrm>
            <a:off x="8366760" y="4023360"/>
            <a:ext cx="2103120" cy="310896"/>
          </a:xfrm>
          <a:prstGeom prst="rect">
            <a:avLst/>
          </a:prstGeom>
          <a:noFill/>
          <a:ln/>
        </p:spPr>
        <p:txBody>
          <a:bodyPr wrap="square" lIns="0" tIns="0" rIns="0" bIns="0" rtlCol="0" anchor="ctr"/>
          <a:lstStyle/>
          <a:p>
            <a:pPr indent="0" marL="0">
              <a:buNone/>
            </a:pPr>
            <a:r>
              <a:rPr lang="en-US" sz="1100" dirty="0">
                <a:solidFill>
                  <a:srgbClr val="8A98A5"/>
                </a:solidFill>
                <a:latin typeface="Courier New" pitchFamily="34" charset="0"/>
                <a:ea typeface="Courier New" pitchFamily="34" charset="-122"/>
                <a:cs typeface="Courier New" pitchFamily="34" charset="-120"/>
              </a:rPr>
              <a:t>T 62.9  H 43.2  S 68.8</a:t>
            </a:r>
            <a:endParaRPr lang="en-US" sz="1100" dirty="0"/>
          </a:p>
        </p:txBody>
      </p:sp>
      <p:sp>
        <p:nvSpPr>
          <p:cNvPr id="16" name="Shape 14"/>
          <p:cNvSpPr/>
          <p:nvPr/>
        </p:nvSpPr>
        <p:spPr>
          <a:xfrm>
            <a:off x="8092440" y="4636008"/>
            <a:ext cx="146304" cy="146304"/>
          </a:xfrm>
          <a:prstGeom prst="ellipse">
            <a:avLst/>
          </a:prstGeom>
          <a:solidFill>
            <a:srgbClr val="D4881F"/>
          </a:solidFill>
          <a:ln w="12700">
            <a:solidFill>
              <a:srgbClr val="333333"/>
            </a:solidFill>
            <a:prstDash val="solid"/>
          </a:ln>
        </p:spPr>
      </p:sp>
      <p:sp>
        <p:nvSpPr>
          <p:cNvPr id="17" name="Text 15"/>
          <p:cNvSpPr/>
          <p:nvPr/>
        </p:nvSpPr>
        <p:spPr>
          <a:xfrm>
            <a:off x="8366760" y="4553712"/>
            <a:ext cx="2103120" cy="31089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 85.6  H 71.2  S 96.3</a:t>
            </a:r>
            <a:endParaRPr lang="en-US" sz="1100" dirty="0"/>
          </a:p>
        </p:txBody>
      </p:sp>
      <p:sp>
        <p:nvSpPr>
          <p:cNvPr id="18" name="Text 16"/>
          <p:cNvSpPr/>
          <p:nvPr/>
        </p:nvSpPr>
        <p:spPr>
          <a:xfrm>
            <a:off x="10469880" y="4553712"/>
            <a:ext cx="868680" cy="310896"/>
          </a:xfrm>
          <a:prstGeom prst="rect">
            <a:avLst/>
          </a:prstGeom>
          <a:noFill/>
          <a:ln/>
        </p:spPr>
        <p:txBody>
          <a:bodyPr wrap="square" lIns="0" tIns="0" rIns="0" bIns="0" rtlCol="0" anchor="ctr"/>
          <a:lstStyle/>
          <a:p>
            <a:pPr algn="r" indent="0" marL="0">
              <a:buNone/>
            </a:pPr>
            <a:r>
              <a:rPr lang="en-US" sz="950" b="1" dirty="0">
                <a:solidFill>
                  <a:srgbClr val="D4881F"/>
                </a:solidFill>
                <a:latin typeface="Calibri" pitchFamily="34" charset="0"/>
                <a:ea typeface="Calibri" pitchFamily="34" charset="-122"/>
                <a:cs typeface="Calibri" pitchFamily="34" charset="-120"/>
              </a:rPr>
              <a:t>ALERT</a:t>
            </a:r>
            <a:endParaRPr lang="en-US" sz="950" dirty="0"/>
          </a:p>
        </p:txBody>
      </p:sp>
      <p:sp>
        <p:nvSpPr>
          <p:cNvPr id="19" name="Shape 17"/>
          <p:cNvSpPr/>
          <p:nvPr/>
        </p:nvSpPr>
        <p:spPr>
          <a:xfrm>
            <a:off x="8092440" y="5166360"/>
            <a:ext cx="146304" cy="146304"/>
          </a:xfrm>
          <a:prstGeom prst="ellipse">
            <a:avLst/>
          </a:prstGeom>
          <a:solidFill>
            <a:srgbClr val="5C6B79"/>
          </a:solidFill>
          <a:ln w="12700">
            <a:solidFill>
              <a:srgbClr val="333333"/>
            </a:solidFill>
            <a:prstDash val="solid"/>
          </a:ln>
        </p:spPr>
      </p:sp>
      <p:sp>
        <p:nvSpPr>
          <p:cNvPr id="20" name="Text 18"/>
          <p:cNvSpPr/>
          <p:nvPr/>
        </p:nvSpPr>
        <p:spPr>
          <a:xfrm>
            <a:off x="8366760" y="5084064"/>
            <a:ext cx="2103120" cy="310896"/>
          </a:xfrm>
          <a:prstGeom prst="rect">
            <a:avLst/>
          </a:prstGeom>
          <a:noFill/>
          <a:ln/>
        </p:spPr>
        <p:txBody>
          <a:bodyPr wrap="square" lIns="0" tIns="0" rIns="0" bIns="0" rtlCol="0" anchor="ctr"/>
          <a:lstStyle/>
          <a:p>
            <a:pPr indent="0" marL="0">
              <a:buNone/>
            </a:pPr>
            <a:r>
              <a:rPr lang="en-US" sz="1100" dirty="0">
                <a:solidFill>
                  <a:srgbClr val="8A98A5"/>
                </a:solidFill>
                <a:latin typeface="Courier New" pitchFamily="34" charset="0"/>
                <a:ea typeface="Courier New" pitchFamily="34" charset="-122"/>
                <a:cs typeface="Courier New" pitchFamily="34" charset="-120"/>
              </a:rPr>
              <a:t>T 67.3  H 47.5  S 72.6</a:t>
            </a:r>
            <a:endParaRPr lang="en-US" sz="1100" dirty="0"/>
          </a:p>
        </p:txBody>
      </p:sp>
      <p:sp>
        <p:nvSpPr>
          <p:cNvPr id="21" name="Text 19"/>
          <p:cNvSpPr/>
          <p:nvPr/>
        </p:nvSpPr>
        <p:spPr>
          <a:xfrm>
            <a:off x="640080" y="1143000"/>
            <a:ext cx="6766560" cy="274320"/>
          </a:xfrm>
          <a:prstGeom prst="rect">
            <a:avLst/>
          </a:prstGeom>
          <a:noFill/>
          <a:ln/>
        </p:spPr>
        <p:txBody>
          <a:bodyPr wrap="square" lIns="0" tIns="0" rIns="0" bIns="0" rtlCol="0" anchor="ctr"/>
          <a:lstStyle/>
          <a:p>
            <a:pPr indent="0" marL="0">
              <a:buNone/>
            </a:pPr>
            <a:r>
              <a:rPr lang="en-US" sz="1200" b="1" spc="250" kern="0" dirty="0">
                <a:solidFill>
                  <a:srgbClr val="D4881F"/>
                </a:solidFill>
                <a:latin typeface="Calibri" pitchFamily="34" charset="0"/>
                <a:ea typeface="Calibri" pitchFamily="34" charset="-122"/>
                <a:cs typeface="Calibri" pitchFamily="34" charset="-120"/>
              </a:rPr>
              <a:t>ORAL PROJECT REPORT</a:t>
            </a:r>
            <a:endParaRPr lang="en-US" sz="1200" dirty="0"/>
          </a:p>
        </p:txBody>
      </p:sp>
      <p:sp>
        <p:nvSpPr>
          <p:cNvPr id="22" name="Text 20"/>
          <p:cNvSpPr/>
          <p:nvPr/>
        </p:nvSpPr>
        <p:spPr>
          <a:xfrm>
            <a:off x="640080" y="1572768"/>
            <a:ext cx="6949440" cy="1554480"/>
          </a:xfrm>
          <a:prstGeom prst="rect">
            <a:avLst/>
          </a:prstGeom>
          <a:noFill/>
          <a:ln/>
        </p:spPr>
        <p:txBody>
          <a:bodyPr wrap="square" lIns="0" tIns="0" rIns="0" bIns="0" rtlCol="0" anchor="t"/>
          <a:lstStyle/>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Real-Time Anomaly Detection</a:t>
            </a:r>
            <a:endParaRPr lang="en-US" sz="3600" dirty="0"/>
          </a:p>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in an IoT Setting</a:t>
            </a:r>
            <a:endParaRPr lang="en-US" sz="3600" dirty="0"/>
          </a:p>
        </p:txBody>
      </p:sp>
      <p:sp>
        <p:nvSpPr>
          <p:cNvPr id="23" name="Text 21"/>
          <p:cNvSpPr/>
          <p:nvPr/>
        </p:nvSpPr>
        <p:spPr>
          <a:xfrm>
            <a:off x="640080" y="3127248"/>
            <a:ext cx="6675120" cy="731520"/>
          </a:xfrm>
          <a:prstGeom prst="rect">
            <a:avLst/>
          </a:prstGeom>
          <a:noFill/>
          <a:ln/>
        </p:spPr>
        <p:txBody>
          <a:bodyPr wrap="square" lIns="0" tIns="0" rIns="0" bIns="0" rtlCol="0" anchor="t"/>
          <a:lstStyle/>
          <a:p>
            <a:pPr indent="0" marL="0">
              <a:buNone/>
            </a:pPr>
            <a:r>
              <a:rPr lang="en-US" sz="1500" i="1" dirty="0">
                <a:solidFill>
                  <a:srgbClr val="AEBBC6"/>
                </a:solidFill>
                <a:latin typeface="Calibri" pitchFamily="34" charset="0"/>
                <a:ea typeface="Calibri" pitchFamily="34" charset="-122"/>
                <a:cs typeface="Calibri" pitchFamily="34" charset="-120"/>
              </a:rPr>
              <a:t>Spotlight: stream processing — from a Python model to a monitored, production-style prediction service</a:t>
            </a:r>
            <a:endParaRPr lang="en-US" sz="1500" dirty="0"/>
          </a:p>
        </p:txBody>
      </p:sp>
      <p:sp>
        <p:nvSpPr>
          <p:cNvPr id="24" name="Text 22"/>
          <p:cNvSpPr/>
          <p:nvPr/>
        </p:nvSpPr>
        <p:spPr>
          <a:xfrm>
            <a:off x="640080" y="4069080"/>
            <a:ext cx="137160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Course</a:t>
            </a:r>
            <a:endParaRPr lang="en-US" sz="1250" dirty="0"/>
          </a:p>
        </p:txBody>
      </p:sp>
      <p:sp>
        <p:nvSpPr>
          <p:cNvPr id="25" name="Text 23"/>
          <p:cNvSpPr/>
          <p:nvPr/>
        </p:nvSpPr>
        <p:spPr>
          <a:xfrm>
            <a:off x="2057400" y="4069080"/>
            <a:ext cx="5120640" cy="329184"/>
          </a:xfrm>
          <a:prstGeom prst="rect">
            <a:avLst/>
          </a:prstGeom>
          <a:noFill/>
          <a:ln/>
        </p:spPr>
        <p:txBody>
          <a:bodyPr wrap="square" lIns="0" tIns="0" rIns="0" bIns="0" rtlCol="0" anchor="ctr"/>
          <a:lstStyle/>
          <a:p>
            <a:pPr indent="0" marL="0">
              <a:buNone/>
            </a:pPr>
            <a:r>
              <a:rPr lang="en-US" sz="1250" dirty="0">
                <a:solidFill>
                  <a:srgbClr val="AEBBC6"/>
                </a:solidFill>
                <a:latin typeface="Calibri" pitchFamily="34" charset="0"/>
                <a:ea typeface="Calibri" pitchFamily="34" charset="-122"/>
                <a:cs typeface="Calibri" pitchFamily="34" charset="-120"/>
              </a:rPr>
              <a:t>DLBDSMTP01 – Project: From Model to Production</a:t>
            </a:r>
            <a:endParaRPr lang="en-US" sz="1250" dirty="0"/>
          </a:p>
        </p:txBody>
      </p:sp>
      <p:sp>
        <p:nvSpPr>
          <p:cNvPr id="26" name="Text 24"/>
          <p:cNvSpPr/>
          <p:nvPr/>
        </p:nvSpPr>
        <p:spPr>
          <a:xfrm>
            <a:off x="640080" y="4453128"/>
            <a:ext cx="137160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Task 1</a:t>
            </a:r>
            <a:endParaRPr lang="en-US" sz="1250" dirty="0"/>
          </a:p>
        </p:txBody>
      </p:sp>
      <p:sp>
        <p:nvSpPr>
          <p:cNvPr id="27" name="Text 25"/>
          <p:cNvSpPr/>
          <p:nvPr/>
        </p:nvSpPr>
        <p:spPr>
          <a:xfrm>
            <a:off x="2057400" y="4453128"/>
            <a:ext cx="5120640" cy="329184"/>
          </a:xfrm>
          <a:prstGeom prst="rect">
            <a:avLst/>
          </a:prstGeom>
          <a:noFill/>
          <a:ln/>
        </p:spPr>
        <p:txBody>
          <a:bodyPr wrap="square" lIns="0" tIns="0" rIns="0" bIns="0" rtlCol="0" anchor="ctr"/>
          <a:lstStyle/>
          <a:p>
            <a:pPr indent="0" marL="0">
              <a:buNone/>
            </a:pPr>
            <a:r>
              <a:rPr lang="en-US" sz="1250" dirty="0">
                <a:solidFill>
                  <a:srgbClr val="AEBBC6"/>
                </a:solidFill>
                <a:latin typeface="Calibri" pitchFamily="34" charset="0"/>
                <a:ea typeface="Calibri" pitchFamily="34" charset="-122"/>
                <a:cs typeface="Calibri" pitchFamily="34" charset="-120"/>
              </a:rPr>
              <a:t>Anomaly detection in an IoT setting</a:t>
            </a:r>
            <a:endParaRPr lang="en-US" sz="1250" dirty="0"/>
          </a:p>
        </p:txBody>
      </p:sp>
      <p:sp>
        <p:nvSpPr>
          <p:cNvPr id="28" name="Text 26"/>
          <p:cNvSpPr/>
          <p:nvPr/>
        </p:nvSpPr>
        <p:spPr>
          <a:xfrm>
            <a:off x="640080" y="4837176"/>
            <a:ext cx="137160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Presented by</a:t>
            </a:r>
            <a:endParaRPr lang="en-US" sz="1250" dirty="0"/>
          </a:p>
        </p:txBody>
      </p:sp>
      <p:sp>
        <p:nvSpPr>
          <p:cNvPr id="29" name="Text 27"/>
          <p:cNvSpPr/>
          <p:nvPr/>
        </p:nvSpPr>
        <p:spPr>
          <a:xfrm>
            <a:off x="2057400" y="4837176"/>
            <a:ext cx="5120640" cy="329184"/>
          </a:xfrm>
          <a:prstGeom prst="rect">
            <a:avLst/>
          </a:prstGeom>
          <a:noFill/>
          <a:ln/>
        </p:spPr>
        <p:txBody>
          <a:bodyPr wrap="square" lIns="0" tIns="0" rIns="0" bIns="0" rtlCol="0" anchor="ctr"/>
          <a:lstStyle/>
          <a:p>
            <a:pPr indent="0" marL="0">
              <a:buNone/>
            </a:pPr>
            <a:r>
              <a:rPr lang="en-US" sz="1250" dirty="0">
                <a:solidFill>
                  <a:srgbClr val="AEBBC6"/>
                </a:solidFill>
                <a:latin typeface="Calibri" pitchFamily="34" charset="0"/>
                <a:ea typeface="Calibri" pitchFamily="34" charset="-122"/>
                <a:cs typeface="Calibri" pitchFamily="34" charset="-120"/>
              </a:rPr>
              <a:t>Amash Mohamed</a:t>
            </a:r>
            <a:endParaRPr lang="en-US" sz="1250" dirty="0"/>
          </a:p>
        </p:txBody>
      </p:sp>
      <p:sp>
        <p:nvSpPr>
          <p:cNvPr id="30" name="Text 28"/>
          <p:cNvSpPr/>
          <p:nvPr/>
        </p:nvSpPr>
        <p:spPr>
          <a:xfrm>
            <a:off x="640080" y="5221224"/>
            <a:ext cx="137160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Date</a:t>
            </a:r>
            <a:endParaRPr lang="en-US" sz="1250" dirty="0"/>
          </a:p>
        </p:txBody>
      </p:sp>
      <p:sp>
        <p:nvSpPr>
          <p:cNvPr id="31" name="Text 29"/>
          <p:cNvSpPr/>
          <p:nvPr/>
        </p:nvSpPr>
        <p:spPr>
          <a:xfrm>
            <a:off x="2057400" y="5221224"/>
            <a:ext cx="5120640" cy="329184"/>
          </a:xfrm>
          <a:prstGeom prst="rect">
            <a:avLst/>
          </a:prstGeom>
          <a:noFill/>
          <a:ln/>
        </p:spPr>
        <p:txBody>
          <a:bodyPr wrap="square" lIns="0" tIns="0" rIns="0" bIns="0" rtlCol="0" anchor="ctr"/>
          <a:lstStyle/>
          <a:p>
            <a:pPr indent="0" marL="0">
              <a:buNone/>
            </a:pPr>
            <a:r>
              <a:rPr lang="en-US" sz="1250" dirty="0">
                <a:solidFill>
                  <a:srgbClr val="D4881F"/>
                </a:solidFill>
                <a:latin typeface="Calibri" pitchFamily="34" charset="0"/>
                <a:ea typeface="Calibri" pitchFamily="34" charset="-122"/>
                <a:cs typeface="Calibri" pitchFamily="34" charset="-120"/>
              </a:rPr>
              <a:t>[DD Month YYYY]</a:t>
            </a:r>
            <a:endParaRPr lang="en-US" sz="1250" dirty="0"/>
          </a:p>
        </p:txBody>
      </p:sp>
      <p:sp>
        <p:nvSpPr>
          <p:cNvPr id="32" name="Text 30"/>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33" name="Text 31"/>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Outline</a:t>
            </a:r>
            <a:endParaRPr lang="en-US" sz="3200" dirty="0"/>
          </a:p>
        </p:txBody>
      </p:sp>
      <p:sp>
        <p:nvSpPr>
          <p:cNvPr id="3" name="Shape 1"/>
          <p:cNvSpPr/>
          <p:nvPr/>
        </p:nvSpPr>
        <p:spPr>
          <a:xfrm>
            <a:off x="640080" y="1508760"/>
            <a:ext cx="5257800" cy="1234440"/>
          </a:xfrm>
          <a:prstGeom prst="roundRect">
            <a:avLst>
              <a:gd name="adj" fmla="val 5926"/>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4" name="Shape 2"/>
          <p:cNvSpPr/>
          <p:nvPr/>
        </p:nvSpPr>
        <p:spPr>
          <a:xfrm>
            <a:off x="932688" y="1911096"/>
            <a:ext cx="420624" cy="420624"/>
          </a:xfrm>
          <a:prstGeom prst="ellipse">
            <a:avLst/>
          </a:prstGeom>
          <a:solidFill>
            <a:srgbClr val="D4881F"/>
          </a:solidFill>
          <a:ln w="12700">
            <a:solidFill>
              <a:srgbClr val="D4881F"/>
            </a:solidFill>
            <a:prstDash val="solid"/>
          </a:ln>
        </p:spPr>
      </p:sp>
      <p:sp>
        <p:nvSpPr>
          <p:cNvPr id="5" name="Text 3"/>
          <p:cNvSpPr/>
          <p:nvPr/>
        </p:nvSpPr>
        <p:spPr>
          <a:xfrm>
            <a:off x="932688" y="19110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508760" y="1746504"/>
            <a:ext cx="420624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 problem</a:t>
            </a:r>
            <a:endParaRPr lang="en-US" sz="1700" dirty="0"/>
          </a:p>
        </p:txBody>
      </p:sp>
      <p:sp>
        <p:nvSpPr>
          <p:cNvPr id="7" name="Text 5"/>
          <p:cNvSpPr/>
          <p:nvPr/>
        </p:nvSpPr>
        <p:spPr>
          <a:xfrm>
            <a:off x="1508760" y="2112264"/>
            <a:ext cx="4206240" cy="50292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Factory scenario, stakeholders, what the system must do</a:t>
            </a:r>
            <a:endParaRPr lang="en-US" sz="1200" dirty="0"/>
          </a:p>
        </p:txBody>
      </p:sp>
      <p:sp>
        <p:nvSpPr>
          <p:cNvPr id="8" name="Shape 6"/>
          <p:cNvSpPr/>
          <p:nvPr/>
        </p:nvSpPr>
        <p:spPr>
          <a:xfrm>
            <a:off x="6263640" y="1508760"/>
            <a:ext cx="5257800" cy="1234440"/>
          </a:xfrm>
          <a:prstGeom prst="roundRect">
            <a:avLst>
              <a:gd name="adj" fmla="val 5926"/>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9" name="Shape 7"/>
          <p:cNvSpPr/>
          <p:nvPr/>
        </p:nvSpPr>
        <p:spPr>
          <a:xfrm>
            <a:off x="6556248" y="1911096"/>
            <a:ext cx="420624" cy="420624"/>
          </a:xfrm>
          <a:prstGeom prst="ellipse">
            <a:avLst/>
          </a:prstGeom>
          <a:solidFill>
            <a:srgbClr val="D4881F"/>
          </a:solidFill>
          <a:ln w="12700">
            <a:solidFill>
              <a:srgbClr val="D4881F"/>
            </a:solidFill>
            <a:prstDash val="solid"/>
          </a:ln>
        </p:spPr>
      </p:sp>
      <p:sp>
        <p:nvSpPr>
          <p:cNvPr id="10" name="Text 8"/>
          <p:cNvSpPr/>
          <p:nvPr/>
        </p:nvSpPr>
        <p:spPr>
          <a:xfrm>
            <a:off x="6556248" y="19110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7132320" y="1746504"/>
            <a:ext cx="420624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Approach &amp; project phases</a:t>
            </a:r>
            <a:endParaRPr lang="en-US" sz="1700" dirty="0"/>
          </a:p>
        </p:txBody>
      </p:sp>
      <p:sp>
        <p:nvSpPr>
          <p:cNvPr id="12" name="Text 10"/>
          <p:cNvSpPr/>
          <p:nvPr/>
        </p:nvSpPr>
        <p:spPr>
          <a:xfrm>
            <a:off x="7132320" y="2112264"/>
            <a:ext cx="4206240" cy="50292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How I planned and worked through the project</a:t>
            </a:r>
            <a:endParaRPr lang="en-US" sz="1200" dirty="0"/>
          </a:p>
        </p:txBody>
      </p:sp>
      <p:sp>
        <p:nvSpPr>
          <p:cNvPr id="13" name="Shape 11"/>
          <p:cNvSpPr/>
          <p:nvPr/>
        </p:nvSpPr>
        <p:spPr>
          <a:xfrm>
            <a:off x="640080" y="2990088"/>
            <a:ext cx="5257800" cy="1234440"/>
          </a:xfrm>
          <a:prstGeom prst="roundRect">
            <a:avLst>
              <a:gd name="adj" fmla="val 5926"/>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4" name="Shape 12"/>
          <p:cNvSpPr/>
          <p:nvPr/>
        </p:nvSpPr>
        <p:spPr>
          <a:xfrm>
            <a:off x="932688" y="3392424"/>
            <a:ext cx="420624" cy="420624"/>
          </a:xfrm>
          <a:prstGeom prst="ellipse">
            <a:avLst/>
          </a:prstGeom>
          <a:solidFill>
            <a:srgbClr val="D4881F"/>
          </a:solidFill>
          <a:ln w="12700">
            <a:solidFill>
              <a:srgbClr val="D4881F"/>
            </a:solidFill>
            <a:prstDash val="solid"/>
          </a:ln>
        </p:spPr>
      </p:sp>
      <p:sp>
        <p:nvSpPr>
          <p:cNvPr id="15" name="Text 13"/>
          <p:cNvSpPr/>
          <p:nvPr/>
        </p:nvSpPr>
        <p:spPr>
          <a:xfrm>
            <a:off x="932688" y="3392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1508760" y="3227832"/>
            <a:ext cx="420624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System architecture</a:t>
            </a:r>
            <a:endParaRPr lang="en-US" sz="1700" dirty="0"/>
          </a:p>
        </p:txBody>
      </p:sp>
      <p:sp>
        <p:nvSpPr>
          <p:cNvPr id="17" name="Text 15"/>
          <p:cNvSpPr/>
          <p:nvPr/>
        </p:nvSpPr>
        <p:spPr>
          <a:xfrm>
            <a:off x="1508760" y="3593592"/>
            <a:ext cx="4206240" cy="50292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Conceptual design: ingestion → service → decision support</a:t>
            </a:r>
            <a:endParaRPr lang="en-US" sz="1200" dirty="0"/>
          </a:p>
        </p:txBody>
      </p:sp>
      <p:sp>
        <p:nvSpPr>
          <p:cNvPr id="18" name="Shape 16"/>
          <p:cNvSpPr/>
          <p:nvPr/>
        </p:nvSpPr>
        <p:spPr>
          <a:xfrm>
            <a:off x="6263640" y="2990088"/>
            <a:ext cx="5257800" cy="1234440"/>
          </a:xfrm>
          <a:prstGeom prst="roundRect">
            <a:avLst>
              <a:gd name="adj" fmla="val 5926"/>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9" name="Shape 17"/>
          <p:cNvSpPr/>
          <p:nvPr/>
        </p:nvSpPr>
        <p:spPr>
          <a:xfrm>
            <a:off x="6556248" y="3392424"/>
            <a:ext cx="420624" cy="420624"/>
          </a:xfrm>
          <a:prstGeom prst="ellipse">
            <a:avLst/>
          </a:prstGeom>
          <a:solidFill>
            <a:srgbClr val="D4881F"/>
          </a:solidFill>
          <a:ln w="12700">
            <a:solidFill>
              <a:srgbClr val="D4881F"/>
            </a:solidFill>
            <a:prstDash val="solid"/>
          </a:ln>
        </p:spPr>
      </p:sp>
      <p:sp>
        <p:nvSpPr>
          <p:cNvPr id="20" name="Text 18"/>
          <p:cNvSpPr/>
          <p:nvPr/>
        </p:nvSpPr>
        <p:spPr>
          <a:xfrm>
            <a:off x="6556248" y="3392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7132320" y="3227832"/>
            <a:ext cx="420624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Data &amp; model</a:t>
            </a:r>
            <a:endParaRPr lang="en-US" sz="1700" dirty="0"/>
          </a:p>
        </p:txBody>
      </p:sp>
      <p:sp>
        <p:nvSpPr>
          <p:cNvPr id="22" name="Text 20"/>
          <p:cNvSpPr/>
          <p:nvPr/>
        </p:nvSpPr>
        <p:spPr>
          <a:xfrm>
            <a:off x="7132320" y="3593592"/>
            <a:ext cx="4206240" cy="50292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Simulated sensor stream, Isolation Forest, evaluation</a:t>
            </a:r>
            <a:endParaRPr lang="en-US" sz="1200" dirty="0"/>
          </a:p>
        </p:txBody>
      </p:sp>
      <p:sp>
        <p:nvSpPr>
          <p:cNvPr id="23" name="Shape 21"/>
          <p:cNvSpPr/>
          <p:nvPr/>
        </p:nvSpPr>
        <p:spPr>
          <a:xfrm>
            <a:off x="640080" y="4471416"/>
            <a:ext cx="5257800" cy="1234440"/>
          </a:xfrm>
          <a:prstGeom prst="roundRect">
            <a:avLst>
              <a:gd name="adj" fmla="val 5926"/>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24" name="Shape 22"/>
          <p:cNvSpPr/>
          <p:nvPr/>
        </p:nvSpPr>
        <p:spPr>
          <a:xfrm>
            <a:off x="932688" y="4873752"/>
            <a:ext cx="420624" cy="420624"/>
          </a:xfrm>
          <a:prstGeom prst="ellipse">
            <a:avLst/>
          </a:prstGeom>
          <a:solidFill>
            <a:srgbClr val="D4881F"/>
          </a:solidFill>
          <a:ln w="12700">
            <a:solidFill>
              <a:srgbClr val="D4881F"/>
            </a:solidFill>
            <a:prstDash val="solid"/>
          </a:ln>
        </p:spPr>
      </p:sp>
      <p:sp>
        <p:nvSpPr>
          <p:cNvPr id="25" name="Text 23"/>
          <p:cNvSpPr/>
          <p:nvPr/>
        </p:nvSpPr>
        <p:spPr>
          <a:xfrm>
            <a:off x="932688" y="48737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6" name="Text 24"/>
          <p:cNvSpPr/>
          <p:nvPr/>
        </p:nvSpPr>
        <p:spPr>
          <a:xfrm>
            <a:off x="1508760" y="4709160"/>
            <a:ext cx="420624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 model as a service</a:t>
            </a:r>
            <a:endParaRPr lang="en-US" sz="1700" dirty="0"/>
          </a:p>
        </p:txBody>
      </p:sp>
      <p:sp>
        <p:nvSpPr>
          <p:cNvPr id="27" name="Text 25"/>
          <p:cNvSpPr/>
          <p:nvPr/>
        </p:nvSpPr>
        <p:spPr>
          <a:xfrm>
            <a:off x="1508760" y="5074920"/>
            <a:ext cx="4206240" cy="50292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Flask REST API, live stream, monitoring — demonstrated</a:t>
            </a:r>
            <a:endParaRPr lang="en-US" sz="1200" dirty="0"/>
          </a:p>
        </p:txBody>
      </p:sp>
      <p:sp>
        <p:nvSpPr>
          <p:cNvPr id="28" name="Shape 26"/>
          <p:cNvSpPr/>
          <p:nvPr/>
        </p:nvSpPr>
        <p:spPr>
          <a:xfrm>
            <a:off x="6263640" y="4471416"/>
            <a:ext cx="5257800" cy="1234440"/>
          </a:xfrm>
          <a:prstGeom prst="roundRect">
            <a:avLst>
              <a:gd name="adj" fmla="val 5926"/>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29" name="Shape 27"/>
          <p:cNvSpPr/>
          <p:nvPr/>
        </p:nvSpPr>
        <p:spPr>
          <a:xfrm>
            <a:off x="6556248" y="4873752"/>
            <a:ext cx="420624" cy="420624"/>
          </a:xfrm>
          <a:prstGeom prst="ellipse">
            <a:avLst/>
          </a:prstGeom>
          <a:solidFill>
            <a:srgbClr val="D4881F"/>
          </a:solidFill>
          <a:ln w="12700">
            <a:solidFill>
              <a:srgbClr val="D4881F"/>
            </a:solidFill>
            <a:prstDash val="solid"/>
          </a:ln>
        </p:spPr>
      </p:sp>
      <p:sp>
        <p:nvSpPr>
          <p:cNvPr id="30" name="Text 28"/>
          <p:cNvSpPr/>
          <p:nvPr/>
        </p:nvSpPr>
        <p:spPr>
          <a:xfrm>
            <a:off x="6556248" y="48737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1" name="Text 29"/>
          <p:cNvSpPr/>
          <p:nvPr/>
        </p:nvSpPr>
        <p:spPr>
          <a:xfrm>
            <a:off x="7132320" y="4709160"/>
            <a:ext cx="420624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Reflection &amp; conclusion</a:t>
            </a:r>
            <a:endParaRPr lang="en-US" sz="1700" dirty="0"/>
          </a:p>
        </p:txBody>
      </p:sp>
      <p:sp>
        <p:nvSpPr>
          <p:cNvPr id="32" name="Text 30"/>
          <p:cNvSpPr/>
          <p:nvPr/>
        </p:nvSpPr>
        <p:spPr>
          <a:xfrm>
            <a:off x="7132320" y="5074920"/>
            <a:ext cx="4206240" cy="50292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Challenges, constraints, results, what I would improve</a:t>
            </a:r>
            <a:endParaRPr lang="en-US" sz="1200" dirty="0"/>
          </a:p>
        </p:txBody>
      </p:sp>
      <p:sp>
        <p:nvSpPr>
          <p:cNvPr id="33" name="Text 31"/>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34" name="Text 32"/>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01 · PROJECT / TASK DEFINITION</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The problem: a BI dashboard is not a warning system</a:t>
            </a:r>
            <a:endParaRPr lang="en-US" sz="3200" dirty="0"/>
          </a:p>
        </p:txBody>
      </p:sp>
      <p:sp>
        <p:nvSpPr>
          <p:cNvPr id="4" name="Text 2"/>
          <p:cNvSpPr/>
          <p:nvPr/>
        </p:nvSpPr>
        <p:spPr>
          <a:xfrm>
            <a:off x="640080" y="1572768"/>
            <a:ext cx="5989320" cy="30175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4A5866"/>
                </a:solidFill>
                <a:latin typeface="Calibri" pitchFamily="34" charset="0"/>
                <a:ea typeface="Calibri" pitchFamily="34" charset="-122"/>
                <a:cs typeface="Calibri" pitchFamily="34" charset="-120"/>
              </a:rPr>
              <a:t>A factory produces machine components for wind turbines; numerous sensors track every production cycle.</a:t>
            </a:r>
            <a:endParaRPr lang="en-US" sz="1500" dirty="0"/>
          </a:p>
          <a:p>
            <a:pPr marL="203200" indent="-203200">
              <a:spcAft>
                <a:spcPts val="1000"/>
              </a:spcAft>
              <a:buSzPct val="100000"/>
              <a:buChar char="•"/>
            </a:pPr>
            <a:r>
              <a:rPr lang="en-US" sz="1500" dirty="0">
                <a:solidFill>
                  <a:srgbClr val="4A5866"/>
                </a:solidFill>
                <a:latin typeface="Calibri" pitchFamily="34" charset="0"/>
                <a:ea typeface="Calibri" pitchFamily="34" charset="-122"/>
                <a:cs typeface="Calibri" pitchFamily="34" charset="-120"/>
              </a:rPr>
              <a:t>Managers already see the numbers in a BI dashboard — but a dashboard only shows values; it does not tell anyone that something has gone wrong.</a:t>
            </a:r>
            <a:endParaRPr lang="en-US" sz="1500" dirty="0"/>
          </a:p>
          <a:p>
            <a:pPr marL="203200" indent="-203200">
              <a:spcAft>
                <a:spcPts val="1000"/>
              </a:spcAft>
              <a:buSzPct val="100000"/>
              <a:buChar char="•"/>
            </a:pPr>
            <a:r>
              <a:rPr lang="en-US" sz="1500" dirty="0">
                <a:solidFill>
                  <a:srgbClr val="4A5866"/>
                </a:solidFill>
                <a:latin typeface="Calibri" pitchFamily="34" charset="0"/>
                <a:ea typeface="Calibri" pitchFamily="34" charset="-122"/>
                <a:cs typeface="Calibri" pitchFamily="34" charset="-120"/>
              </a:rPr>
              <a:t>Shop-floor employees (domain experts) confirmed that temperature, humidity and sound volume are reliable indicators of a faulty item.</a:t>
            </a:r>
            <a:endParaRPr lang="en-US" sz="1500" dirty="0"/>
          </a:p>
          <a:p>
            <a:pPr marL="203200" indent="-203200">
              <a:spcAft>
                <a:spcPts val="1000"/>
              </a:spcAft>
              <a:buSzPct val="100000"/>
              <a:buChar char="•"/>
            </a:pPr>
            <a:r>
              <a:rPr lang="en-US" sz="1500" dirty="0">
                <a:solidFill>
                  <a:srgbClr val="4A5866"/>
                </a:solidFill>
                <a:latin typeface="Calibri" pitchFamily="34" charset="0"/>
                <a:ea typeface="Calibri" pitchFamily="34" charset="-122"/>
                <a:cs typeface="Calibri" pitchFamily="34" charset="-120"/>
              </a:rPr>
              <a:t>Required: a decision-support system that scores every produced item in real time and raises an alert when the pattern looks abnormal.</a:t>
            </a:r>
            <a:endParaRPr lang="en-US" sz="1500" dirty="0"/>
          </a:p>
        </p:txBody>
      </p:sp>
      <p:sp>
        <p:nvSpPr>
          <p:cNvPr id="5" name="Shape 3"/>
          <p:cNvSpPr/>
          <p:nvPr/>
        </p:nvSpPr>
        <p:spPr>
          <a:xfrm>
            <a:off x="640080" y="4617720"/>
            <a:ext cx="5989320" cy="1115568"/>
          </a:xfrm>
          <a:prstGeom prst="roundRect">
            <a:avLst>
              <a:gd name="adj" fmla="val 4918"/>
            </a:avLst>
          </a:prstGeom>
          <a:solidFill>
            <a:srgbClr val="FBF1E1"/>
          </a:solidFill>
          <a:ln w="12700">
            <a:solidFill>
              <a:srgbClr val="FBF1E1"/>
            </a:solidFill>
            <a:prstDash val="solid"/>
          </a:ln>
        </p:spPr>
      </p:sp>
      <p:sp>
        <p:nvSpPr>
          <p:cNvPr id="6" name="Text 4"/>
          <p:cNvSpPr/>
          <p:nvPr/>
        </p:nvSpPr>
        <p:spPr>
          <a:xfrm>
            <a:off x="914400" y="4617720"/>
            <a:ext cx="5440680" cy="1115568"/>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The gap to close:  </a:t>
            </a:r>
            <a:pPr indent="0" marL="0">
              <a:buNone/>
            </a:pPr>
            <a:r>
              <a:rPr lang="en-US" sz="1300" dirty="0">
                <a:solidFill>
                  <a:srgbClr val="4A5866"/>
                </a:solidFill>
                <a:latin typeface="Calibri" pitchFamily="34" charset="0"/>
                <a:ea typeface="Calibri" pitchFamily="34" charset="-122"/>
                <a:cs typeface="Calibri" pitchFamily="34" charset="-120"/>
              </a:rPr>
              <a:t>the factory can already see its data. What it cannot do is notice, item by item and in real time, when the pattern stops looking normal. That decision — not the dashboard — is what this project automates.</a:t>
            </a:r>
            <a:endParaRPr lang="en-US" sz="1300" dirty="0"/>
          </a:p>
        </p:txBody>
      </p:sp>
      <p:sp>
        <p:nvSpPr>
          <p:cNvPr id="7" name="Shape 5"/>
          <p:cNvSpPr/>
          <p:nvPr/>
        </p:nvSpPr>
        <p:spPr>
          <a:xfrm>
            <a:off x="6995160" y="1572768"/>
            <a:ext cx="4526280" cy="4160520"/>
          </a:xfrm>
          <a:prstGeom prst="roundRect">
            <a:avLst>
              <a:gd name="adj" fmla="val 1758"/>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8" name="Text 6"/>
          <p:cNvSpPr/>
          <p:nvPr/>
        </p:nvSpPr>
        <p:spPr>
          <a:xfrm>
            <a:off x="7315200" y="1783080"/>
            <a:ext cx="3931920" cy="320040"/>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Stakeholders</a:t>
            </a:r>
            <a:endParaRPr lang="en-US" sz="1600" dirty="0"/>
          </a:p>
        </p:txBody>
      </p:sp>
      <p:sp>
        <p:nvSpPr>
          <p:cNvPr id="9" name="Shape 7"/>
          <p:cNvSpPr/>
          <p:nvPr/>
        </p:nvSpPr>
        <p:spPr>
          <a:xfrm>
            <a:off x="7315200" y="2295144"/>
            <a:ext cx="146304" cy="146304"/>
          </a:xfrm>
          <a:prstGeom prst="ellipse">
            <a:avLst/>
          </a:prstGeom>
          <a:solidFill>
            <a:srgbClr val="D4881F"/>
          </a:solidFill>
          <a:ln w="12700">
            <a:solidFill>
              <a:srgbClr val="333333"/>
            </a:solidFill>
            <a:prstDash val="solid"/>
          </a:ln>
        </p:spPr>
      </p:sp>
      <p:sp>
        <p:nvSpPr>
          <p:cNvPr id="10" name="Text 8"/>
          <p:cNvSpPr/>
          <p:nvPr/>
        </p:nvSpPr>
        <p:spPr>
          <a:xfrm>
            <a:off x="7589520" y="2240280"/>
            <a:ext cx="365760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Factory managers</a:t>
            </a:r>
            <a:endParaRPr lang="en-US" sz="1350" dirty="0"/>
          </a:p>
        </p:txBody>
      </p:sp>
      <p:sp>
        <p:nvSpPr>
          <p:cNvPr id="11" name="Text 9"/>
          <p:cNvSpPr/>
          <p:nvPr/>
        </p:nvSpPr>
        <p:spPr>
          <a:xfrm>
            <a:off x="7589520" y="2514600"/>
            <a:ext cx="3611880" cy="457200"/>
          </a:xfrm>
          <a:prstGeom prst="rect">
            <a:avLst/>
          </a:prstGeom>
          <a:noFill/>
          <a:ln/>
        </p:spPr>
        <p:txBody>
          <a:bodyPr wrap="square" lIns="0" tIns="0" rIns="0" bIns="0" rtlCol="0" anchor="ctr"/>
          <a:lstStyle/>
          <a:p>
            <a:pPr indent="0" marL="0">
              <a:buNone/>
            </a:pPr>
            <a:r>
              <a:rPr lang="en-US" sz="1150" dirty="0">
                <a:solidFill>
                  <a:srgbClr val="4A5866"/>
                </a:solidFill>
                <a:latin typeface="Calibri" pitchFamily="34" charset="0"/>
                <a:ea typeface="Calibri" pitchFamily="34" charset="-122"/>
                <a:cs typeface="Calibri" pitchFamily="34" charset="-120"/>
              </a:rPr>
              <a:t>Want fewer faulty items and earlier warnings</a:t>
            </a:r>
            <a:endParaRPr lang="en-US" sz="1150" dirty="0"/>
          </a:p>
        </p:txBody>
      </p:sp>
      <p:sp>
        <p:nvSpPr>
          <p:cNvPr id="12" name="Shape 10"/>
          <p:cNvSpPr/>
          <p:nvPr/>
        </p:nvSpPr>
        <p:spPr>
          <a:xfrm>
            <a:off x="7315200" y="3136392"/>
            <a:ext cx="146304" cy="146304"/>
          </a:xfrm>
          <a:prstGeom prst="ellipse">
            <a:avLst/>
          </a:prstGeom>
          <a:solidFill>
            <a:srgbClr val="D4881F"/>
          </a:solidFill>
          <a:ln w="12700">
            <a:solidFill>
              <a:srgbClr val="333333"/>
            </a:solidFill>
            <a:prstDash val="solid"/>
          </a:ln>
        </p:spPr>
      </p:sp>
      <p:sp>
        <p:nvSpPr>
          <p:cNvPr id="13" name="Text 11"/>
          <p:cNvSpPr/>
          <p:nvPr/>
        </p:nvSpPr>
        <p:spPr>
          <a:xfrm>
            <a:off x="7589520" y="3081528"/>
            <a:ext cx="365760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Shop-floor employees</a:t>
            </a:r>
            <a:endParaRPr lang="en-US" sz="1350" dirty="0"/>
          </a:p>
        </p:txBody>
      </p:sp>
      <p:sp>
        <p:nvSpPr>
          <p:cNvPr id="14" name="Text 12"/>
          <p:cNvSpPr/>
          <p:nvPr/>
        </p:nvSpPr>
        <p:spPr>
          <a:xfrm>
            <a:off x="7589520" y="3355848"/>
            <a:ext cx="3611880" cy="457200"/>
          </a:xfrm>
          <a:prstGeom prst="rect">
            <a:avLst/>
          </a:prstGeom>
          <a:noFill/>
          <a:ln/>
        </p:spPr>
        <p:txBody>
          <a:bodyPr wrap="square" lIns="0" tIns="0" rIns="0" bIns="0" rtlCol="0" anchor="ctr"/>
          <a:lstStyle/>
          <a:p>
            <a:pPr indent="0" marL="0">
              <a:buNone/>
            </a:pPr>
            <a:r>
              <a:rPr lang="en-US" sz="1150" dirty="0">
                <a:solidFill>
                  <a:srgbClr val="4A5866"/>
                </a:solidFill>
                <a:latin typeface="Calibri" pitchFamily="34" charset="0"/>
                <a:ea typeface="Calibri" pitchFamily="34" charset="-122"/>
                <a:cs typeface="Calibri" pitchFamily="34" charset="-120"/>
              </a:rPr>
              <a:t>Domain knowledge; receive and act on the alerts</a:t>
            </a:r>
            <a:endParaRPr lang="en-US" sz="1150" dirty="0"/>
          </a:p>
        </p:txBody>
      </p:sp>
      <p:sp>
        <p:nvSpPr>
          <p:cNvPr id="15" name="Shape 13"/>
          <p:cNvSpPr/>
          <p:nvPr/>
        </p:nvSpPr>
        <p:spPr>
          <a:xfrm>
            <a:off x="7315200" y="3977640"/>
            <a:ext cx="146304" cy="146304"/>
          </a:xfrm>
          <a:prstGeom prst="ellipse">
            <a:avLst/>
          </a:prstGeom>
          <a:solidFill>
            <a:srgbClr val="D4881F"/>
          </a:solidFill>
          <a:ln w="12700">
            <a:solidFill>
              <a:srgbClr val="333333"/>
            </a:solidFill>
            <a:prstDash val="solid"/>
          </a:ln>
        </p:spPr>
      </p:sp>
      <p:sp>
        <p:nvSpPr>
          <p:cNvPr id="16" name="Text 14"/>
          <p:cNvSpPr/>
          <p:nvPr/>
        </p:nvSpPr>
        <p:spPr>
          <a:xfrm>
            <a:off x="7589520" y="3922776"/>
            <a:ext cx="365760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IT / operations</a:t>
            </a:r>
            <a:endParaRPr lang="en-US" sz="1350" dirty="0"/>
          </a:p>
        </p:txBody>
      </p:sp>
      <p:sp>
        <p:nvSpPr>
          <p:cNvPr id="17" name="Text 15"/>
          <p:cNvSpPr/>
          <p:nvPr/>
        </p:nvSpPr>
        <p:spPr>
          <a:xfrm>
            <a:off x="7589520" y="4197096"/>
            <a:ext cx="3611880" cy="457200"/>
          </a:xfrm>
          <a:prstGeom prst="rect">
            <a:avLst/>
          </a:prstGeom>
          <a:noFill/>
          <a:ln/>
        </p:spPr>
        <p:txBody>
          <a:bodyPr wrap="square" lIns="0" tIns="0" rIns="0" bIns="0" rtlCol="0" anchor="ctr"/>
          <a:lstStyle/>
          <a:p>
            <a:pPr indent="0" marL="0">
              <a:buNone/>
            </a:pPr>
            <a:r>
              <a:rPr lang="en-US" sz="1150" dirty="0">
                <a:solidFill>
                  <a:srgbClr val="4A5866"/>
                </a:solidFill>
                <a:latin typeface="Calibri" pitchFamily="34" charset="0"/>
                <a:ea typeface="Calibri" pitchFamily="34" charset="-122"/>
                <a:cs typeface="Calibri" pitchFamily="34" charset="-120"/>
              </a:rPr>
              <a:t>Must run, monitor and maintain the service</a:t>
            </a:r>
            <a:endParaRPr lang="en-US" sz="1150" dirty="0"/>
          </a:p>
        </p:txBody>
      </p:sp>
      <p:sp>
        <p:nvSpPr>
          <p:cNvPr id="18" name="Shape 16"/>
          <p:cNvSpPr/>
          <p:nvPr/>
        </p:nvSpPr>
        <p:spPr>
          <a:xfrm>
            <a:off x="7315200" y="4818888"/>
            <a:ext cx="146304" cy="146304"/>
          </a:xfrm>
          <a:prstGeom prst="ellipse">
            <a:avLst/>
          </a:prstGeom>
          <a:solidFill>
            <a:srgbClr val="D4881F"/>
          </a:solidFill>
          <a:ln w="12700">
            <a:solidFill>
              <a:srgbClr val="333333"/>
            </a:solidFill>
            <a:prstDash val="solid"/>
          </a:ln>
        </p:spPr>
      </p:sp>
      <p:sp>
        <p:nvSpPr>
          <p:cNvPr id="19" name="Text 17"/>
          <p:cNvSpPr/>
          <p:nvPr/>
        </p:nvSpPr>
        <p:spPr>
          <a:xfrm>
            <a:off x="7589520" y="4764024"/>
            <a:ext cx="365760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Data scientist (me)</a:t>
            </a:r>
            <a:endParaRPr lang="en-US" sz="1350" dirty="0"/>
          </a:p>
        </p:txBody>
      </p:sp>
      <p:sp>
        <p:nvSpPr>
          <p:cNvPr id="20" name="Text 18"/>
          <p:cNvSpPr/>
          <p:nvPr/>
        </p:nvSpPr>
        <p:spPr>
          <a:xfrm>
            <a:off x="7589520" y="5038344"/>
            <a:ext cx="3611880" cy="457200"/>
          </a:xfrm>
          <a:prstGeom prst="rect">
            <a:avLst/>
          </a:prstGeom>
          <a:noFill/>
          <a:ln/>
        </p:spPr>
        <p:txBody>
          <a:bodyPr wrap="square" lIns="0" tIns="0" rIns="0" bIns="0" rtlCol="0" anchor="ctr"/>
          <a:lstStyle/>
          <a:p>
            <a:pPr indent="0" marL="0">
              <a:buNone/>
            </a:pPr>
            <a:r>
              <a:rPr lang="en-US" sz="1150" dirty="0">
                <a:solidFill>
                  <a:srgbClr val="4A5866"/>
                </a:solidFill>
                <a:latin typeface="Calibri" pitchFamily="34" charset="0"/>
                <a:ea typeface="Calibri" pitchFamily="34" charset="-122"/>
                <a:cs typeface="Calibri" pitchFamily="34" charset="-120"/>
              </a:rPr>
              <a:t>Designs, builds and hands over the system</a:t>
            </a:r>
            <a:endParaRPr lang="en-US" sz="1150" dirty="0"/>
          </a:p>
        </p:txBody>
      </p:sp>
      <p:sp>
        <p:nvSpPr>
          <p:cNvPr id="21" name="Text 19"/>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2" name="Text 20"/>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01 · PROJECT / TASK DEFINITION</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Project goal and the four non-negotiable requirements</a:t>
            </a:r>
            <a:endParaRPr lang="en-US" sz="3200" dirty="0"/>
          </a:p>
        </p:txBody>
      </p:sp>
      <p:sp>
        <p:nvSpPr>
          <p:cNvPr id="4" name="Text 2"/>
          <p:cNvSpPr/>
          <p:nvPr/>
        </p:nvSpPr>
        <p:spPr>
          <a:xfrm>
            <a:off x="640080" y="1536192"/>
            <a:ext cx="10881360" cy="566928"/>
          </a:xfrm>
          <a:prstGeom prst="rect">
            <a:avLst/>
          </a:prstGeom>
          <a:noFill/>
          <a:ln/>
        </p:spPr>
        <p:txBody>
          <a:bodyPr wrap="square" lIns="0" tIns="0" rIns="0" bIns="0" rtlCol="0" anchor="ctr"/>
          <a:lstStyle/>
          <a:p>
            <a:pPr indent="0" marL="0">
              <a:buNone/>
            </a:pPr>
            <a:r>
              <a:rPr lang="en-US" sz="1500" dirty="0">
                <a:solidFill>
                  <a:srgbClr val="4A5866"/>
                </a:solidFill>
                <a:latin typeface="Calibri" pitchFamily="34" charset="0"/>
                <a:ea typeface="Calibri" pitchFamily="34" charset="-122"/>
                <a:cs typeface="Calibri" pitchFamily="34" charset="-120"/>
              </a:rPr>
              <a:t>Goal: build a simple ML model that scores each produced item for anomalies, and — the actual focus of the task — put it into production so it can be fed by a continuous sensor stream over a standardised API.</a:t>
            </a:r>
            <a:endParaRPr lang="en-US" sz="1500" dirty="0"/>
          </a:p>
        </p:txBody>
      </p:sp>
      <p:sp>
        <p:nvSpPr>
          <p:cNvPr id="5" name="Shape 3"/>
          <p:cNvSpPr/>
          <p:nvPr/>
        </p:nvSpPr>
        <p:spPr>
          <a:xfrm>
            <a:off x="640080" y="2377440"/>
            <a:ext cx="2615184" cy="2331720"/>
          </a:xfrm>
          <a:prstGeom prst="roundRect">
            <a:avLst>
              <a:gd name="adj" fmla="val 3137"/>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6" name="Shape 4"/>
          <p:cNvSpPr/>
          <p:nvPr/>
        </p:nvSpPr>
        <p:spPr>
          <a:xfrm>
            <a:off x="896112" y="2606040"/>
            <a:ext cx="420624" cy="420624"/>
          </a:xfrm>
          <a:prstGeom prst="ellipse">
            <a:avLst/>
          </a:prstGeom>
          <a:solidFill>
            <a:srgbClr val="44708C"/>
          </a:solidFill>
          <a:ln w="12700">
            <a:solidFill>
              <a:srgbClr val="44708C"/>
            </a:solidFill>
            <a:prstDash val="solid"/>
          </a:ln>
        </p:spPr>
      </p:sp>
      <p:sp>
        <p:nvSpPr>
          <p:cNvPr id="7" name="Text 5"/>
          <p:cNvSpPr/>
          <p:nvPr/>
        </p:nvSpPr>
        <p:spPr>
          <a:xfrm>
            <a:off x="896112" y="26060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8" name="Text 6"/>
          <p:cNvSpPr/>
          <p:nvPr/>
        </p:nvSpPr>
        <p:spPr>
          <a:xfrm>
            <a:off x="896112" y="3127248"/>
            <a:ext cx="210312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Monitorable</a:t>
            </a:r>
            <a:endParaRPr lang="en-US" sz="1700" dirty="0"/>
          </a:p>
        </p:txBody>
      </p:sp>
      <p:sp>
        <p:nvSpPr>
          <p:cNvPr id="9" name="Text 7"/>
          <p:cNvSpPr/>
          <p:nvPr/>
        </p:nvSpPr>
        <p:spPr>
          <a:xfrm>
            <a:off x="896112" y="3520440"/>
            <a:ext cx="2148840" cy="109728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Every prediction logged; a /health endpoint for uptime checks</a:t>
            </a:r>
            <a:endParaRPr lang="en-US" sz="1200" dirty="0"/>
          </a:p>
        </p:txBody>
      </p:sp>
      <p:sp>
        <p:nvSpPr>
          <p:cNvPr id="10" name="Shape 8"/>
          <p:cNvSpPr/>
          <p:nvPr/>
        </p:nvSpPr>
        <p:spPr>
          <a:xfrm>
            <a:off x="3438144" y="2377440"/>
            <a:ext cx="2615184" cy="2331720"/>
          </a:xfrm>
          <a:prstGeom prst="roundRect">
            <a:avLst>
              <a:gd name="adj" fmla="val 3137"/>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1" name="Shape 9"/>
          <p:cNvSpPr/>
          <p:nvPr/>
        </p:nvSpPr>
        <p:spPr>
          <a:xfrm>
            <a:off x="3694176" y="2606040"/>
            <a:ext cx="420624" cy="420624"/>
          </a:xfrm>
          <a:prstGeom prst="ellipse">
            <a:avLst/>
          </a:prstGeom>
          <a:solidFill>
            <a:srgbClr val="44708C"/>
          </a:solidFill>
          <a:ln w="12700">
            <a:solidFill>
              <a:srgbClr val="44708C"/>
            </a:solidFill>
            <a:prstDash val="solid"/>
          </a:ln>
        </p:spPr>
      </p:sp>
      <p:sp>
        <p:nvSpPr>
          <p:cNvPr id="12" name="Text 10"/>
          <p:cNvSpPr/>
          <p:nvPr/>
        </p:nvSpPr>
        <p:spPr>
          <a:xfrm>
            <a:off x="3694176" y="26060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t>
            </a:r>
            <a:endParaRPr lang="en-US" sz="1300" dirty="0"/>
          </a:p>
        </p:txBody>
      </p:sp>
      <p:sp>
        <p:nvSpPr>
          <p:cNvPr id="13" name="Text 11"/>
          <p:cNvSpPr/>
          <p:nvPr/>
        </p:nvSpPr>
        <p:spPr>
          <a:xfrm>
            <a:off x="3694176" y="3127248"/>
            <a:ext cx="210312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Maintainable</a:t>
            </a:r>
            <a:endParaRPr lang="en-US" sz="1700" dirty="0"/>
          </a:p>
        </p:txBody>
      </p:sp>
      <p:sp>
        <p:nvSpPr>
          <p:cNvPr id="14" name="Text 12"/>
          <p:cNvSpPr/>
          <p:nvPr/>
        </p:nvSpPr>
        <p:spPr>
          <a:xfrm>
            <a:off x="3694176" y="3520440"/>
            <a:ext cx="2148840" cy="109728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Small, separated scripts: data · training · serving · streaming</a:t>
            </a:r>
            <a:endParaRPr lang="en-US" sz="1200" dirty="0"/>
          </a:p>
        </p:txBody>
      </p:sp>
      <p:sp>
        <p:nvSpPr>
          <p:cNvPr id="15" name="Shape 13"/>
          <p:cNvSpPr/>
          <p:nvPr/>
        </p:nvSpPr>
        <p:spPr>
          <a:xfrm>
            <a:off x="6236208" y="2377440"/>
            <a:ext cx="2615184" cy="2331720"/>
          </a:xfrm>
          <a:prstGeom prst="roundRect">
            <a:avLst>
              <a:gd name="adj" fmla="val 3137"/>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6" name="Shape 14"/>
          <p:cNvSpPr/>
          <p:nvPr/>
        </p:nvSpPr>
        <p:spPr>
          <a:xfrm>
            <a:off x="6492240" y="2606040"/>
            <a:ext cx="420624" cy="420624"/>
          </a:xfrm>
          <a:prstGeom prst="ellipse">
            <a:avLst/>
          </a:prstGeom>
          <a:solidFill>
            <a:srgbClr val="44708C"/>
          </a:solidFill>
          <a:ln w="12700">
            <a:solidFill>
              <a:srgbClr val="44708C"/>
            </a:solidFill>
            <a:prstDash val="solid"/>
          </a:ln>
        </p:spPr>
      </p:sp>
      <p:sp>
        <p:nvSpPr>
          <p:cNvPr id="17" name="Text 15"/>
          <p:cNvSpPr/>
          <p:nvPr/>
        </p:nvSpPr>
        <p:spPr>
          <a:xfrm>
            <a:off x="6492240" y="26060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18" name="Text 16"/>
          <p:cNvSpPr/>
          <p:nvPr/>
        </p:nvSpPr>
        <p:spPr>
          <a:xfrm>
            <a:off x="6492240" y="3127248"/>
            <a:ext cx="210312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Scalable</a:t>
            </a:r>
            <a:endParaRPr lang="en-US" sz="1700" dirty="0"/>
          </a:p>
        </p:txBody>
      </p:sp>
      <p:sp>
        <p:nvSpPr>
          <p:cNvPr id="19" name="Text 17"/>
          <p:cNvSpPr/>
          <p:nvPr/>
        </p:nvSpPr>
        <p:spPr>
          <a:xfrm>
            <a:off x="6492240" y="3520440"/>
            <a:ext cx="2148840" cy="109728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A stateless API — replicate it behind a load balancer to add capacity</a:t>
            </a:r>
            <a:endParaRPr lang="en-US" sz="1200" dirty="0"/>
          </a:p>
        </p:txBody>
      </p:sp>
      <p:sp>
        <p:nvSpPr>
          <p:cNvPr id="20" name="Shape 18"/>
          <p:cNvSpPr/>
          <p:nvPr/>
        </p:nvSpPr>
        <p:spPr>
          <a:xfrm>
            <a:off x="9034272" y="2377440"/>
            <a:ext cx="2615184" cy="2331720"/>
          </a:xfrm>
          <a:prstGeom prst="roundRect">
            <a:avLst>
              <a:gd name="adj" fmla="val 3137"/>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21" name="Shape 19"/>
          <p:cNvSpPr/>
          <p:nvPr/>
        </p:nvSpPr>
        <p:spPr>
          <a:xfrm>
            <a:off x="9290304" y="2606040"/>
            <a:ext cx="420624" cy="420624"/>
          </a:xfrm>
          <a:prstGeom prst="ellipse">
            <a:avLst/>
          </a:prstGeom>
          <a:solidFill>
            <a:srgbClr val="44708C"/>
          </a:solidFill>
          <a:ln w="12700">
            <a:solidFill>
              <a:srgbClr val="44708C"/>
            </a:solidFill>
            <a:prstDash val="solid"/>
          </a:ln>
        </p:spPr>
      </p:sp>
      <p:sp>
        <p:nvSpPr>
          <p:cNvPr id="22" name="Text 20"/>
          <p:cNvSpPr/>
          <p:nvPr/>
        </p:nvSpPr>
        <p:spPr>
          <a:xfrm>
            <a:off x="9290304" y="26060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3" name="Text 21"/>
          <p:cNvSpPr/>
          <p:nvPr/>
        </p:nvSpPr>
        <p:spPr>
          <a:xfrm>
            <a:off x="9290304" y="3127248"/>
            <a:ext cx="2103120" cy="329184"/>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Adaptable</a:t>
            </a:r>
            <a:endParaRPr lang="en-US" sz="1700" dirty="0"/>
          </a:p>
        </p:txBody>
      </p:sp>
      <p:sp>
        <p:nvSpPr>
          <p:cNvPr id="24" name="Text 22"/>
          <p:cNvSpPr/>
          <p:nvPr/>
        </p:nvSpPr>
        <p:spPr>
          <a:xfrm>
            <a:off x="9290304" y="3520440"/>
            <a:ext cx="2148840" cy="109728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Retrain offline, swap model.pkl, restart — the API contract never changes</a:t>
            </a:r>
            <a:endParaRPr lang="en-US" sz="1200" dirty="0"/>
          </a:p>
        </p:txBody>
      </p:sp>
      <p:sp>
        <p:nvSpPr>
          <p:cNvPr id="25" name="Shape 23"/>
          <p:cNvSpPr/>
          <p:nvPr/>
        </p:nvSpPr>
        <p:spPr>
          <a:xfrm>
            <a:off x="640080" y="5074920"/>
            <a:ext cx="10908792" cy="777240"/>
          </a:xfrm>
          <a:prstGeom prst="roundRect">
            <a:avLst>
              <a:gd name="adj" fmla="val 7059"/>
            </a:avLst>
          </a:prstGeom>
          <a:solidFill>
            <a:srgbClr val="FBF1E1"/>
          </a:solidFill>
          <a:ln w="12700">
            <a:solidFill>
              <a:srgbClr val="FBF1E1"/>
            </a:solidFill>
            <a:prstDash val="solid"/>
          </a:ln>
        </p:spPr>
      </p:sp>
      <p:sp>
        <p:nvSpPr>
          <p:cNvPr id="26" name="Text 24"/>
          <p:cNvSpPr/>
          <p:nvPr/>
        </p:nvSpPr>
        <p:spPr>
          <a:xfrm>
            <a:off x="914400" y="5074920"/>
            <a:ext cx="10332720" cy="77724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Deliberate scope decision:  </a:t>
            </a:r>
            <a:pPr indent="0" marL="0">
              <a:buNone/>
            </a:pPr>
            <a:r>
              <a:rPr lang="en-US" sz="1300" dirty="0">
                <a:solidFill>
                  <a:srgbClr val="4A5866"/>
                </a:solidFill>
                <a:latin typeface="Calibri" pitchFamily="34" charset="0"/>
                <a:ea typeface="Calibri" pitchFamily="34" charset="-122"/>
                <a:cs typeface="Calibri" pitchFamily="34" charset="-120"/>
              </a:rPr>
              <a:t>the task asks for a simple model, so the effort went into the production path — the API, the stream and the monitoring — not into squeezing out model accuracy.</a:t>
            </a:r>
            <a:endParaRPr lang="en-US" sz="1300" dirty="0"/>
          </a:p>
        </p:txBody>
      </p:sp>
      <p:sp>
        <p:nvSpPr>
          <p:cNvPr id="27" name="Text 25"/>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8" name="Text 26"/>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02 · PROCESS</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How I proceeded: five phases, architecture first</a:t>
            </a:r>
            <a:endParaRPr lang="en-US" sz="3200" dirty="0"/>
          </a:p>
        </p:txBody>
      </p:sp>
      <p:sp>
        <p:nvSpPr>
          <p:cNvPr id="4" name="Shape 2"/>
          <p:cNvSpPr/>
          <p:nvPr/>
        </p:nvSpPr>
        <p:spPr>
          <a:xfrm>
            <a:off x="640080" y="1783080"/>
            <a:ext cx="2066544" cy="2606040"/>
          </a:xfrm>
          <a:prstGeom prst="roundRect">
            <a:avLst>
              <a:gd name="adj" fmla="val 354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5" name="Shape 3"/>
          <p:cNvSpPr/>
          <p:nvPr/>
        </p:nvSpPr>
        <p:spPr>
          <a:xfrm>
            <a:off x="1463040" y="1993392"/>
            <a:ext cx="420624" cy="420624"/>
          </a:xfrm>
          <a:prstGeom prst="ellipse">
            <a:avLst/>
          </a:prstGeom>
          <a:solidFill>
            <a:srgbClr val="44708C"/>
          </a:solidFill>
          <a:ln w="12700">
            <a:solidFill>
              <a:srgbClr val="44708C"/>
            </a:solidFill>
            <a:prstDash val="solid"/>
          </a:ln>
        </p:spPr>
      </p:sp>
      <p:sp>
        <p:nvSpPr>
          <p:cNvPr id="6" name="Text 4"/>
          <p:cNvSpPr/>
          <p:nvPr/>
        </p:nvSpPr>
        <p:spPr>
          <a:xfrm>
            <a:off x="1463040"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2542032"/>
            <a:ext cx="1792224" cy="32004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Design</a:t>
            </a:r>
            <a:endParaRPr lang="en-US" sz="1600" dirty="0"/>
          </a:p>
        </p:txBody>
      </p:sp>
      <p:sp>
        <p:nvSpPr>
          <p:cNvPr id="8" name="Text 6"/>
          <p:cNvSpPr/>
          <p:nvPr/>
        </p:nvSpPr>
        <p:spPr>
          <a:xfrm>
            <a:off x="804672" y="2907792"/>
            <a:ext cx="1737360" cy="1371600"/>
          </a:xfrm>
          <a:prstGeom prst="rect">
            <a:avLst/>
          </a:prstGeom>
          <a:noFill/>
          <a:ln/>
        </p:spPr>
        <p:txBody>
          <a:bodyPr wrap="square" lIns="0" tIns="0" rIns="0" bIns="0" rtlCol="0" anchor="t"/>
          <a:lstStyle/>
          <a:p>
            <a:pPr algn="ctr" indent="0" marL="0">
              <a:buNone/>
            </a:pPr>
            <a:r>
              <a:rPr lang="en-US" sz="1150" dirty="0">
                <a:solidFill>
                  <a:srgbClr val="4A5866"/>
                </a:solidFill>
                <a:latin typeface="Calibri" pitchFamily="34" charset="0"/>
                <a:ea typeface="Calibri" pitchFamily="34" charset="-122"/>
                <a:cs typeface="Calibri" pitchFamily="34" charset="-120"/>
              </a:rPr>
              <a:t>Draft the conceptual architecture before writing any code — it defined every later step</a:t>
            </a:r>
            <a:endParaRPr lang="en-US" sz="1150" dirty="0"/>
          </a:p>
        </p:txBody>
      </p:sp>
      <p:sp>
        <p:nvSpPr>
          <p:cNvPr id="9" name="Text 7"/>
          <p:cNvSpPr/>
          <p:nvPr/>
        </p:nvSpPr>
        <p:spPr>
          <a:xfrm>
            <a:off x="2670048" y="2880360"/>
            <a:ext cx="256032" cy="365760"/>
          </a:xfrm>
          <a:prstGeom prst="rect">
            <a:avLst/>
          </a:prstGeom>
          <a:noFill/>
          <a:ln/>
        </p:spPr>
        <p:txBody>
          <a:bodyPr wrap="square" lIns="0" tIns="0" rIns="0" bIns="0" rtlCol="0" anchor="ctr"/>
          <a:lstStyle/>
          <a:p>
            <a:pPr algn="ctr" indent="0" marL="0">
              <a:buNone/>
            </a:pPr>
            <a:r>
              <a:rPr lang="en-US" sz="2200" b="1" dirty="0">
                <a:solidFill>
                  <a:srgbClr val="8A98A5"/>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889504" y="1783080"/>
            <a:ext cx="2066544" cy="2606040"/>
          </a:xfrm>
          <a:prstGeom prst="roundRect">
            <a:avLst>
              <a:gd name="adj" fmla="val 354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1" name="Shape 9"/>
          <p:cNvSpPr/>
          <p:nvPr/>
        </p:nvSpPr>
        <p:spPr>
          <a:xfrm>
            <a:off x="3712464" y="1993392"/>
            <a:ext cx="420624" cy="420624"/>
          </a:xfrm>
          <a:prstGeom prst="ellipse">
            <a:avLst/>
          </a:prstGeom>
          <a:solidFill>
            <a:srgbClr val="44708C"/>
          </a:solidFill>
          <a:ln w="12700">
            <a:solidFill>
              <a:srgbClr val="44708C"/>
            </a:solidFill>
            <a:prstDash val="solid"/>
          </a:ln>
        </p:spPr>
      </p:sp>
      <p:sp>
        <p:nvSpPr>
          <p:cNvPr id="12" name="Text 10"/>
          <p:cNvSpPr/>
          <p:nvPr/>
        </p:nvSpPr>
        <p:spPr>
          <a:xfrm>
            <a:off x="3712464"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026664" y="2542032"/>
            <a:ext cx="1792224" cy="32004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Data</a:t>
            </a:r>
            <a:endParaRPr lang="en-US" sz="1600" dirty="0"/>
          </a:p>
        </p:txBody>
      </p:sp>
      <p:sp>
        <p:nvSpPr>
          <p:cNvPr id="14" name="Text 12"/>
          <p:cNvSpPr/>
          <p:nvPr/>
        </p:nvSpPr>
        <p:spPr>
          <a:xfrm>
            <a:off x="3054096" y="2907792"/>
            <a:ext cx="1737360" cy="1371600"/>
          </a:xfrm>
          <a:prstGeom prst="rect">
            <a:avLst/>
          </a:prstGeom>
          <a:noFill/>
          <a:ln/>
        </p:spPr>
        <p:txBody>
          <a:bodyPr wrap="square" lIns="0" tIns="0" rIns="0" bIns="0" rtlCol="0" anchor="t"/>
          <a:lstStyle/>
          <a:p>
            <a:pPr algn="ctr" indent="0" marL="0">
              <a:buNone/>
            </a:pPr>
            <a:r>
              <a:rPr lang="en-US" sz="1150" dirty="0">
                <a:solidFill>
                  <a:srgbClr val="4A5866"/>
                </a:solidFill>
                <a:latin typeface="Calibri" pitchFamily="34" charset="0"/>
                <a:ea typeface="Calibri" pitchFamily="34" charset="-122"/>
                <a:cs typeface="Calibri" pitchFamily="34" charset="-120"/>
              </a:rPr>
              <a:t>Generate reproducible synthetic sensor data (seeded) with planted ground-truth anomalies</a:t>
            </a:r>
            <a:endParaRPr lang="en-US" sz="1150" dirty="0"/>
          </a:p>
        </p:txBody>
      </p:sp>
      <p:sp>
        <p:nvSpPr>
          <p:cNvPr id="15" name="Text 13"/>
          <p:cNvSpPr/>
          <p:nvPr/>
        </p:nvSpPr>
        <p:spPr>
          <a:xfrm>
            <a:off x="4919472" y="2880360"/>
            <a:ext cx="256032" cy="365760"/>
          </a:xfrm>
          <a:prstGeom prst="rect">
            <a:avLst/>
          </a:prstGeom>
          <a:noFill/>
          <a:ln/>
        </p:spPr>
        <p:txBody>
          <a:bodyPr wrap="square" lIns="0" tIns="0" rIns="0" bIns="0" rtlCol="0" anchor="ctr"/>
          <a:lstStyle/>
          <a:p>
            <a:pPr algn="ctr" indent="0" marL="0">
              <a:buNone/>
            </a:pPr>
            <a:r>
              <a:rPr lang="en-US" sz="2200" b="1" dirty="0">
                <a:solidFill>
                  <a:srgbClr val="8A98A5"/>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138928" y="1783080"/>
            <a:ext cx="2066544" cy="2606040"/>
          </a:xfrm>
          <a:prstGeom prst="roundRect">
            <a:avLst>
              <a:gd name="adj" fmla="val 354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7" name="Shape 15"/>
          <p:cNvSpPr/>
          <p:nvPr/>
        </p:nvSpPr>
        <p:spPr>
          <a:xfrm>
            <a:off x="5961888" y="1993392"/>
            <a:ext cx="420624" cy="420624"/>
          </a:xfrm>
          <a:prstGeom prst="ellipse">
            <a:avLst/>
          </a:prstGeom>
          <a:solidFill>
            <a:srgbClr val="44708C"/>
          </a:solidFill>
          <a:ln w="12700">
            <a:solidFill>
              <a:srgbClr val="44708C"/>
            </a:solidFill>
            <a:prstDash val="solid"/>
          </a:ln>
        </p:spPr>
      </p:sp>
      <p:sp>
        <p:nvSpPr>
          <p:cNvPr id="18" name="Text 16"/>
          <p:cNvSpPr/>
          <p:nvPr/>
        </p:nvSpPr>
        <p:spPr>
          <a:xfrm>
            <a:off x="5961888"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276088" y="2542032"/>
            <a:ext cx="1792224" cy="32004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Model</a:t>
            </a:r>
            <a:endParaRPr lang="en-US" sz="1600" dirty="0"/>
          </a:p>
        </p:txBody>
      </p:sp>
      <p:sp>
        <p:nvSpPr>
          <p:cNvPr id="20" name="Text 18"/>
          <p:cNvSpPr/>
          <p:nvPr/>
        </p:nvSpPr>
        <p:spPr>
          <a:xfrm>
            <a:off x="5303520" y="2907792"/>
            <a:ext cx="1737360" cy="1371600"/>
          </a:xfrm>
          <a:prstGeom prst="rect">
            <a:avLst/>
          </a:prstGeom>
          <a:noFill/>
          <a:ln/>
        </p:spPr>
        <p:txBody>
          <a:bodyPr wrap="square" lIns="0" tIns="0" rIns="0" bIns="0" rtlCol="0" anchor="t"/>
          <a:lstStyle/>
          <a:p>
            <a:pPr algn="ctr" indent="0" marL="0">
              <a:buNone/>
            </a:pPr>
            <a:r>
              <a:rPr lang="en-US" sz="1150" dirty="0">
                <a:solidFill>
                  <a:srgbClr val="4A5866"/>
                </a:solidFill>
                <a:latin typeface="Calibri" pitchFamily="34" charset="0"/>
                <a:ea typeface="Calibri" pitchFamily="34" charset="-122"/>
                <a:cs typeface="Calibri" pitchFamily="34" charset="-120"/>
              </a:rPr>
              <a:t>Train an Isolation Forest pipeline offline; check basic statistical measures</a:t>
            </a:r>
            <a:endParaRPr lang="en-US" sz="1150" dirty="0"/>
          </a:p>
        </p:txBody>
      </p:sp>
      <p:sp>
        <p:nvSpPr>
          <p:cNvPr id="21" name="Text 19"/>
          <p:cNvSpPr/>
          <p:nvPr/>
        </p:nvSpPr>
        <p:spPr>
          <a:xfrm>
            <a:off x="7168896" y="2880360"/>
            <a:ext cx="256032" cy="365760"/>
          </a:xfrm>
          <a:prstGeom prst="rect">
            <a:avLst/>
          </a:prstGeom>
          <a:noFill/>
          <a:ln/>
        </p:spPr>
        <p:txBody>
          <a:bodyPr wrap="square" lIns="0" tIns="0" rIns="0" bIns="0" rtlCol="0" anchor="ctr"/>
          <a:lstStyle/>
          <a:p>
            <a:pPr algn="ctr" indent="0" marL="0">
              <a:buNone/>
            </a:pPr>
            <a:r>
              <a:rPr lang="en-US" sz="2200" b="1" dirty="0">
                <a:solidFill>
                  <a:srgbClr val="8A98A5"/>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7388352" y="1783080"/>
            <a:ext cx="2066544" cy="2606040"/>
          </a:xfrm>
          <a:prstGeom prst="roundRect">
            <a:avLst>
              <a:gd name="adj" fmla="val 3540"/>
            </a:avLst>
          </a:prstGeom>
          <a:solidFill>
            <a:srgbClr val="FBF1E1"/>
          </a:solidFill>
          <a:ln w="12700">
            <a:solidFill>
              <a:srgbClr val="FBF1E1"/>
            </a:solidFill>
            <a:prstDash val="solid"/>
          </a:ln>
          <a:effectLst>
            <a:outerShdw sx="100000" sy="100000" kx="0" ky="0" algn="bl" rotWithShape="0" blurRad="101600" dist="25400" dir="5400000">
              <a:srgbClr val="AAB4BD">
                <a:alpha val="25000"/>
              </a:srgbClr>
            </a:outerShdw>
          </a:effectLst>
        </p:spPr>
      </p:sp>
      <p:sp>
        <p:nvSpPr>
          <p:cNvPr id="23" name="Shape 21"/>
          <p:cNvSpPr/>
          <p:nvPr/>
        </p:nvSpPr>
        <p:spPr>
          <a:xfrm>
            <a:off x="8211312" y="1993392"/>
            <a:ext cx="420624" cy="420624"/>
          </a:xfrm>
          <a:prstGeom prst="ellipse">
            <a:avLst/>
          </a:prstGeom>
          <a:solidFill>
            <a:srgbClr val="D4881F"/>
          </a:solidFill>
          <a:ln w="12700">
            <a:solidFill>
              <a:srgbClr val="D4881F"/>
            </a:solidFill>
            <a:prstDash val="solid"/>
          </a:ln>
        </p:spPr>
      </p:sp>
      <p:sp>
        <p:nvSpPr>
          <p:cNvPr id="24" name="Text 22"/>
          <p:cNvSpPr/>
          <p:nvPr/>
        </p:nvSpPr>
        <p:spPr>
          <a:xfrm>
            <a:off x="8211312"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7525512" y="2542032"/>
            <a:ext cx="1792224" cy="32004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Serve</a:t>
            </a:r>
            <a:endParaRPr lang="en-US" sz="1600" dirty="0"/>
          </a:p>
        </p:txBody>
      </p:sp>
      <p:sp>
        <p:nvSpPr>
          <p:cNvPr id="26" name="Text 24"/>
          <p:cNvSpPr/>
          <p:nvPr/>
        </p:nvSpPr>
        <p:spPr>
          <a:xfrm>
            <a:off x="7552944" y="2907792"/>
            <a:ext cx="1737360" cy="1371600"/>
          </a:xfrm>
          <a:prstGeom prst="rect">
            <a:avLst/>
          </a:prstGeom>
          <a:noFill/>
          <a:ln/>
        </p:spPr>
        <p:txBody>
          <a:bodyPr wrap="square" lIns="0" tIns="0" rIns="0" bIns="0" rtlCol="0" anchor="t"/>
          <a:lstStyle/>
          <a:p>
            <a:pPr algn="ctr" indent="0" marL="0">
              <a:buNone/>
            </a:pPr>
            <a:r>
              <a:rPr lang="en-US" sz="1150" dirty="0">
                <a:solidFill>
                  <a:srgbClr val="4A5866"/>
                </a:solidFill>
                <a:latin typeface="Calibri" pitchFamily="34" charset="0"/>
                <a:ea typeface="Calibri" pitchFamily="34" charset="-122"/>
                <a:cs typeface="Calibri" pitchFamily="34" charset="-120"/>
              </a:rPr>
              <a:t>Wrap the frozen model in a Flask REST API — the most work-intensive step</a:t>
            </a:r>
            <a:endParaRPr lang="en-US" sz="1150" dirty="0"/>
          </a:p>
        </p:txBody>
      </p:sp>
      <p:sp>
        <p:nvSpPr>
          <p:cNvPr id="27" name="Text 25"/>
          <p:cNvSpPr/>
          <p:nvPr/>
        </p:nvSpPr>
        <p:spPr>
          <a:xfrm>
            <a:off x="9418320" y="2880360"/>
            <a:ext cx="256032" cy="365760"/>
          </a:xfrm>
          <a:prstGeom prst="rect">
            <a:avLst/>
          </a:prstGeom>
          <a:noFill/>
          <a:ln/>
        </p:spPr>
        <p:txBody>
          <a:bodyPr wrap="square" lIns="0" tIns="0" rIns="0" bIns="0" rtlCol="0" anchor="ctr"/>
          <a:lstStyle/>
          <a:p>
            <a:pPr algn="ctr" indent="0" marL="0">
              <a:buNone/>
            </a:pPr>
            <a:r>
              <a:rPr lang="en-US" sz="2200" b="1" dirty="0">
                <a:solidFill>
                  <a:srgbClr val="8A98A5"/>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637776" y="1783080"/>
            <a:ext cx="2066544" cy="2606040"/>
          </a:xfrm>
          <a:prstGeom prst="roundRect">
            <a:avLst>
              <a:gd name="adj" fmla="val 354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29" name="Shape 27"/>
          <p:cNvSpPr/>
          <p:nvPr/>
        </p:nvSpPr>
        <p:spPr>
          <a:xfrm>
            <a:off x="10460736" y="1993392"/>
            <a:ext cx="420624" cy="420624"/>
          </a:xfrm>
          <a:prstGeom prst="ellipse">
            <a:avLst/>
          </a:prstGeom>
          <a:solidFill>
            <a:srgbClr val="44708C"/>
          </a:solidFill>
          <a:ln w="12700">
            <a:solidFill>
              <a:srgbClr val="44708C"/>
            </a:solidFill>
            <a:prstDash val="solid"/>
          </a:ln>
        </p:spPr>
      </p:sp>
      <p:sp>
        <p:nvSpPr>
          <p:cNvPr id="30" name="Text 28"/>
          <p:cNvSpPr/>
          <p:nvPr/>
        </p:nvSpPr>
        <p:spPr>
          <a:xfrm>
            <a:off x="10460736"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9774936" y="2542032"/>
            <a:ext cx="1792224" cy="32004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Stream</a:t>
            </a:r>
            <a:endParaRPr lang="en-US" sz="1600" dirty="0"/>
          </a:p>
        </p:txBody>
      </p:sp>
      <p:sp>
        <p:nvSpPr>
          <p:cNvPr id="32" name="Text 30"/>
          <p:cNvSpPr/>
          <p:nvPr/>
        </p:nvSpPr>
        <p:spPr>
          <a:xfrm>
            <a:off x="9802368" y="2907792"/>
            <a:ext cx="1737360" cy="1371600"/>
          </a:xfrm>
          <a:prstGeom prst="rect">
            <a:avLst/>
          </a:prstGeom>
          <a:noFill/>
          <a:ln/>
        </p:spPr>
        <p:txBody>
          <a:bodyPr wrap="square" lIns="0" tIns="0" rIns="0" bIns="0" rtlCol="0" anchor="t"/>
          <a:lstStyle/>
          <a:p>
            <a:pPr algn="ctr" indent="0" marL="0">
              <a:buNone/>
            </a:pPr>
            <a:r>
              <a:rPr lang="en-US" sz="1150" dirty="0">
                <a:solidFill>
                  <a:srgbClr val="4A5866"/>
                </a:solidFill>
                <a:latin typeface="Calibri" pitchFamily="34" charset="0"/>
                <a:ea typeface="Calibri" pitchFamily="34" charset="-122"/>
                <a:cs typeface="Calibri" pitchFamily="34" charset="-120"/>
              </a:rPr>
              <a:t>Feed the API continuously, raise alerts, log every prediction for monitoring</a:t>
            </a:r>
            <a:endParaRPr lang="en-US" sz="1150" dirty="0"/>
          </a:p>
        </p:txBody>
      </p:sp>
      <p:sp>
        <p:nvSpPr>
          <p:cNvPr id="33" name="Shape 31"/>
          <p:cNvSpPr/>
          <p:nvPr/>
        </p:nvSpPr>
        <p:spPr>
          <a:xfrm>
            <a:off x="640080" y="4709160"/>
            <a:ext cx="10908792" cy="1143000"/>
          </a:xfrm>
          <a:prstGeom prst="roundRect">
            <a:avLst>
              <a:gd name="adj" fmla="val 4800"/>
            </a:avLst>
          </a:prstGeom>
          <a:solidFill>
            <a:srgbClr val="E7EEF3"/>
          </a:solidFill>
          <a:ln w="12700">
            <a:solidFill>
              <a:srgbClr val="E7EEF3"/>
            </a:solidFill>
            <a:prstDash val="solid"/>
          </a:ln>
        </p:spPr>
      </p:sp>
      <p:sp>
        <p:nvSpPr>
          <p:cNvPr id="34" name="Text 32"/>
          <p:cNvSpPr/>
          <p:nvPr/>
        </p:nvSpPr>
        <p:spPr>
          <a:xfrm>
            <a:off x="914400" y="4709160"/>
            <a:ext cx="10332720" cy="114300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Why this order?  </a:t>
            </a:r>
            <a:pPr indent="0" marL="0">
              <a:buNone/>
            </a:pPr>
            <a:r>
              <a:rPr lang="en-US" sz="1350" dirty="0">
                <a:solidFill>
                  <a:srgbClr val="4A5866"/>
                </a:solidFill>
                <a:latin typeface="Calibri" pitchFamily="34" charset="0"/>
                <a:ea typeface="Calibri" pitchFamily="34" charset="-122"/>
                <a:cs typeface="Calibri" pitchFamily="34" charset="-120"/>
              </a:rPr>
              <a:t>Designing the architecture first meant each script had one clear job and a fixed interface to the next, so the phases could be built and tested independently — and a change in one (for example retraining the model) never forced a change in another. Roughly two thirds of the effort sat in phase 4, exactly where the brief predicted it would.</a:t>
            </a:r>
            <a:endParaRPr lang="en-US" sz="1350" dirty="0"/>
          </a:p>
        </p:txBody>
      </p:sp>
      <p:sp>
        <p:nvSpPr>
          <p:cNvPr id="35" name="Text 33"/>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36" name="Text 34"/>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03 · SYSTEM DESIGN</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Conceptual system architecture</a:t>
            </a:r>
            <a:endParaRPr lang="en-US" sz="3200" dirty="0"/>
          </a:p>
        </p:txBody>
      </p:sp>
      <p:pic>
        <p:nvPicPr>
          <p:cNvPr id="4" name="Image 0" descr="/sessions/nifty-busy-babbage/mnt/project_stream_processing/architecture.png">    </p:cNvPr>
          <p:cNvPicPr>
            <a:picLocks noChangeAspect="1"/>
          </p:cNvPicPr>
          <p:nvPr/>
        </p:nvPicPr>
        <p:blipFill>
          <a:blip r:embed="rId1"/>
          <a:stretch>
            <a:fillRect/>
          </a:stretch>
        </p:blipFill>
        <p:spPr>
          <a:xfrm>
            <a:off x="1207008" y="1298448"/>
            <a:ext cx="9784080" cy="4736592"/>
          </a:xfrm>
          <a:prstGeom prst="rect">
            <a:avLst/>
          </a:prstGeom>
        </p:spPr>
      </p:pic>
      <p:sp>
        <p:nvSpPr>
          <p:cNvPr id="5" name="Text 2"/>
          <p:cNvSpPr/>
          <p:nvPr/>
        </p:nvSpPr>
        <p:spPr>
          <a:xfrm>
            <a:off x="640080" y="6035040"/>
            <a:ext cx="10881360" cy="274320"/>
          </a:xfrm>
          <a:prstGeom prst="rect">
            <a:avLst/>
          </a:prstGeom>
          <a:noFill/>
          <a:ln/>
        </p:spPr>
        <p:txBody>
          <a:bodyPr wrap="square" lIns="0" tIns="0" rIns="0" bIns="0" rtlCol="0" anchor="ctr"/>
          <a:lstStyle/>
          <a:p>
            <a:pPr indent="0" marL="0">
              <a:buNone/>
            </a:pPr>
            <a:r>
              <a:rPr lang="en-US" sz="1050" dirty="0">
                <a:solidFill>
                  <a:srgbClr val="8A98A5"/>
                </a:solidFill>
                <a:latin typeface="Calibri" pitchFamily="34" charset="0"/>
                <a:ea typeface="Calibri" pitchFamily="34" charset="-122"/>
                <a:cs typeface="Calibri" pitchFamily="34" charset="-120"/>
              </a:rPr>
              <a:t>Figure 1: Conceptual architecture of the anomaly-detection service (own illustration).</a:t>
            </a:r>
            <a:endParaRPr lang="en-US" sz="1050" dirty="0"/>
          </a:p>
        </p:txBody>
      </p:sp>
      <p:sp>
        <p:nvSpPr>
          <p:cNvPr id="6" name="Text 3"/>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7" name="Text 4"/>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03 · SYSTEM DESIGN</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Three design decisions that make it production-ready</a:t>
            </a:r>
            <a:endParaRPr lang="en-US" sz="3200" dirty="0"/>
          </a:p>
        </p:txBody>
      </p:sp>
      <p:sp>
        <p:nvSpPr>
          <p:cNvPr id="4" name="Shape 2"/>
          <p:cNvSpPr/>
          <p:nvPr/>
        </p:nvSpPr>
        <p:spPr>
          <a:xfrm>
            <a:off x="640080" y="1783080"/>
            <a:ext cx="3520440" cy="3429000"/>
          </a:xfrm>
          <a:prstGeom prst="roundRect">
            <a:avLst>
              <a:gd name="adj" fmla="val 2133"/>
            </a:avLst>
          </a:prstGeom>
          <a:solidFill>
            <a:srgbClr val="2C3743"/>
          </a:solidFill>
          <a:ln w="12700">
            <a:solidFill>
              <a:srgbClr val="3A4653"/>
            </a:solidFill>
            <a:prstDash val="solid"/>
          </a:ln>
        </p:spPr>
      </p:sp>
      <p:sp>
        <p:nvSpPr>
          <p:cNvPr id="5" name="Shape 3"/>
          <p:cNvSpPr/>
          <p:nvPr/>
        </p:nvSpPr>
        <p:spPr>
          <a:xfrm>
            <a:off x="960120" y="2057400"/>
            <a:ext cx="420624" cy="420624"/>
          </a:xfrm>
          <a:prstGeom prst="ellipse">
            <a:avLst/>
          </a:prstGeom>
          <a:solidFill>
            <a:srgbClr val="D4881F"/>
          </a:solidFill>
          <a:ln w="12700">
            <a:solidFill>
              <a:srgbClr val="D4881F"/>
            </a:solidFill>
            <a:prstDash val="solid"/>
          </a:ln>
        </p:spPr>
      </p:sp>
      <p:sp>
        <p:nvSpPr>
          <p:cNvPr id="6" name="Text 4"/>
          <p:cNvSpPr/>
          <p:nvPr/>
        </p:nvSpPr>
        <p:spPr>
          <a:xfrm>
            <a:off x="960120" y="2057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60120" y="2633472"/>
            <a:ext cx="2926080" cy="7315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Train offline, serve frozen</a:t>
            </a:r>
            <a:endParaRPr lang="en-US" sz="1700" dirty="0"/>
          </a:p>
        </p:txBody>
      </p:sp>
      <p:sp>
        <p:nvSpPr>
          <p:cNvPr id="8" name="Text 6"/>
          <p:cNvSpPr/>
          <p:nvPr/>
        </p:nvSpPr>
        <p:spPr>
          <a:xfrm>
            <a:off x="960120" y="3456432"/>
            <a:ext cx="2926080" cy="1600200"/>
          </a:xfrm>
          <a:prstGeom prst="rect">
            <a:avLst/>
          </a:prstGeom>
          <a:noFill/>
          <a:ln/>
        </p:spPr>
        <p:txBody>
          <a:bodyPr wrap="square" lIns="0" tIns="0" rIns="0" bIns="0" rtlCol="0" anchor="t"/>
          <a:lstStyle/>
          <a:p>
            <a:pPr indent="0" marL="0">
              <a:buNone/>
            </a:pPr>
            <a:r>
              <a:rPr lang="en-US" sz="1250" dirty="0">
                <a:solidFill>
                  <a:srgbClr val="AEBBC6"/>
                </a:solidFill>
                <a:latin typeface="Calibri" pitchFamily="34" charset="0"/>
                <a:ea typeface="Calibri" pitchFamily="34" charset="-122"/>
                <a:cs typeface="Calibri" pitchFamily="34" charset="-120"/>
              </a:rPr>
              <a:t>The model is trained once and pickled. The API never trains — it only loads model.pkl at start-up, so a prediction costs milliseconds and start-up cost is paid once, not per request.</a:t>
            </a:r>
            <a:endParaRPr lang="en-US" sz="1250" dirty="0"/>
          </a:p>
        </p:txBody>
      </p:sp>
      <p:sp>
        <p:nvSpPr>
          <p:cNvPr id="9" name="Shape 7"/>
          <p:cNvSpPr/>
          <p:nvPr/>
        </p:nvSpPr>
        <p:spPr>
          <a:xfrm>
            <a:off x="4407408" y="1783080"/>
            <a:ext cx="3520440" cy="3429000"/>
          </a:xfrm>
          <a:prstGeom prst="roundRect">
            <a:avLst>
              <a:gd name="adj" fmla="val 2133"/>
            </a:avLst>
          </a:prstGeom>
          <a:solidFill>
            <a:srgbClr val="2C3743"/>
          </a:solidFill>
          <a:ln w="12700">
            <a:solidFill>
              <a:srgbClr val="3A4653"/>
            </a:solidFill>
            <a:prstDash val="solid"/>
          </a:ln>
        </p:spPr>
      </p:sp>
      <p:sp>
        <p:nvSpPr>
          <p:cNvPr id="10" name="Shape 8"/>
          <p:cNvSpPr/>
          <p:nvPr/>
        </p:nvSpPr>
        <p:spPr>
          <a:xfrm>
            <a:off x="4727448" y="2057400"/>
            <a:ext cx="420624" cy="420624"/>
          </a:xfrm>
          <a:prstGeom prst="ellipse">
            <a:avLst/>
          </a:prstGeom>
          <a:solidFill>
            <a:srgbClr val="D4881F"/>
          </a:solidFill>
          <a:ln w="12700">
            <a:solidFill>
              <a:srgbClr val="D4881F"/>
            </a:solidFill>
            <a:prstDash val="solid"/>
          </a:ln>
        </p:spPr>
      </p:sp>
      <p:sp>
        <p:nvSpPr>
          <p:cNvPr id="11" name="Text 9"/>
          <p:cNvSpPr/>
          <p:nvPr/>
        </p:nvSpPr>
        <p:spPr>
          <a:xfrm>
            <a:off x="4727448" y="2057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727448" y="2633472"/>
            <a:ext cx="2926080" cy="7315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One pipeline object, not two artefacts</a:t>
            </a:r>
            <a:endParaRPr lang="en-US" sz="1700" dirty="0"/>
          </a:p>
        </p:txBody>
      </p:sp>
      <p:sp>
        <p:nvSpPr>
          <p:cNvPr id="13" name="Text 11"/>
          <p:cNvSpPr/>
          <p:nvPr/>
        </p:nvSpPr>
        <p:spPr>
          <a:xfrm>
            <a:off x="4727448" y="3456432"/>
            <a:ext cx="2926080" cy="1600200"/>
          </a:xfrm>
          <a:prstGeom prst="rect">
            <a:avLst/>
          </a:prstGeom>
          <a:noFill/>
          <a:ln/>
        </p:spPr>
        <p:txBody>
          <a:bodyPr wrap="square" lIns="0" tIns="0" rIns="0" bIns="0" rtlCol="0" anchor="t"/>
          <a:lstStyle/>
          <a:p>
            <a:pPr indent="0" marL="0">
              <a:buNone/>
            </a:pPr>
            <a:r>
              <a:rPr lang="en-US" sz="1250" dirty="0">
                <a:solidFill>
                  <a:srgbClr val="AEBBC6"/>
                </a:solidFill>
                <a:latin typeface="Calibri" pitchFamily="34" charset="0"/>
                <a:ea typeface="Calibri" pitchFamily="34" charset="-122"/>
                <a:cs typeface="Calibri" pitchFamily="34" charset="-120"/>
              </a:rPr>
              <a:t>StandardScaler + IsolationForest are bundled in a single sklearn Pipeline. Training and serving therefore apply identical preprocessing — training/serving skew, a well-documented source of hidden technical debt in ML systems (Sculley et al., 2015), is removed by construction.</a:t>
            </a:r>
            <a:endParaRPr lang="en-US" sz="1250" dirty="0"/>
          </a:p>
        </p:txBody>
      </p:sp>
      <p:sp>
        <p:nvSpPr>
          <p:cNvPr id="14" name="Shape 12"/>
          <p:cNvSpPr/>
          <p:nvPr/>
        </p:nvSpPr>
        <p:spPr>
          <a:xfrm>
            <a:off x="8174736" y="1783080"/>
            <a:ext cx="3520440" cy="3429000"/>
          </a:xfrm>
          <a:prstGeom prst="roundRect">
            <a:avLst>
              <a:gd name="adj" fmla="val 2133"/>
            </a:avLst>
          </a:prstGeom>
          <a:solidFill>
            <a:srgbClr val="2C3743"/>
          </a:solidFill>
          <a:ln w="12700">
            <a:solidFill>
              <a:srgbClr val="3A4653"/>
            </a:solidFill>
            <a:prstDash val="solid"/>
          </a:ln>
        </p:spPr>
      </p:sp>
      <p:sp>
        <p:nvSpPr>
          <p:cNvPr id="15" name="Shape 13"/>
          <p:cNvSpPr/>
          <p:nvPr/>
        </p:nvSpPr>
        <p:spPr>
          <a:xfrm>
            <a:off x="8494776" y="2057400"/>
            <a:ext cx="420624" cy="420624"/>
          </a:xfrm>
          <a:prstGeom prst="ellipse">
            <a:avLst/>
          </a:prstGeom>
          <a:solidFill>
            <a:srgbClr val="D4881F"/>
          </a:solidFill>
          <a:ln w="12700">
            <a:solidFill>
              <a:srgbClr val="D4881F"/>
            </a:solidFill>
            <a:prstDash val="solid"/>
          </a:ln>
        </p:spPr>
      </p:sp>
      <p:sp>
        <p:nvSpPr>
          <p:cNvPr id="16" name="Text 14"/>
          <p:cNvSpPr/>
          <p:nvPr/>
        </p:nvSpPr>
        <p:spPr>
          <a:xfrm>
            <a:off x="8494776" y="2057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494776" y="2633472"/>
            <a:ext cx="2926080" cy="7315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 stateless REST contract</a:t>
            </a:r>
            <a:endParaRPr lang="en-US" sz="1700" dirty="0"/>
          </a:p>
        </p:txBody>
      </p:sp>
      <p:sp>
        <p:nvSpPr>
          <p:cNvPr id="18" name="Text 16"/>
          <p:cNvSpPr/>
          <p:nvPr/>
        </p:nvSpPr>
        <p:spPr>
          <a:xfrm>
            <a:off x="8494776" y="3456432"/>
            <a:ext cx="2926080" cy="1600200"/>
          </a:xfrm>
          <a:prstGeom prst="rect">
            <a:avLst/>
          </a:prstGeom>
          <a:noFill/>
          <a:ln/>
        </p:spPr>
        <p:txBody>
          <a:bodyPr wrap="square" lIns="0" tIns="0" rIns="0" bIns="0" rtlCol="0" anchor="t"/>
          <a:lstStyle/>
          <a:p>
            <a:pPr indent="0" marL="0">
              <a:buNone/>
            </a:pPr>
            <a:r>
              <a:rPr lang="en-US" sz="1250" dirty="0">
                <a:solidFill>
                  <a:srgbClr val="AEBBC6"/>
                </a:solidFill>
                <a:latin typeface="Calibri" pitchFamily="34" charset="0"/>
                <a:ea typeface="Calibri" pitchFamily="34" charset="-122"/>
                <a:cs typeface="Calibri" pitchFamily="34" charset="-120"/>
              </a:rPr>
              <a:t>Each request is independent JSON in, JSON out. Nothing is held between calls, so the service can be replicated horizontally, restarted, or replaced with a new model version without breaking any caller.</a:t>
            </a:r>
            <a:endParaRPr lang="en-US" sz="1250" dirty="0"/>
          </a:p>
        </p:txBody>
      </p:sp>
      <p:sp>
        <p:nvSpPr>
          <p:cNvPr id="19" name="Text 17"/>
          <p:cNvSpPr/>
          <p:nvPr/>
        </p:nvSpPr>
        <p:spPr>
          <a:xfrm>
            <a:off x="640080" y="5440680"/>
            <a:ext cx="10908792" cy="548640"/>
          </a:xfrm>
          <a:prstGeom prst="rect">
            <a:avLst/>
          </a:prstGeom>
          <a:noFill/>
          <a:ln/>
        </p:spPr>
        <p:txBody>
          <a:bodyPr wrap="square" lIns="0" tIns="0" rIns="0" bIns="0" rtlCol="0" anchor="ctr"/>
          <a:lstStyle/>
          <a:p>
            <a:pPr indent="0" marL="0">
              <a:buNone/>
            </a:pPr>
            <a:r>
              <a:rPr lang="en-US" sz="1350" i="1" dirty="0">
                <a:solidFill>
                  <a:srgbClr val="D4881F"/>
                </a:solidFill>
                <a:latin typeface="Calibri" pitchFamily="34" charset="0"/>
                <a:ea typeface="Calibri" pitchFamily="34" charset="-122"/>
                <a:cs typeface="Calibri" pitchFamily="34" charset="-120"/>
              </a:rPr>
              <a:t>Together these three decisions are what turn a trained model into a service the factory's IT team could actually run, monitor and replace — the difference the module is really about.</a:t>
            </a:r>
            <a:endParaRPr lang="en-US" sz="1350" dirty="0"/>
          </a:p>
        </p:txBody>
      </p:sp>
      <p:sp>
        <p:nvSpPr>
          <p:cNvPr id="20" name="Text 18"/>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1" name="Text 19"/>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04 · DATA &amp; MODEL</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Data: a reproducible, simulated sensor stream</a:t>
            </a:r>
            <a:endParaRPr lang="en-US" sz="3200" dirty="0"/>
          </a:p>
        </p:txBody>
      </p:sp>
      <p:sp>
        <p:nvSpPr>
          <p:cNvPr id="4" name="Text 2"/>
          <p:cNvSpPr/>
          <p:nvPr/>
        </p:nvSpPr>
        <p:spPr>
          <a:xfrm>
            <a:off x="640080" y="1572768"/>
            <a:ext cx="5806440" cy="32461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4A5866"/>
                </a:solidFill>
                <a:latin typeface="Calibri" pitchFamily="34" charset="0"/>
                <a:ea typeface="Calibri" pitchFamily="34" charset="-122"/>
                <a:cs typeface="Calibri" pitchFamily="34" charset="-120"/>
              </a:rPr>
              <a:t>The task allows fictional sample data — I chose it deliberately over a Kaggle set: I control the ground truth, so I can verify the model actually catches the faults I planted.</a:t>
            </a:r>
            <a:endParaRPr lang="en-US" sz="1400" dirty="0"/>
          </a:p>
          <a:p>
            <a:pPr marL="203200" indent="-203200">
              <a:spcAft>
                <a:spcPts val="1000"/>
              </a:spcAft>
              <a:buSzPct val="100000"/>
              <a:buChar char="•"/>
            </a:pPr>
            <a:r>
              <a:rPr lang="en-US" sz="1400" dirty="0">
                <a:solidFill>
                  <a:srgbClr val="4A5866"/>
                </a:solidFill>
                <a:latin typeface="Calibri" pitchFamily="34" charset="0"/>
                <a:ea typeface="Calibri" pitchFamily="34" charset="-122"/>
                <a:cs typeface="Calibri" pitchFamily="34" charset="-120"/>
              </a:rPr>
              <a:t>generate_data.py draws normal items around typical operating values and faulty items with shifted temperature, humidity and sound.</a:t>
            </a:r>
            <a:endParaRPr lang="en-US" sz="1400" dirty="0"/>
          </a:p>
          <a:p>
            <a:pPr marL="203200" indent="-203200">
              <a:spcAft>
                <a:spcPts val="1000"/>
              </a:spcAft>
              <a:buSzPct val="100000"/>
              <a:buChar char="•"/>
            </a:pPr>
            <a:r>
              <a:rPr lang="en-US" sz="1400" dirty="0">
                <a:solidFill>
                  <a:srgbClr val="4A5866"/>
                </a:solidFill>
                <a:latin typeface="Calibri" pitchFamily="34" charset="0"/>
                <a:ea typeface="Calibri" pitchFamily="34" charset="-122"/>
                <a:cs typeface="Calibri" pitchFamily="34" charset="-120"/>
              </a:rPr>
              <a:t>A fixed random seed makes the dataset and the trained model fully reproducible — anyone running the repo gets the identical training figures shown here.</a:t>
            </a:r>
            <a:endParaRPr lang="en-US" sz="1400" dirty="0"/>
          </a:p>
          <a:p>
            <a:pPr marL="203200" indent="-203200">
              <a:spcAft>
                <a:spcPts val="1000"/>
              </a:spcAft>
              <a:buSzPct val="100000"/>
              <a:buChar char="•"/>
            </a:pPr>
            <a:r>
              <a:rPr lang="en-US" sz="1400" dirty="0">
                <a:solidFill>
                  <a:srgbClr val="4A5866"/>
                </a:solidFill>
                <a:latin typeface="Calibri" pitchFamily="34" charset="0"/>
                <a:ea typeface="Calibri" pitchFamily="34" charset="-122"/>
                <a:cs typeface="Calibri" pitchFamily="34" charset="-120"/>
              </a:rPr>
              <a:t>Storage requirement: readings arrive as small JSON messages and are appended, timestamped, to an immutable log — retained both for audit and as the corpus for the next retraining.</a:t>
            </a:r>
            <a:endParaRPr lang="en-US" sz="1400" dirty="0"/>
          </a:p>
          <a:p>
            <a:pPr marL="203200" indent="-203200">
              <a:spcAft>
                <a:spcPts val="1000"/>
              </a:spcAft>
              <a:buSzPct val="100000"/>
              <a:buChar char="•"/>
            </a:pPr>
            <a:r>
              <a:rPr lang="en-US" sz="1400" dirty="0">
                <a:solidFill>
                  <a:srgbClr val="4A5866"/>
                </a:solidFill>
                <a:latin typeface="Calibri" pitchFamily="34" charset="0"/>
                <a:ea typeface="Calibri" pitchFamily="34" charset="-122"/>
                <a:cs typeface="Calibri" pitchFamily="34" charset="-120"/>
              </a:rPr>
              <a:t>The stream is simulated locally (task option 1): stream_simulator.py emits one reading per second, ~10% of them faulty, to keep the live demo lively.</a:t>
            </a:r>
            <a:endParaRPr lang="en-US" sz="1400" dirty="0"/>
          </a:p>
        </p:txBody>
      </p:sp>
      <p:sp>
        <p:nvSpPr>
          <p:cNvPr id="5" name="Shape 3"/>
          <p:cNvSpPr/>
          <p:nvPr/>
        </p:nvSpPr>
        <p:spPr>
          <a:xfrm>
            <a:off x="640080" y="4864608"/>
            <a:ext cx="5806440" cy="960120"/>
          </a:xfrm>
          <a:prstGeom prst="roundRect">
            <a:avLst>
              <a:gd name="adj" fmla="val 5714"/>
            </a:avLst>
          </a:prstGeom>
          <a:solidFill>
            <a:srgbClr val="FBF1E1"/>
          </a:solidFill>
          <a:ln w="12700">
            <a:solidFill>
              <a:srgbClr val="FBF1E1"/>
            </a:solidFill>
            <a:prstDash val="solid"/>
          </a:ln>
        </p:spPr>
      </p:sp>
      <p:sp>
        <p:nvSpPr>
          <p:cNvPr id="6" name="Text 4"/>
          <p:cNvSpPr/>
          <p:nvPr/>
        </p:nvSpPr>
        <p:spPr>
          <a:xfrm>
            <a:off x="914400" y="4864608"/>
            <a:ext cx="5257800" cy="960120"/>
          </a:xfrm>
          <a:prstGeom prst="rect">
            <a:avLst/>
          </a:prstGeom>
          <a:noFill/>
          <a:ln/>
        </p:spPr>
        <p:txBody>
          <a:bodyPr wrap="square" lIns="0" tIns="0" rIns="0" bIns="0" rtlCol="0" anchor="ctr"/>
          <a:lstStyle/>
          <a:p>
            <a:pPr indent="0" marL="0">
              <a:buNone/>
            </a:pPr>
            <a:r>
              <a:rPr lang="en-US" sz="1250" b="1" dirty="0">
                <a:solidFill>
                  <a:srgbClr val="36454F"/>
                </a:solidFill>
                <a:latin typeface="Calibri" pitchFamily="34" charset="0"/>
                <a:ea typeface="Calibri" pitchFamily="34" charset="-122"/>
                <a:cs typeface="Calibri" pitchFamily="34" charset="-120"/>
              </a:rPr>
              <a:t>Trade-off I accepted:  </a:t>
            </a:r>
            <a:pPr indent="0" marL="0">
              <a:buNone/>
            </a:pPr>
            <a:r>
              <a:rPr lang="en-US" sz="1250" dirty="0">
                <a:solidFill>
                  <a:srgbClr val="4A5866"/>
                </a:solidFill>
                <a:latin typeface="Calibri" pitchFamily="34" charset="0"/>
                <a:ea typeface="Calibri" pitchFamily="34" charset="-122"/>
                <a:cs typeface="Calibri" pitchFamily="34" charset="-120"/>
              </a:rPr>
              <a:t>synthetic data buys reproducibility and a known ground truth, but it cannot reproduce the messiness of real sensors.</a:t>
            </a:r>
            <a:endParaRPr lang="en-US" sz="1250" dirty="0"/>
          </a:p>
        </p:txBody>
      </p:sp>
      <p:sp>
        <p:nvSpPr>
          <p:cNvPr id="7" name="Shape 5"/>
          <p:cNvSpPr/>
          <p:nvPr/>
        </p:nvSpPr>
        <p:spPr>
          <a:xfrm>
            <a:off x="6858000" y="1600200"/>
            <a:ext cx="1097280" cy="960120"/>
          </a:xfrm>
          <a:prstGeom prst="roundRect">
            <a:avLst>
              <a:gd name="adj" fmla="val 7619"/>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8" name="Text 6"/>
          <p:cNvSpPr/>
          <p:nvPr/>
        </p:nvSpPr>
        <p:spPr>
          <a:xfrm>
            <a:off x="6858000" y="1673352"/>
            <a:ext cx="1097280" cy="438912"/>
          </a:xfrm>
          <a:prstGeom prst="rect">
            <a:avLst/>
          </a:prstGeom>
          <a:noFill/>
          <a:ln/>
        </p:spPr>
        <p:txBody>
          <a:bodyPr wrap="square" lIns="0" tIns="0" rIns="0" bIns="0" rtlCol="0" anchor="ctr"/>
          <a:lstStyle/>
          <a:p>
            <a:pPr algn="ctr" indent="0" marL="0">
              <a:buNone/>
            </a:pPr>
            <a:r>
              <a:rPr lang="en-US" sz="2000" b="1" dirty="0">
                <a:solidFill>
                  <a:srgbClr val="44708C"/>
                </a:solidFill>
                <a:latin typeface="Cambria" pitchFamily="34" charset="0"/>
                <a:ea typeface="Cambria" pitchFamily="34" charset="-122"/>
                <a:cs typeface="Cambria" pitchFamily="34" charset="-120"/>
              </a:rPr>
              <a:t>2,040</a:t>
            </a:r>
            <a:endParaRPr lang="en-US" sz="2000" dirty="0"/>
          </a:p>
        </p:txBody>
      </p:sp>
      <p:sp>
        <p:nvSpPr>
          <p:cNvPr id="9" name="Text 7"/>
          <p:cNvSpPr/>
          <p:nvPr/>
        </p:nvSpPr>
        <p:spPr>
          <a:xfrm>
            <a:off x="6858000" y="2121408"/>
            <a:ext cx="109728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readings</a:t>
            </a:r>
            <a:endParaRPr lang="en-US" sz="950" dirty="0"/>
          </a:p>
        </p:txBody>
      </p:sp>
      <p:sp>
        <p:nvSpPr>
          <p:cNvPr id="10" name="Shape 8"/>
          <p:cNvSpPr/>
          <p:nvPr/>
        </p:nvSpPr>
        <p:spPr>
          <a:xfrm>
            <a:off x="8055864" y="1600200"/>
            <a:ext cx="1097280" cy="960120"/>
          </a:xfrm>
          <a:prstGeom prst="roundRect">
            <a:avLst>
              <a:gd name="adj" fmla="val 7619"/>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11" name="Text 9"/>
          <p:cNvSpPr/>
          <p:nvPr/>
        </p:nvSpPr>
        <p:spPr>
          <a:xfrm>
            <a:off x="8055864" y="1673352"/>
            <a:ext cx="1097280" cy="438912"/>
          </a:xfrm>
          <a:prstGeom prst="rect">
            <a:avLst/>
          </a:prstGeom>
          <a:noFill/>
          <a:ln/>
        </p:spPr>
        <p:txBody>
          <a:bodyPr wrap="square" lIns="0" tIns="0" rIns="0" bIns="0" rtlCol="0" anchor="ctr"/>
          <a:lstStyle/>
          <a:p>
            <a:pPr algn="ctr" indent="0" marL="0">
              <a:buNone/>
            </a:pPr>
            <a:r>
              <a:rPr lang="en-US" sz="2000" b="1" dirty="0">
                <a:solidFill>
                  <a:srgbClr val="44708C"/>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8055864" y="2121408"/>
            <a:ext cx="109728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features</a:t>
            </a:r>
            <a:endParaRPr lang="en-US" sz="950" dirty="0"/>
          </a:p>
        </p:txBody>
      </p:sp>
      <p:sp>
        <p:nvSpPr>
          <p:cNvPr id="13" name="Shape 11"/>
          <p:cNvSpPr/>
          <p:nvPr/>
        </p:nvSpPr>
        <p:spPr>
          <a:xfrm>
            <a:off x="9253728" y="1600200"/>
            <a:ext cx="1097280" cy="960120"/>
          </a:xfrm>
          <a:prstGeom prst="roundRect">
            <a:avLst>
              <a:gd name="adj" fmla="val 7619"/>
            </a:avLst>
          </a:prstGeom>
          <a:solidFill>
            <a:srgbClr val="FBF1E1"/>
          </a:solidFill>
          <a:ln w="12700">
            <a:solidFill>
              <a:srgbClr val="FBF1E1"/>
            </a:solidFill>
            <a:prstDash val="solid"/>
          </a:ln>
          <a:effectLst>
            <a:outerShdw sx="100000" sy="100000" kx="0" ky="0" algn="bl" rotWithShape="0" blurRad="101600" dist="25400" dir="5400000">
              <a:srgbClr val="AAB4BD">
                <a:alpha val="25000"/>
              </a:srgbClr>
            </a:outerShdw>
          </a:effectLst>
        </p:spPr>
      </p:sp>
      <p:sp>
        <p:nvSpPr>
          <p:cNvPr id="14" name="Text 12"/>
          <p:cNvSpPr/>
          <p:nvPr/>
        </p:nvSpPr>
        <p:spPr>
          <a:xfrm>
            <a:off x="9253728" y="1673352"/>
            <a:ext cx="1097280" cy="438912"/>
          </a:xfrm>
          <a:prstGeom prst="rect">
            <a:avLst/>
          </a:prstGeom>
          <a:noFill/>
          <a:ln/>
        </p:spPr>
        <p:txBody>
          <a:bodyPr wrap="square" lIns="0" tIns="0" rIns="0" bIns="0" rtlCol="0" anchor="ctr"/>
          <a:lstStyle/>
          <a:p>
            <a:pPr algn="ctr" indent="0" marL="0">
              <a:buNone/>
            </a:pPr>
            <a:r>
              <a:rPr lang="en-US" sz="2000" b="1" dirty="0">
                <a:solidFill>
                  <a:srgbClr val="D4881F"/>
                </a:solidFill>
                <a:latin typeface="Cambria" pitchFamily="34" charset="0"/>
                <a:ea typeface="Cambria" pitchFamily="34" charset="-122"/>
                <a:cs typeface="Cambria" pitchFamily="34" charset="-120"/>
              </a:rPr>
              <a:t>40</a:t>
            </a:r>
            <a:endParaRPr lang="en-US" sz="2000" dirty="0"/>
          </a:p>
        </p:txBody>
      </p:sp>
      <p:sp>
        <p:nvSpPr>
          <p:cNvPr id="15" name="Text 13"/>
          <p:cNvSpPr/>
          <p:nvPr/>
        </p:nvSpPr>
        <p:spPr>
          <a:xfrm>
            <a:off x="9253728" y="2121408"/>
            <a:ext cx="109728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anomalies</a:t>
            </a:r>
            <a:endParaRPr lang="en-US" sz="950" dirty="0"/>
          </a:p>
        </p:txBody>
      </p:sp>
      <p:sp>
        <p:nvSpPr>
          <p:cNvPr id="16" name="Shape 14"/>
          <p:cNvSpPr/>
          <p:nvPr/>
        </p:nvSpPr>
        <p:spPr>
          <a:xfrm>
            <a:off x="10451592" y="1600200"/>
            <a:ext cx="1097280" cy="960120"/>
          </a:xfrm>
          <a:prstGeom prst="roundRect">
            <a:avLst>
              <a:gd name="adj" fmla="val 7619"/>
            </a:avLst>
          </a:prstGeom>
          <a:solidFill>
            <a:srgbClr val="FBF1E1"/>
          </a:solidFill>
          <a:ln w="12700">
            <a:solidFill>
              <a:srgbClr val="FBF1E1"/>
            </a:solidFill>
            <a:prstDash val="solid"/>
          </a:ln>
          <a:effectLst>
            <a:outerShdw sx="100000" sy="100000" kx="0" ky="0" algn="bl" rotWithShape="0" blurRad="101600" dist="25400" dir="5400000">
              <a:srgbClr val="AAB4BD">
                <a:alpha val="25000"/>
              </a:srgbClr>
            </a:outerShdw>
          </a:effectLst>
        </p:spPr>
      </p:sp>
      <p:sp>
        <p:nvSpPr>
          <p:cNvPr id="17" name="Text 15"/>
          <p:cNvSpPr/>
          <p:nvPr/>
        </p:nvSpPr>
        <p:spPr>
          <a:xfrm>
            <a:off x="10451592" y="1673352"/>
            <a:ext cx="1097280" cy="438912"/>
          </a:xfrm>
          <a:prstGeom prst="rect">
            <a:avLst/>
          </a:prstGeom>
          <a:noFill/>
          <a:ln/>
        </p:spPr>
        <p:txBody>
          <a:bodyPr wrap="square" lIns="0" tIns="0" rIns="0" bIns="0" rtlCol="0" anchor="ctr"/>
          <a:lstStyle/>
          <a:p>
            <a:pPr algn="ctr" indent="0" marL="0">
              <a:buNone/>
            </a:pPr>
            <a:r>
              <a:rPr lang="en-US" sz="2000" b="1" dirty="0">
                <a:solidFill>
                  <a:srgbClr val="D4881F"/>
                </a:solidFill>
                <a:latin typeface="Cambria" pitchFamily="34" charset="0"/>
                <a:ea typeface="Cambria" pitchFamily="34" charset="-122"/>
                <a:cs typeface="Cambria" pitchFamily="34" charset="-120"/>
              </a:rPr>
              <a:t>2.0%</a:t>
            </a:r>
            <a:endParaRPr lang="en-US" sz="2000" dirty="0"/>
          </a:p>
        </p:txBody>
      </p:sp>
      <p:sp>
        <p:nvSpPr>
          <p:cNvPr id="18" name="Text 16"/>
          <p:cNvSpPr/>
          <p:nvPr/>
        </p:nvSpPr>
        <p:spPr>
          <a:xfrm>
            <a:off x="10451592" y="2121408"/>
            <a:ext cx="109728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contamination</a:t>
            </a:r>
            <a:endParaRPr lang="en-US" sz="950" dirty="0"/>
          </a:p>
        </p:txBody>
      </p:sp>
      <p:pic>
        <p:nvPicPr>
          <p:cNvPr id="19" name="Image 0" descr="/sessions/nifty-busy-babbage/mnt/outputs/chart_scatter.png">    </p:cNvPr>
          <p:cNvPicPr>
            <a:picLocks noChangeAspect="1"/>
          </p:cNvPicPr>
          <p:nvPr/>
        </p:nvPicPr>
        <p:blipFill>
          <a:blip r:embed="rId1"/>
          <a:stretch>
            <a:fillRect/>
          </a:stretch>
        </p:blipFill>
        <p:spPr>
          <a:xfrm>
            <a:off x="6858000" y="2697480"/>
            <a:ext cx="4663440" cy="3081528"/>
          </a:xfrm>
          <a:prstGeom prst="rect">
            <a:avLst/>
          </a:prstGeom>
        </p:spPr>
      </p:pic>
      <p:sp>
        <p:nvSpPr>
          <p:cNvPr id="20" name="Text 17"/>
          <p:cNvSpPr/>
          <p:nvPr/>
        </p:nvSpPr>
        <p:spPr>
          <a:xfrm>
            <a:off x="6858000" y="5779008"/>
            <a:ext cx="4663440" cy="256032"/>
          </a:xfrm>
          <a:prstGeom prst="rect">
            <a:avLst/>
          </a:prstGeom>
          <a:noFill/>
          <a:ln/>
        </p:spPr>
        <p:txBody>
          <a:bodyPr wrap="square" lIns="0" tIns="0" rIns="0" bIns="0" rtlCol="0" anchor="ctr"/>
          <a:lstStyle/>
          <a:p>
            <a:pPr indent="0" marL="0">
              <a:buNone/>
            </a:pPr>
            <a:r>
              <a:rPr lang="en-US" sz="1000" dirty="0">
                <a:solidFill>
                  <a:srgbClr val="8A98A5"/>
                </a:solidFill>
                <a:latin typeface="Calibri" pitchFamily="34" charset="0"/>
                <a:ea typeface="Calibri" pitchFamily="34" charset="-122"/>
                <a:cs typeface="Calibri" pitchFamily="34" charset="-120"/>
              </a:rPr>
              <a:t>Figure 2: Planted anomalies against normal operation (own illustration).</a:t>
            </a:r>
            <a:endParaRPr lang="en-US" sz="1000" dirty="0"/>
          </a:p>
        </p:txBody>
      </p:sp>
      <p:sp>
        <p:nvSpPr>
          <p:cNvPr id="21" name="Text 18"/>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2" name="Text 19"/>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04 · DATA &amp; MODEL</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Why Isolation Forest — and why unsupervised</a:t>
            </a:r>
            <a:endParaRPr lang="en-US" sz="3200" dirty="0"/>
          </a:p>
        </p:txBody>
      </p:sp>
      <p:sp>
        <p:nvSpPr>
          <p:cNvPr id="4" name="Shape 2"/>
          <p:cNvSpPr/>
          <p:nvPr/>
        </p:nvSpPr>
        <p:spPr>
          <a:xfrm>
            <a:off x="640080" y="1572768"/>
            <a:ext cx="5715000" cy="4206240"/>
          </a:xfrm>
          <a:prstGeom prst="roundRect">
            <a:avLst>
              <a:gd name="adj" fmla="val 1739"/>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5" name="Text 3"/>
          <p:cNvSpPr/>
          <p:nvPr/>
        </p:nvSpPr>
        <p:spPr>
          <a:xfrm>
            <a:off x="960120" y="1783080"/>
            <a:ext cx="5029200" cy="32004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 reasoning</a:t>
            </a:r>
            <a:endParaRPr lang="en-US" sz="1700" dirty="0"/>
          </a:p>
        </p:txBody>
      </p:sp>
      <p:sp>
        <p:nvSpPr>
          <p:cNvPr id="6" name="Text 4"/>
          <p:cNvSpPr/>
          <p:nvPr/>
        </p:nvSpPr>
        <p:spPr>
          <a:xfrm>
            <a:off x="960120" y="2212848"/>
            <a:ext cx="5120640" cy="338328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4A5866"/>
                </a:solidFill>
                <a:latin typeface="Calibri" pitchFamily="34" charset="0"/>
                <a:ea typeface="Calibri" pitchFamily="34" charset="-122"/>
                <a:cs typeface="Calibri" pitchFamily="34" charset="-120"/>
              </a:rPr>
              <a:t>In a real factory, labelled faults are rare and expensive to collect — a supervised classifier would need them for every new fault type.</a:t>
            </a:r>
            <a:endParaRPr lang="en-US" sz="1350" dirty="0"/>
          </a:p>
          <a:p>
            <a:pPr marL="203200" indent="-203200">
              <a:spcAft>
                <a:spcPts val="1000"/>
              </a:spcAft>
              <a:buSzPct val="100000"/>
              <a:buChar char="•"/>
            </a:pPr>
            <a:r>
              <a:rPr lang="en-US" sz="1350" dirty="0">
                <a:solidFill>
                  <a:srgbClr val="4A5866"/>
                </a:solidFill>
                <a:latin typeface="Calibri" pitchFamily="34" charset="0"/>
                <a:ea typeface="Calibri" pitchFamily="34" charset="-122"/>
                <a:cs typeface="Calibri" pitchFamily="34" charset="-120"/>
              </a:rPr>
              <a:t>Isolation Forest is unsupervised: it learns what normal looks like and flags what is easy to isolate. It is fitted on the features alone, without labels.</a:t>
            </a:r>
            <a:endParaRPr lang="en-US" sz="1350" dirty="0"/>
          </a:p>
          <a:p>
            <a:pPr marL="203200" indent="-203200">
              <a:spcAft>
                <a:spcPts val="1000"/>
              </a:spcAft>
              <a:buSzPct val="100000"/>
              <a:buChar char="•"/>
            </a:pPr>
            <a:r>
              <a:rPr lang="en-US" sz="1350" dirty="0">
                <a:solidFill>
                  <a:srgbClr val="4A5866"/>
                </a:solidFill>
                <a:latin typeface="Calibri" pitchFamily="34" charset="0"/>
                <a:ea typeface="Calibri" pitchFamily="34" charset="-122"/>
                <a:cs typeface="Calibri" pitchFamily="34" charset="-120"/>
              </a:rPr>
              <a:t>It is fast to train, fast to score, and has one intuitive knob — contamination, set to the ~2% fault rate the domain experts expect (Liu, Ting &amp; Zhou, 2008).</a:t>
            </a:r>
            <a:endParaRPr lang="en-US" sz="1350" dirty="0"/>
          </a:p>
          <a:p>
            <a:pPr marL="203200" indent="-203200">
              <a:spcAft>
                <a:spcPts val="1000"/>
              </a:spcAft>
              <a:buSzPct val="100000"/>
              <a:buChar char="•"/>
            </a:pPr>
            <a:r>
              <a:rPr lang="en-US" sz="1350" dirty="0">
                <a:solidFill>
                  <a:srgbClr val="4A5866"/>
                </a:solidFill>
                <a:latin typeface="Calibri" pitchFamily="34" charset="0"/>
                <a:ea typeface="Calibri" pitchFamily="34" charset="-122"/>
                <a:cs typeface="Calibri" pitchFamily="34" charset="-120"/>
              </a:rPr>
              <a:t>It returns a continuous score, not just a yes/no — so the alert threshold can be tuned later without retraining.</a:t>
            </a:r>
            <a:endParaRPr lang="en-US" sz="1350" dirty="0"/>
          </a:p>
        </p:txBody>
      </p:sp>
      <p:sp>
        <p:nvSpPr>
          <p:cNvPr id="7" name="Shape 5"/>
          <p:cNvSpPr/>
          <p:nvPr/>
        </p:nvSpPr>
        <p:spPr>
          <a:xfrm>
            <a:off x="6675120" y="1572768"/>
            <a:ext cx="4846320" cy="4206240"/>
          </a:xfrm>
          <a:prstGeom prst="roundRect">
            <a:avLst>
              <a:gd name="adj" fmla="val 1739"/>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8" name="Text 6"/>
          <p:cNvSpPr/>
          <p:nvPr/>
        </p:nvSpPr>
        <p:spPr>
          <a:xfrm>
            <a:off x="6949440" y="1783080"/>
            <a:ext cx="4297680" cy="32004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 pipeline that gets pickled</a:t>
            </a:r>
            <a:endParaRPr lang="en-US" sz="1700" dirty="0"/>
          </a:p>
        </p:txBody>
      </p:sp>
      <p:sp>
        <p:nvSpPr>
          <p:cNvPr id="9" name="Shape 7"/>
          <p:cNvSpPr/>
          <p:nvPr/>
        </p:nvSpPr>
        <p:spPr>
          <a:xfrm>
            <a:off x="6949440" y="2240280"/>
            <a:ext cx="4297680" cy="694944"/>
          </a:xfrm>
          <a:prstGeom prst="roundRect">
            <a:avLst>
              <a:gd name="adj" fmla="val 6579"/>
            </a:avLst>
          </a:prstGeom>
          <a:solidFill>
            <a:srgbClr val="FFFFFF"/>
          </a:solidFill>
          <a:ln w="12700">
            <a:solidFill>
              <a:srgbClr val="D5DFE7"/>
            </a:solidFill>
            <a:prstDash val="solid"/>
          </a:ln>
        </p:spPr>
      </p:sp>
      <p:sp>
        <p:nvSpPr>
          <p:cNvPr id="10" name="Text 8"/>
          <p:cNvSpPr/>
          <p:nvPr/>
        </p:nvSpPr>
        <p:spPr>
          <a:xfrm>
            <a:off x="7132320" y="2304288"/>
            <a:ext cx="393192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Input</a:t>
            </a:r>
            <a:endParaRPr lang="en-US" sz="1350" dirty="0"/>
          </a:p>
        </p:txBody>
      </p:sp>
      <p:sp>
        <p:nvSpPr>
          <p:cNvPr id="11" name="Text 9"/>
          <p:cNvSpPr/>
          <p:nvPr/>
        </p:nvSpPr>
        <p:spPr>
          <a:xfrm>
            <a:off x="7132320" y="2578608"/>
            <a:ext cx="3931920" cy="292608"/>
          </a:xfrm>
          <a:prstGeom prst="rect">
            <a:avLst/>
          </a:prstGeom>
          <a:noFill/>
          <a:ln/>
        </p:spPr>
        <p:txBody>
          <a:bodyPr wrap="square" lIns="0" tIns="0" rIns="0" bIns="0" rtlCol="0" anchor="ctr"/>
          <a:lstStyle/>
          <a:p>
            <a:pPr indent="0" marL="0">
              <a:buNone/>
            </a:pPr>
            <a:r>
              <a:rPr lang="en-US" sz="1100" dirty="0">
                <a:solidFill>
                  <a:srgbClr val="4A5866"/>
                </a:solidFill>
                <a:latin typeface="Calibri" pitchFamily="34" charset="0"/>
                <a:ea typeface="Calibri" pitchFamily="34" charset="-122"/>
                <a:cs typeface="Calibri" pitchFamily="34" charset="-120"/>
              </a:rPr>
              <a:t>temperature · humidity · sound</a:t>
            </a:r>
            <a:endParaRPr lang="en-US" sz="1100" dirty="0"/>
          </a:p>
        </p:txBody>
      </p:sp>
      <p:sp>
        <p:nvSpPr>
          <p:cNvPr id="12" name="Text 10"/>
          <p:cNvSpPr/>
          <p:nvPr/>
        </p:nvSpPr>
        <p:spPr>
          <a:xfrm>
            <a:off x="6949440" y="2944368"/>
            <a:ext cx="4297680" cy="182880"/>
          </a:xfrm>
          <a:prstGeom prst="rect">
            <a:avLst/>
          </a:prstGeom>
          <a:noFill/>
          <a:ln/>
        </p:spPr>
        <p:txBody>
          <a:bodyPr wrap="square" lIns="0" tIns="0" rIns="0" bIns="0" rtlCol="0" anchor="ctr"/>
          <a:lstStyle/>
          <a:p>
            <a:pPr algn="ctr" indent="0" marL="0">
              <a:buNone/>
            </a:pPr>
            <a:r>
              <a:rPr lang="en-US" sz="800" dirty="0">
                <a:solidFill>
                  <a:srgbClr val="44708C"/>
                </a:solidFill>
                <a:latin typeface="Calibri" pitchFamily="34" charset="0"/>
                <a:ea typeface="Calibri" pitchFamily="34" charset="-122"/>
                <a:cs typeface="Calibri" pitchFamily="34" charset="-120"/>
              </a:rPr>
              <a:t>▼</a:t>
            </a:r>
            <a:endParaRPr lang="en-US" sz="800" dirty="0"/>
          </a:p>
        </p:txBody>
      </p:sp>
      <p:sp>
        <p:nvSpPr>
          <p:cNvPr id="13" name="Shape 11"/>
          <p:cNvSpPr/>
          <p:nvPr/>
        </p:nvSpPr>
        <p:spPr>
          <a:xfrm>
            <a:off x="6949440" y="3136392"/>
            <a:ext cx="4297680" cy="694944"/>
          </a:xfrm>
          <a:prstGeom prst="roundRect">
            <a:avLst>
              <a:gd name="adj" fmla="val 6579"/>
            </a:avLst>
          </a:prstGeom>
          <a:solidFill>
            <a:srgbClr val="FFFFFF"/>
          </a:solidFill>
          <a:ln w="12700">
            <a:solidFill>
              <a:srgbClr val="D5DFE7"/>
            </a:solidFill>
            <a:prstDash val="solid"/>
          </a:ln>
        </p:spPr>
      </p:sp>
      <p:sp>
        <p:nvSpPr>
          <p:cNvPr id="14" name="Text 12"/>
          <p:cNvSpPr/>
          <p:nvPr/>
        </p:nvSpPr>
        <p:spPr>
          <a:xfrm>
            <a:off x="7132320" y="3200400"/>
            <a:ext cx="393192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StandardScaler</a:t>
            </a:r>
            <a:endParaRPr lang="en-US" sz="1350" dirty="0"/>
          </a:p>
        </p:txBody>
      </p:sp>
      <p:sp>
        <p:nvSpPr>
          <p:cNvPr id="15" name="Text 13"/>
          <p:cNvSpPr/>
          <p:nvPr/>
        </p:nvSpPr>
        <p:spPr>
          <a:xfrm>
            <a:off x="7132320" y="3474720"/>
            <a:ext cx="3931920" cy="292608"/>
          </a:xfrm>
          <a:prstGeom prst="rect">
            <a:avLst/>
          </a:prstGeom>
          <a:noFill/>
          <a:ln/>
        </p:spPr>
        <p:txBody>
          <a:bodyPr wrap="square" lIns="0" tIns="0" rIns="0" bIns="0" rtlCol="0" anchor="ctr"/>
          <a:lstStyle/>
          <a:p>
            <a:pPr indent="0" marL="0">
              <a:buNone/>
            </a:pPr>
            <a:r>
              <a:rPr lang="en-US" sz="1100" dirty="0">
                <a:solidFill>
                  <a:srgbClr val="4A5866"/>
                </a:solidFill>
                <a:latin typeface="Calibri" pitchFamily="34" charset="0"/>
                <a:ea typeface="Calibri" pitchFamily="34" charset="-122"/>
                <a:cs typeface="Calibri" pitchFamily="34" charset="-120"/>
              </a:rPr>
              <a:t>puts the three sensors on a comparable scale</a:t>
            </a:r>
            <a:endParaRPr lang="en-US" sz="1100" dirty="0"/>
          </a:p>
        </p:txBody>
      </p:sp>
      <p:sp>
        <p:nvSpPr>
          <p:cNvPr id="16" name="Text 14"/>
          <p:cNvSpPr/>
          <p:nvPr/>
        </p:nvSpPr>
        <p:spPr>
          <a:xfrm>
            <a:off x="6949440" y="3840480"/>
            <a:ext cx="4297680" cy="182880"/>
          </a:xfrm>
          <a:prstGeom prst="rect">
            <a:avLst/>
          </a:prstGeom>
          <a:noFill/>
          <a:ln/>
        </p:spPr>
        <p:txBody>
          <a:bodyPr wrap="square" lIns="0" tIns="0" rIns="0" bIns="0" rtlCol="0" anchor="ctr"/>
          <a:lstStyle/>
          <a:p>
            <a:pPr algn="ctr" indent="0" marL="0">
              <a:buNone/>
            </a:pPr>
            <a:r>
              <a:rPr lang="en-US" sz="800" dirty="0">
                <a:solidFill>
                  <a:srgbClr val="44708C"/>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6949440" y="4032504"/>
            <a:ext cx="4297680" cy="694944"/>
          </a:xfrm>
          <a:prstGeom prst="roundRect">
            <a:avLst>
              <a:gd name="adj" fmla="val 6579"/>
            </a:avLst>
          </a:prstGeom>
          <a:solidFill>
            <a:srgbClr val="FFFFFF"/>
          </a:solidFill>
          <a:ln w="12700">
            <a:solidFill>
              <a:srgbClr val="D5DFE7"/>
            </a:solidFill>
            <a:prstDash val="solid"/>
          </a:ln>
        </p:spPr>
      </p:sp>
      <p:sp>
        <p:nvSpPr>
          <p:cNvPr id="18" name="Text 16"/>
          <p:cNvSpPr/>
          <p:nvPr/>
        </p:nvSpPr>
        <p:spPr>
          <a:xfrm>
            <a:off x="7132320" y="4096512"/>
            <a:ext cx="393192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IsolationForest</a:t>
            </a:r>
            <a:endParaRPr lang="en-US" sz="1350" dirty="0"/>
          </a:p>
        </p:txBody>
      </p:sp>
      <p:sp>
        <p:nvSpPr>
          <p:cNvPr id="19" name="Text 17"/>
          <p:cNvSpPr/>
          <p:nvPr/>
        </p:nvSpPr>
        <p:spPr>
          <a:xfrm>
            <a:off x="7132320" y="4370832"/>
            <a:ext cx="3931920" cy="292608"/>
          </a:xfrm>
          <a:prstGeom prst="rect">
            <a:avLst/>
          </a:prstGeom>
          <a:noFill/>
          <a:ln/>
        </p:spPr>
        <p:txBody>
          <a:bodyPr wrap="square" lIns="0" tIns="0" rIns="0" bIns="0" rtlCol="0" anchor="ctr"/>
          <a:lstStyle/>
          <a:p>
            <a:pPr indent="0" marL="0">
              <a:buNone/>
            </a:pPr>
            <a:r>
              <a:rPr lang="en-US" sz="1100" dirty="0">
                <a:solidFill>
                  <a:srgbClr val="4A5866"/>
                </a:solidFill>
                <a:latin typeface="Calibri" pitchFamily="34" charset="0"/>
                <a:ea typeface="Calibri" pitchFamily="34" charset="-122"/>
                <a:cs typeface="Calibri" pitchFamily="34" charset="-120"/>
              </a:rPr>
              <a:t>100 trees · contamination = 0.02 · seed 42</a:t>
            </a:r>
            <a:endParaRPr lang="en-US" sz="1100" dirty="0"/>
          </a:p>
        </p:txBody>
      </p:sp>
      <p:sp>
        <p:nvSpPr>
          <p:cNvPr id="20" name="Text 18"/>
          <p:cNvSpPr/>
          <p:nvPr/>
        </p:nvSpPr>
        <p:spPr>
          <a:xfrm>
            <a:off x="6949440" y="4736592"/>
            <a:ext cx="4297680" cy="182880"/>
          </a:xfrm>
          <a:prstGeom prst="rect">
            <a:avLst/>
          </a:prstGeom>
          <a:noFill/>
          <a:ln/>
        </p:spPr>
        <p:txBody>
          <a:bodyPr wrap="square" lIns="0" tIns="0" rIns="0" bIns="0" rtlCol="0" anchor="ctr"/>
          <a:lstStyle/>
          <a:p>
            <a:pPr algn="ctr" indent="0" marL="0">
              <a:buNone/>
            </a:pPr>
            <a:r>
              <a:rPr lang="en-US" sz="800" dirty="0">
                <a:solidFill>
                  <a:srgbClr val="44708C"/>
                </a:solidFill>
                <a:latin typeface="Calibri" pitchFamily="34" charset="0"/>
                <a:ea typeface="Calibri" pitchFamily="34" charset="-122"/>
                <a:cs typeface="Calibri" pitchFamily="34" charset="-120"/>
              </a:rPr>
              <a:t>▼</a:t>
            </a:r>
            <a:endParaRPr lang="en-US" sz="800" dirty="0"/>
          </a:p>
        </p:txBody>
      </p:sp>
      <p:sp>
        <p:nvSpPr>
          <p:cNvPr id="21" name="Shape 19"/>
          <p:cNvSpPr/>
          <p:nvPr/>
        </p:nvSpPr>
        <p:spPr>
          <a:xfrm>
            <a:off x="6949440" y="4928616"/>
            <a:ext cx="4297680" cy="694944"/>
          </a:xfrm>
          <a:prstGeom prst="roundRect">
            <a:avLst>
              <a:gd name="adj" fmla="val 6579"/>
            </a:avLst>
          </a:prstGeom>
          <a:solidFill>
            <a:srgbClr val="FBF1E1"/>
          </a:solidFill>
          <a:ln w="12700">
            <a:solidFill>
              <a:srgbClr val="D5DFE7"/>
            </a:solidFill>
            <a:prstDash val="solid"/>
          </a:ln>
        </p:spPr>
      </p:sp>
      <p:sp>
        <p:nvSpPr>
          <p:cNvPr id="22" name="Text 20"/>
          <p:cNvSpPr/>
          <p:nvPr/>
        </p:nvSpPr>
        <p:spPr>
          <a:xfrm>
            <a:off x="7132320" y="4992624"/>
            <a:ext cx="3931920" cy="27432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Output</a:t>
            </a:r>
            <a:endParaRPr lang="en-US" sz="1350" dirty="0"/>
          </a:p>
        </p:txBody>
      </p:sp>
      <p:sp>
        <p:nvSpPr>
          <p:cNvPr id="23" name="Text 21"/>
          <p:cNvSpPr/>
          <p:nvPr/>
        </p:nvSpPr>
        <p:spPr>
          <a:xfrm>
            <a:off x="7132320" y="5266944"/>
            <a:ext cx="3931920" cy="292608"/>
          </a:xfrm>
          <a:prstGeom prst="rect">
            <a:avLst/>
          </a:prstGeom>
          <a:noFill/>
          <a:ln/>
        </p:spPr>
        <p:txBody>
          <a:bodyPr wrap="square" lIns="0" tIns="0" rIns="0" bIns="0" rtlCol="0" anchor="ctr"/>
          <a:lstStyle/>
          <a:p>
            <a:pPr indent="0" marL="0">
              <a:buNone/>
            </a:pPr>
            <a:r>
              <a:rPr lang="en-US" sz="1100" dirty="0">
                <a:solidFill>
                  <a:srgbClr val="4A5866"/>
                </a:solidFill>
                <a:latin typeface="Calibri" pitchFamily="34" charset="0"/>
                <a:ea typeface="Calibri" pitchFamily="34" charset="-122"/>
                <a:cs typeface="Calibri" pitchFamily="34" charset="-120"/>
              </a:rPr>
              <a:t>anomaly score + boolean flag</a:t>
            </a:r>
            <a:endParaRPr lang="en-US" sz="1100" dirty="0"/>
          </a:p>
        </p:txBody>
      </p:sp>
      <p:sp>
        <p:nvSpPr>
          <p:cNvPr id="24" name="Text 22"/>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5" name="Text 23"/>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04 · DATA &amp; MODEL</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Does it work? Basic statistical measures</a:t>
            </a:r>
            <a:endParaRPr lang="en-US" sz="3200" dirty="0"/>
          </a:p>
        </p:txBody>
      </p:sp>
      <p:sp>
        <p:nvSpPr>
          <p:cNvPr id="4" name="Shape 2"/>
          <p:cNvSpPr/>
          <p:nvPr/>
        </p:nvSpPr>
        <p:spPr>
          <a:xfrm>
            <a:off x="640080" y="1600200"/>
            <a:ext cx="1792224" cy="2057400"/>
          </a:xfrm>
          <a:prstGeom prst="roundRect">
            <a:avLst>
              <a:gd name="adj" fmla="val 4082"/>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5" name="Text 3"/>
          <p:cNvSpPr/>
          <p:nvPr/>
        </p:nvSpPr>
        <p:spPr>
          <a:xfrm>
            <a:off x="640080" y="1737360"/>
            <a:ext cx="1792224" cy="658368"/>
          </a:xfrm>
          <a:prstGeom prst="rect">
            <a:avLst/>
          </a:prstGeom>
          <a:noFill/>
          <a:ln/>
        </p:spPr>
        <p:txBody>
          <a:bodyPr wrap="square" lIns="0" tIns="0" rIns="0" bIns="0" rtlCol="0" anchor="ctr"/>
          <a:lstStyle/>
          <a:p>
            <a:pPr algn="ctr" indent="0" marL="0">
              <a:buNone/>
            </a:pPr>
            <a:r>
              <a:rPr lang="en-US" sz="3200" b="1" dirty="0">
                <a:solidFill>
                  <a:srgbClr val="44708C"/>
                </a:solidFill>
                <a:latin typeface="Cambria" pitchFamily="34" charset="0"/>
                <a:ea typeface="Cambria" pitchFamily="34" charset="-122"/>
                <a:cs typeface="Cambria" pitchFamily="34" charset="-120"/>
              </a:rPr>
              <a:t>0.93</a:t>
            </a:r>
            <a:endParaRPr lang="en-US" sz="3200" dirty="0"/>
          </a:p>
        </p:txBody>
      </p:sp>
      <p:sp>
        <p:nvSpPr>
          <p:cNvPr id="6" name="Text 4"/>
          <p:cNvSpPr/>
          <p:nvPr/>
        </p:nvSpPr>
        <p:spPr>
          <a:xfrm>
            <a:off x="640080" y="2377440"/>
            <a:ext cx="1792224" cy="292608"/>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Precision</a:t>
            </a:r>
            <a:endParaRPr lang="en-US" sz="1300" dirty="0"/>
          </a:p>
        </p:txBody>
      </p:sp>
      <p:sp>
        <p:nvSpPr>
          <p:cNvPr id="7" name="Text 5"/>
          <p:cNvSpPr/>
          <p:nvPr/>
        </p:nvSpPr>
        <p:spPr>
          <a:xfrm>
            <a:off x="713232" y="2697480"/>
            <a:ext cx="1645920" cy="822960"/>
          </a:xfrm>
          <a:prstGeom prst="rect">
            <a:avLst/>
          </a:prstGeom>
          <a:noFill/>
          <a:ln/>
        </p:spPr>
        <p:txBody>
          <a:bodyPr wrap="square" lIns="0" tIns="0" rIns="0" bIns="0" rtlCol="0" anchor="t"/>
          <a:lstStyle/>
          <a:p>
            <a:pPr algn="ctr" indent="0" marL="0">
              <a:buNone/>
            </a:pPr>
            <a:r>
              <a:rPr lang="en-US" sz="1050" dirty="0">
                <a:solidFill>
                  <a:srgbClr val="4A5866"/>
                </a:solidFill>
                <a:latin typeface="Calibri" pitchFamily="34" charset="0"/>
                <a:ea typeface="Calibri" pitchFamily="34" charset="-122"/>
                <a:cs typeface="Calibri" pitchFamily="34" charset="-120"/>
              </a:rPr>
              <a:t>of the items flagged,</a:t>
            </a:r>
            <a:endParaRPr lang="en-US" sz="1050" dirty="0"/>
          </a:p>
          <a:p>
            <a:pPr algn="ctr" indent="0" marL="0">
              <a:buNone/>
            </a:pPr>
            <a:r>
              <a:rPr lang="en-US" sz="1050" dirty="0">
                <a:solidFill>
                  <a:srgbClr val="4A5866"/>
                </a:solidFill>
                <a:latin typeface="Calibri" pitchFamily="34" charset="0"/>
                <a:ea typeface="Calibri" pitchFamily="34" charset="-122"/>
                <a:cs typeface="Calibri" pitchFamily="34" charset="-120"/>
              </a:rPr>
              <a:t>93% really were faulty</a:t>
            </a:r>
            <a:endParaRPr lang="en-US" sz="1050" dirty="0"/>
          </a:p>
        </p:txBody>
      </p:sp>
      <p:sp>
        <p:nvSpPr>
          <p:cNvPr id="8" name="Shape 6"/>
          <p:cNvSpPr/>
          <p:nvPr/>
        </p:nvSpPr>
        <p:spPr>
          <a:xfrm>
            <a:off x="2596896" y="1600200"/>
            <a:ext cx="1792224" cy="2057400"/>
          </a:xfrm>
          <a:prstGeom prst="roundRect">
            <a:avLst>
              <a:gd name="adj" fmla="val 4082"/>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9" name="Text 7"/>
          <p:cNvSpPr/>
          <p:nvPr/>
        </p:nvSpPr>
        <p:spPr>
          <a:xfrm>
            <a:off x="2596896" y="1737360"/>
            <a:ext cx="1792224" cy="658368"/>
          </a:xfrm>
          <a:prstGeom prst="rect">
            <a:avLst/>
          </a:prstGeom>
          <a:noFill/>
          <a:ln/>
        </p:spPr>
        <p:txBody>
          <a:bodyPr wrap="square" lIns="0" tIns="0" rIns="0" bIns="0" rtlCol="0" anchor="ctr"/>
          <a:lstStyle/>
          <a:p>
            <a:pPr algn="ctr" indent="0" marL="0">
              <a:buNone/>
            </a:pPr>
            <a:r>
              <a:rPr lang="en-US" sz="3200" b="1" dirty="0">
                <a:solidFill>
                  <a:srgbClr val="44708C"/>
                </a:solidFill>
                <a:latin typeface="Cambria" pitchFamily="34" charset="0"/>
                <a:ea typeface="Cambria" pitchFamily="34" charset="-122"/>
                <a:cs typeface="Cambria" pitchFamily="34" charset="-120"/>
              </a:rPr>
              <a:t>0.95</a:t>
            </a:r>
            <a:endParaRPr lang="en-US" sz="3200" dirty="0"/>
          </a:p>
        </p:txBody>
      </p:sp>
      <p:sp>
        <p:nvSpPr>
          <p:cNvPr id="10" name="Text 8"/>
          <p:cNvSpPr/>
          <p:nvPr/>
        </p:nvSpPr>
        <p:spPr>
          <a:xfrm>
            <a:off x="2596896" y="2377440"/>
            <a:ext cx="1792224" cy="292608"/>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Recall</a:t>
            </a:r>
            <a:endParaRPr lang="en-US" sz="1300" dirty="0"/>
          </a:p>
        </p:txBody>
      </p:sp>
      <p:sp>
        <p:nvSpPr>
          <p:cNvPr id="11" name="Text 9"/>
          <p:cNvSpPr/>
          <p:nvPr/>
        </p:nvSpPr>
        <p:spPr>
          <a:xfrm>
            <a:off x="2670048" y="2697480"/>
            <a:ext cx="1645920" cy="822960"/>
          </a:xfrm>
          <a:prstGeom prst="rect">
            <a:avLst/>
          </a:prstGeom>
          <a:noFill/>
          <a:ln/>
        </p:spPr>
        <p:txBody>
          <a:bodyPr wrap="square" lIns="0" tIns="0" rIns="0" bIns="0" rtlCol="0" anchor="t"/>
          <a:lstStyle/>
          <a:p>
            <a:pPr algn="ctr" indent="0" marL="0">
              <a:buNone/>
            </a:pPr>
            <a:r>
              <a:rPr lang="en-US" sz="1050" dirty="0">
                <a:solidFill>
                  <a:srgbClr val="4A5866"/>
                </a:solidFill>
                <a:latin typeface="Calibri" pitchFamily="34" charset="0"/>
                <a:ea typeface="Calibri" pitchFamily="34" charset="-122"/>
                <a:cs typeface="Calibri" pitchFamily="34" charset="-120"/>
              </a:rPr>
              <a:t>38 of the 40 planted</a:t>
            </a:r>
            <a:endParaRPr lang="en-US" sz="1050" dirty="0"/>
          </a:p>
          <a:p>
            <a:pPr algn="ctr" indent="0" marL="0">
              <a:buNone/>
            </a:pPr>
            <a:r>
              <a:rPr lang="en-US" sz="1050" dirty="0">
                <a:solidFill>
                  <a:srgbClr val="4A5866"/>
                </a:solidFill>
                <a:latin typeface="Calibri" pitchFamily="34" charset="0"/>
                <a:ea typeface="Calibri" pitchFamily="34" charset="-122"/>
                <a:cs typeface="Calibri" pitchFamily="34" charset="-120"/>
              </a:rPr>
              <a:t>anomalies were caught</a:t>
            </a:r>
            <a:endParaRPr lang="en-US" sz="1050" dirty="0"/>
          </a:p>
        </p:txBody>
      </p:sp>
      <p:sp>
        <p:nvSpPr>
          <p:cNvPr id="12" name="Shape 10"/>
          <p:cNvSpPr/>
          <p:nvPr/>
        </p:nvSpPr>
        <p:spPr>
          <a:xfrm>
            <a:off x="4553712" y="1600200"/>
            <a:ext cx="1792224" cy="2057400"/>
          </a:xfrm>
          <a:prstGeom prst="roundRect">
            <a:avLst>
              <a:gd name="adj" fmla="val 4082"/>
            </a:avLst>
          </a:prstGeom>
          <a:solidFill>
            <a:srgbClr val="FBF1E1"/>
          </a:solidFill>
          <a:ln w="12700">
            <a:solidFill>
              <a:srgbClr val="FBF1E1"/>
            </a:solidFill>
            <a:prstDash val="solid"/>
          </a:ln>
          <a:effectLst>
            <a:outerShdw sx="100000" sy="100000" kx="0" ky="0" algn="bl" rotWithShape="0" blurRad="101600" dist="25400" dir="5400000">
              <a:srgbClr val="AAB4BD">
                <a:alpha val="25000"/>
              </a:srgbClr>
            </a:outerShdw>
          </a:effectLst>
        </p:spPr>
      </p:sp>
      <p:sp>
        <p:nvSpPr>
          <p:cNvPr id="13" name="Text 11"/>
          <p:cNvSpPr/>
          <p:nvPr/>
        </p:nvSpPr>
        <p:spPr>
          <a:xfrm>
            <a:off x="4553712" y="1737360"/>
            <a:ext cx="1792224" cy="658368"/>
          </a:xfrm>
          <a:prstGeom prst="rect">
            <a:avLst/>
          </a:prstGeom>
          <a:noFill/>
          <a:ln/>
        </p:spPr>
        <p:txBody>
          <a:bodyPr wrap="square" lIns="0" tIns="0" rIns="0" bIns="0" rtlCol="0" anchor="ctr"/>
          <a:lstStyle/>
          <a:p>
            <a:pPr algn="ctr" indent="0" marL="0">
              <a:buNone/>
            </a:pPr>
            <a:r>
              <a:rPr lang="en-US" sz="3200" b="1" dirty="0">
                <a:solidFill>
                  <a:srgbClr val="D4881F"/>
                </a:solidFill>
                <a:latin typeface="Cambria" pitchFamily="34" charset="0"/>
                <a:ea typeface="Cambria" pitchFamily="34" charset="-122"/>
                <a:cs typeface="Cambria" pitchFamily="34" charset="-120"/>
              </a:rPr>
              <a:t>0.94</a:t>
            </a:r>
            <a:endParaRPr lang="en-US" sz="3200" dirty="0"/>
          </a:p>
        </p:txBody>
      </p:sp>
      <p:sp>
        <p:nvSpPr>
          <p:cNvPr id="14" name="Text 12"/>
          <p:cNvSpPr/>
          <p:nvPr/>
        </p:nvSpPr>
        <p:spPr>
          <a:xfrm>
            <a:off x="4553712" y="2377440"/>
            <a:ext cx="1792224" cy="292608"/>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F1-score</a:t>
            </a:r>
            <a:endParaRPr lang="en-US" sz="1300" dirty="0"/>
          </a:p>
        </p:txBody>
      </p:sp>
      <p:sp>
        <p:nvSpPr>
          <p:cNvPr id="15" name="Text 13"/>
          <p:cNvSpPr/>
          <p:nvPr/>
        </p:nvSpPr>
        <p:spPr>
          <a:xfrm>
            <a:off x="4626864" y="2697480"/>
            <a:ext cx="1645920" cy="822960"/>
          </a:xfrm>
          <a:prstGeom prst="rect">
            <a:avLst/>
          </a:prstGeom>
          <a:noFill/>
          <a:ln/>
        </p:spPr>
        <p:txBody>
          <a:bodyPr wrap="square" lIns="0" tIns="0" rIns="0" bIns="0" rtlCol="0" anchor="t"/>
          <a:lstStyle/>
          <a:p>
            <a:pPr algn="ctr" indent="0" marL="0">
              <a:buNone/>
            </a:pPr>
            <a:r>
              <a:rPr lang="en-US" sz="1050" dirty="0">
                <a:solidFill>
                  <a:srgbClr val="4A5866"/>
                </a:solidFill>
                <a:latin typeface="Calibri" pitchFamily="34" charset="0"/>
                <a:ea typeface="Calibri" pitchFamily="34" charset="-122"/>
                <a:cs typeface="Calibri" pitchFamily="34" charset="-120"/>
              </a:rPr>
              <a:t>balanced performance</a:t>
            </a:r>
            <a:endParaRPr lang="en-US" sz="1050" dirty="0"/>
          </a:p>
          <a:p>
            <a:pPr algn="ctr" indent="0" marL="0">
              <a:buNone/>
            </a:pPr>
            <a:r>
              <a:rPr lang="en-US" sz="1050" dirty="0">
                <a:solidFill>
                  <a:srgbClr val="4A5866"/>
                </a:solidFill>
                <a:latin typeface="Calibri" pitchFamily="34" charset="0"/>
                <a:ea typeface="Calibri" pitchFamily="34" charset="-122"/>
                <a:cs typeface="Calibri" pitchFamily="34" charset="-120"/>
              </a:rPr>
              <a:t>on the anomaly class</a:t>
            </a:r>
            <a:endParaRPr lang="en-US" sz="1050" dirty="0"/>
          </a:p>
        </p:txBody>
      </p:sp>
      <p:sp>
        <p:nvSpPr>
          <p:cNvPr id="16" name="Shape 14"/>
          <p:cNvSpPr/>
          <p:nvPr/>
        </p:nvSpPr>
        <p:spPr>
          <a:xfrm>
            <a:off x="640080" y="3840480"/>
            <a:ext cx="5705856" cy="1920240"/>
          </a:xfrm>
          <a:prstGeom prst="roundRect">
            <a:avLst>
              <a:gd name="adj" fmla="val 381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7" name="Text 15"/>
          <p:cNvSpPr/>
          <p:nvPr/>
        </p:nvSpPr>
        <p:spPr>
          <a:xfrm>
            <a:off x="914400" y="3950208"/>
            <a:ext cx="5120640" cy="274320"/>
          </a:xfrm>
          <a:prstGeom prst="rect">
            <a:avLst/>
          </a:prstGeom>
          <a:noFill/>
          <a:ln/>
        </p:spPr>
        <p:txBody>
          <a:bodyPr wrap="square" lIns="0" tIns="0" rIns="0" bIns="0" rtlCol="0" anchor="ctr"/>
          <a:lstStyle/>
          <a:p>
            <a:pPr indent="0" marL="0">
              <a:buNone/>
            </a:pPr>
            <a:r>
              <a:rPr lang="en-US" sz="1250" b="1" dirty="0">
                <a:solidFill>
                  <a:srgbClr val="36454F"/>
                </a:solidFill>
                <a:latin typeface="Calibri" pitchFamily="34" charset="0"/>
                <a:ea typeface="Calibri" pitchFamily="34" charset="-122"/>
                <a:cs typeface="Calibri" pitchFamily="34" charset="-120"/>
              </a:rPr>
              <a:t>Confusion matrix — 2,040 items</a:t>
            </a:r>
            <a:endParaRPr lang="en-US" sz="1250" dirty="0"/>
          </a:p>
        </p:txBody>
      </p:sp>
      <p:sp>
        <p:nvSpPr>
          <p:cNvPr id="18" name="Text 16"/>
          <p:cNvSpPr/>
          <p:nvPr/>
        </p:nvSpPr>
        <p:spPr>
          <a:xfrm>
            <a:off x="914400" y="4297680"/>
            <a:ext cx="1691640" cy="365760"/>
          </a:xfrm>
          <a:prstGeom prst="rect">
            <a:avLst/>
          </a:prstGeom>
          <a:noFill/>
          <a:ln/>
        </p:spPr>
        <p:txBody>
          <a:bodyPr wrap="square" lIns="0" tIns="0" rIns="0" bIns="0" rtlCol="0" anchor="ctr"/>
          <a:lstStyle/>
          <a:p>
            <a:pPr algn="l" indent="0" marL="0">
              <a:buNone/>
            </a:pPr>
            <a:endParaRPr lang="en-US" sz="1050" dirty="0"/>
          </a:p>
        </p:txBody>
      </p:sp>
      <p:sp>
        <p:nvSpPr>
          <p:cNvPr id="19" name="Text 17"/>
          <p:cNvSpPr/>
          <p:nvPr/>
        </p:nvSpPr>
        <p:spPr>
          <a:xfrm>
            <a:off x="2651760" y="4297680"/>
            <a:ext cx="1691640" cy="365760"/>
          </a:xfrm>
          <a:prstGeom prst="rect">
            <a:avLst/>
          </a:prstGeom>
          <a:noFill/>
          <a:ln/>
        </p:spPr>
        <p:txBody>
          <a:bodyPr wrap="square" lIns="0" tIns="0" rIns="0" bIns="0" rtlCol="0" anchor="ctr"/>
          <a:lstStyle/>
          <a:p>
            <a:pPr algn="ctr" indent="0" marL="0">
              <a:buNone/>
            </a:pPr>
            <a:r>
              <a:rPr lang="en-US" sz="1050" b="1" dirty="0">
                <a:solidFill>
                  <a:srgbClr val="8A98A5"/>
                </a:solidFill>
                <a:latin typeface="Calibri" pitchFamily="34" charset="0"/>
                <a:ea typeface="Calibri" pitchFamily="34" charset="-122"/>
                <a:cs typeface="Calibri" pitchFamily="34" charset="-120"/>
              </a:rPr>
              <a:t>pred. normal</a:t>
            </a:r>
            <a:endParaRPr lang="en-US" sz="1050" dirty="0"/>
          </a:p>
        </p:txBody>
      </p:sp>
      <p:sp>
        <p:nvSpPr>
          <p:cNvPr id="20" name="Text 18"/>
          <p:cNvSpPr/>
          <p:nvPr/>
        </p:nvSpPr>
        <p:spPr>
          <a:xfrm>
            <a:off x="4389120" y="4297680"/>
            <a:ext cx="1691640" cy="365760"/>
          </a:xfrm>
          <a:prstGeom prst="rect">
            <a:avLst/>
          </a:prstGeom>
          <a:noFill/>
          <a:ln/>
        </p:spPr>
        <p:txBody>
          <a:bodyPr wrap="square" lIns="0" tIns="0" rIns="0" bIns="0" rtlCol="0" anchor="ctr"/>
          <a:lstStyle/>
          <a:p>
            <a:pPr algn="ctr" indent="0" marL="0">
              <a:buNone/>
            </a:pPr>
            <a:r>
              <a:rPr lang="en-US" sz="1050" b="1" dirty="0">
                <a:solidFill>
                  <a:srgbClr val="8A98A5"/>
                </a:solidFill>
                <a:latin typeface="Calibri" pitchFamily="34" charset="0"/>
                <a:ea typeface="Calibri" pitchFamily="34" charset="-122"/>
                <a:cs typeface="Calibri" pitchFamily="34" charset="-120"/>
              </a:rPr>
              <a:t>pred. anomaly</a:t>
            </a:r>
            <a:endParaRPr lang="en-US" sz="1050" dirty="0"/>
          </a:p>
        </p:txBody>
      </p:sp>
      <p:sp>
        <p:nvSpPr>
          <p:cNvPr id="21" name="Text 19"/>
          <p:cNvSpPr/>
          <p:nvPr/>
        </p:nvSpPr>
        <p:spPr>
          <a:xfrm>
            <a:off x="914400" y="4700016"/>
            <a:ext cx="1691640" cy="365760"/>
          </a:xfrm>
          <a:prstGeom prst="rect">
            <a:avLst/>
          </a:prstGeom>
          <a:noFill/>
          <a:ln/>
        </p:spPr>
        <p:txBody>
          <a:bodyPr wrap="square" lIns="0" tIns="0" rIns="0" bIns="0" rtlCol="0" anchor="ctr"/>
          <a:lstStyle/>
          <a:p>
            <a:pPr algn="l" indent="0" marL="0">
              <a:buNone/>
            </a:pPr>
            <a:r>
              <a:rPr lang="en-US" sz="1050" b="1" dirty="0">
                <a:solidFill>
                  <a:srgbClr val="8A98A5"/>
                </a:solidFill>
                <a:latin typeface="Calibri" pitchFamily="34" charset="0"/>
                <a:ea typeface="Calibri" pitchFamily="34" charset="-122"/>
                <a:cs typeface="Calibri" pitchFamily="34" charset="-120"/>
              </a:rPr>
              <a:t>actual normal</a:t>
            </a:r>
            <a:endParaRPr lang="en-US" sz="1050" dirty="0"/>
          </a:p>
        </p:txBody>
      </p:sp>
      <p:sp>
        <p:nvSpPr>
          <p:cNvPr id="22" name="Shape 20"/>
          <p:cNvSpPr/>
          <p:nvPr/>
        </p:nvSpPr>
        <p:spPr>
          <a:xfrm>
            <a:off x="2651760" y="4700016"/>
            <a:ext cx="1691640" cy="365760"/>
          </a:xfrm>
          <a:prstGeom prst="roundRect">
            <a:avLst>
              <a:gd name="adj" fmla="val 10000"/>
            </a:avLst>
          </a:prstGeom>
          <a:solidFill>
            <a:srgbClr val="DCE8E0"/>
          </a:solidFill>
          <a:ln w="12700">
            <a:solidFill>
              <a:srgbClr val="333333"/>
            </a:solidFill>
            <a:prstDash val="solid"/>
          </a:ln>
        </p:spPr>
      </p:sp>
      <p:sp>
        <p:nvSpPr>
          <p:cNvPr id="23" name="Text 21"/>
          <p:cNvSpPr/>
          <p:nvPr/>
        </p:nvSpPr>
        <p:spPr>
          <a:xfrm>
            <a:off x="2651760" y="4700016"/>
            <a:ext cx="1691640" cy="365760"/>
          </a:xfrm>
          <a:prstGeom prst="rect">
            <a:avLst/>
          </a:prstGeom>
          <a:noFill/>
          <a:ln/>
        </p:spPr>
        <p:txBody>
          <a:bodyPr wrap="square" lIns="0" tIns="0" rIns="0" bIns="0" rtlCol="0" anchor="ctr"/>
          <a:lstStyle/>
          <a:p>
            <a:pPr algn="ctr" indent="0" marL="0">
              <a:buNone/>
            </a:pPr>
            <a:r>
              <a:rPr lang="en-US" sz="1400" b="1" dirty="0">
                <a:solidFill>
                  <a:srgbClr val="3E7C59"/>
                </a:solidFill>
                <a:latin typeface="Courier New" pitchFamily="34" charset="0"/>
                <a:ea typeface="Courier New" pitchFamily="34" charset="-122"/>
                <a:cs typeface="Courier New" pitchFamily="34" charset="-120"/>
              </a:rPr>
              <a:t>1,997</a:t>
            </a:r>
            <a:endParaRPr lang="en-US" sz="1400" dirty="0"/>
          </a:p>
        </p:txBody>
      </p:sp>
      <p:sp>
        <p:nvSpPr>
          <p:cNvPr id="24" name="Shape 22"/>
          <p:cNvSpPr/>
          <p:nvPr/>
        </p:nvSpPr>
        <p:spPr>
          <a:xfrm>
            <a:off x="4389120" y="4700016"/>
            <a:ext cx="1691640" cy="365760"/>
          </a:xfrm>
          <a:prstGeom prst="roundRect">
            <a:avLst>
              <a:gd name="adj" fmla="val 10000"/>
            </a:avLst>
          </a:prstGeom>
          <a:solidFill>
            <a:srgbClr val="FBF1E1"/>
          </a:solidFill>
          <a:ln w="12700">
            <a:solidFill>
              <a:srgbClr val="333333"/>
            </a:solidFill>
            <a:prstDash val="solid"/>
          </a:ln>
        </p:spPr>
      </p:sp>
      <p:sp>
        <p:nvSpPr>
          <p:cNvPr id="25" name="Text 23"/>
          <p:cNvSpPr/>
          <p:nvPr/>
        </p:nvSpPr>
        <p:spPr>
          <a:xfrm>
            <a:off x="4389120" y="4700016"/>
            <a:ext cx="1691640" cy="365760"/>
          </a:xfrm>
          <a:prstGeom prst="rect">
            <a:avLst/>
          </a:prstGeom>
          <a:noFill/>
          <a:ln/>
        </p:spPr>
        <p:txBody>
          <a:bodyPr wrap="square" lIns="0" tIns="0" rIns="0" bIns="0" rtlCol="0" anchor="ctr"/>
          <a:lstStyle/>
          <a:p>
            <a:pPr algn="ctr" indent="0" marL="0">
              <a:buNone/>
            </a:pPr>
            <a:r>
              <a:rPr lang="en-US" sz="1400" dirty="0">
                <a:solidFill>
                  <a:srgbClr val="D4881F"/>
                </a:solidFill>
                <a:latin typeface="Courier New" pitchFamily="34" charset="0"/>
                <a:ea typeface="Courier New" pitchFamily="34" charset="-122"/>
                <a:cs typeface="Courier New" pitchFamily="34" charset="-120"/>
              </a:rPr>
              <a:t>3</a:t>
            </a:r>
            <a:endParaRPr lang="en-US" sz="1400" dirty="0"/>
          </a:p>
        </p:txBody>
      </p:sp>
      <p:sp>
        <p:nvSpPr>
          <p:cNvPr id="26" name="Text 24"/>
          <p:cNvSpPr/>
          <p:nvPr/>
        </p:nvSpPr>
        <p:spPr>
          <a:xfrm>
            <a:off x="914400" y="5102352"/>
            <a:ext cx="1691640" cy="365760"/>
          </a:xfrm>
          <a:prstGeom prst="rect">
            <a:avLst/>
          </a:prstGeom>
          <a:noFill/>
          <a:ln/>
        </p:spPr>
        <p:txBody>
          <a:bodyPr wrap="square" lIns="0" tIns="0" rIns="0" bIns="0" rtlCol="0" anchor="ctr"/>
          <a:lstStyle/>
          <a:p>
            <a:pPr algn="l" indent="0" marL="0">
              <a:buNone/>
            </a:pPr>
            <a:r>
              <a:rPr lang="en-US" sz="1050" b="1" dirty="0">
                <a:solidFill>
                  <a:srgbClr val="8A98A5"/>
                </a:solidFill>
                <a:latin typeface="Calibri" pitchFamily="34" charset="0"/>
                <a:ea typeface="Calibri" pitchFamily="34" charset="-122"/>
                <a:cs typeface="Calibri" pitchFamily="34" charset="-120"/>
              </a:rPr>
              <a:t>actual anomaly</a:t>
            </a:r>
            <a:endParaRPr lang="en-US" sz="1050" dirty="0"/>
          </a:p>
        </p:txBody>
      </p:sp>
      <p:sp>
        <p:nvSpPr>
          <p:cNvPr id="27" name="Shape 25"/>
          <p:cNvSpPr/>
          <p:nvPr/>
        </p:nvSpPr>
        <p:spPr>
          <a:xfrm>
            <a:off x="2651760" y="5102352"/>
            <a:ext cx="1691640" cy="365760"/>
          </a:xfrm>
          <a:prstGeom prst="roundRect">
            <a:avLst>
              <a:gd name="adj" fmla="val 10000"/>
            </a:avLst>
          </a:prstGeom>
          <a:solidFill>
            <a:srgbClr val="FBF1E1"/>
          </a:solidFill>
          <a:ln w="12700">
            <a:solidFill>
              <a:srgbClr val="333333"/>
            </a:solidFill>
            <a:prstDash val="solid"/>
          </a:ln>
        </p:spPr>
      </p:sp>
      <p:sp>
        <p:nvSpPr>
          <p:cNvPr id="28" name="Text 26"/>
          <p:cNvSpPr/>
          <p:nvPr/>
        </p:nvSpPr>
        <p:spPr>
          <a:xfrm>
            <a:off x="2651760" y="5102352"/>
            <a:ext cx="1691640" cy="365760"/>
          </a:xfrm>
          <a:prstGeom prst="rect">
            <a:avLst/>
          </a:prstGeom>
          <a:noFill/>
          <a:ln/>
        </p:spPr>
        <p:txBody>
          <a:bodyPr wrap="square" lIns="0" tIns="0" rIns="0" bIns="0" rtlCol="0" anchor="ctr"/>
          <a:lstStyle/>
          <a:p>
            <a:pPr algn="ctr" indent="0" marL="0">
              <a:buNone/>
            </a:pPr>
            <a:r>
              <a:rPr lang="en-US" sz="1400" dirty="0">
                <a:solidFill>
                  <a:srgbClr val="D4881F"/>
                </a:solidFill>
                <a:latin typeface="Courier New" pitchFamily="34" charset="0"/>
                <a:ea typeface="Courier New" pitchFamily="34" charset="-122"/>
                <a:cs typeface="Courier New" pitchFamily="34" charset="-120"/>
              </a:rPr>
              <a:t>2</a:t>
            </a:r>
            <a:endParaRPr lang="en-US" sz="1400" dirty="0"/>
          </a:p>
        </p:txBody>
      </p:sp>
      <p:sp>
        <p:nvSpPr>
          <p:cNvPr id="29" name="Shape 27"/>
          <p:cNvSpPr/>
          <p:nvPr/>
        </p:nvSpPr>
        <p:spPr>
          <a:xfrm>
            <a:off x="4389120" y="5102352"/>
            <a:ext cx="1691640" cy="365760"/>
          </a:xfrm>
          <a:prstGeom prst="roundRect">
            <a:avLst>
              <a:gd name="adj" fmla="val 10000"/>
            </a:avLst>
          </a:prstGeom>
          <a:solidFill>
            <a:srgbClr val="DCE8E0"/>
          </a:solidFill>
          <a:ln w="12700">
            <a:solidFill>
              <a:srgbClr val="333333"/>
            </a:solidFill>
            <a:prstDash val="solid"/>
          </a:ln>
        </p:spPr>
      </p:sp>
      <p:sp>
        <p:nvSpPr>
          <p:cNvPr id="30" name="Text 28"/>
          <p:cNvSpPr/>
          <p:nvPr/>
        </p:nvSpPr>
        <p:spPr>
          <a:xfrm>
            <a:off x="4389120" y="5102352"/>
            <a:ext cx="1691640" cy="365760"/>
          </a:xfrm>
          <a:prstGeom prst="rect">
            <a:avLst/>
          </a:prstGeom>
          <a:noFill/>
          <a:ln/>
        </p:spPr>
        <p:txBody>
          <a:bodyPr wrap="square" lIns="0" tIns="0" rIns="0" bIns="0" rtlCol="0" anchor="ctr"/>
          <a:lstStyle/>
          <a:p>
            <a:pPr algn="ctr" indent="0" marL="0">
              <a:buNone/>
            </a:pPr>
            <a:r>
              <a:rPr lang="en-US" sz="1400" b="1" dirty="0">
                <a:solidFill>
                  <a:srgbClr val="3E7C59"/>
                </a:solidFill>
                <a:latin typeface="Courier New" pitchFamily="34" charset="0"/>
                <a:ea typeface="Courier New" pitchFamily="34" charset="-122"/>
                <a:cs typeface="Courier New" pitchFamily="34" charset="-120"/>
              </a:rPr>
              <a:t>38</a:t>
            </a:r>
            <a:endParaRPr lang="en-US" sz="1400" dirty="0"/>
          </a:p>
        </p:txBody>
      </p:sp>
      <p:sp>
        <p:nvSpPr>
          <p:cNvPr id="31" name="Shape 29"/>
          <p:cNvSpPr/>
          <p:nvPr/>
        </p:nvSpPr>
        <p:spPr>
          <a:xfrm>
            <a:off x="6675120" y="1600200"/>
            <a:ext cx="4846320" cy="3931920"/>
          </a:xfrm>
          <a:prstGeom prst="roundRect">
            <a:avLst>
              <a:gd name="adj" fmla="val 1395"/>
            </a:avLst>
          </a:prstGeom>
          <a:solidFill>
            <a:srgbClr val="FCFDFD"/>
          </a:solidFill>
          <a:ln w="22225">
            <a:solidFill>
              <a:srgbClr val="D4881F"/>
            </a:solidFill>
            <a:prstDash val="dash"/>
          </a:ln>
        </p:spPr>
      </p:sp>
      <p:sp>
        <p:nvSpPr>
          <p:cNvPr id="32" name="Text 30"/>
          <p:cNvSpPr/>
          <p:nvPr/>
        </p:nvSpPr>
        <p:spPr>
          <a:xfrm>
            <a:off x="6675120" y="3063240"/>
            <a:ext cx="4846320" cy="292608"/>
          </a:xfrm>
          <a:prstGeom prst="rect">
            <a:avLst/>
          </a:prstGeom>
          <a:noFill/>
          <a:ln/>
        </p:spPr>
        <p:txBody>
          <a:bodyPr wrap="square" lIns="0" tIns="0" rIns="0" bIns="0" rtlCol="0" anchor="ctr"/>
          <a:lstStyle/>
          <a:p>
            <a:pPr algn="ctr" indent="0" marL="0">
              <a:buNone/>
            </a:pPr>
            <a:r>
              <a:rPr lang="en-US" sz="1200" b="1" spc="200" kern="0" dirty="0">
                <a:solidFill>
                  <a:srgbClr val="D4881F"/>
                </a:solidFill>
                <a:latin typeface="Calibri" pitchFamily="34" charset="0"/>
                <a:ea typeface="Calibri" pitchFamily="34" charset="-122"/>
                <a:cs typeface="Calibri" pitchFamily="34" charset="-120"/>
              </a:rPr>
              <a:t>SCREENSHOT PLACEHOLDER</a:t>
            </a:r>
            <a:endParaRPr lang="en-US" sz="1200" dirty="0"/>
          </a:p>
        </p:txBody>
      </p:sp>
      <p:sp>
        <p:nvSpPr>
          <p:cNvPr id="33" name="Text 31"/>
          <p:cNvSpPr/>
          <p:nvPr/>
        </p:nvSpPr>
        <p:spPr>
          <a:xfrm>
            <a:off x="6949440" y="3401568"/>
            <a:ext cx="4297680" cy="36576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Console output of create_model.py</a:t>
            </a:r>
            <a:endParaRPr lang="en-US" sz="1500" dirty="0"/>
          </a:p>
        </p:txBody>
      </p:sp>
      <p:sp>
        <p:nvSpPr>
          <p:cNvPr id="34" name="Text 32"/>
          <p:cNvSpPr/>
          <p:nvPr/>
        </p:nvSpPr>
        <p:spPr>
          <a:xfrm>
            <a:off x="7040880" y="3803904"/>
            <a:ext cx="4114800" cy="548640"/>
          </a:xfrm>
          <a:prstGeom prst="rect">
            <a:avLst/>
          </a:prstGeom>
          <a:noFill/>
          <a:ln/>
        </p:spPr>
        <p:txBody>
          <a:bodyPr wrap="square" lIns="0" tIns="0" rIns="0" bIns="0" rtlCol="0" anchor="ctr"/>
          <a:lstStyle/>
          <a:p>
            <a:pPr algn="ctr" indent="0" marL="0">
              <a:buNone/>
            </a:pPr>
            <a:r>
              <a:rPr lang="en-US" sz="1150" dirty="0">
                <a:solidFill>
                  <a:srgbClr val="8A98A5"/>
                </a:solidFill>
                <a:latin typeface="Calibri" pitchFamily="34" charset="0"/>
                <a:ea typeface="Calibri" pitchFamily="34" charset="-122"/>
                <a:cs typeface="Calibri" pitchFamily="34" charset="-120"/>
              </a:rPr>
              <a:t>Capture the terminal showing the confusion matrix,</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the classification report and the anomaly score range</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(min 0.372 · max 0.766 · mean 0.439).</a:t>
            </a:r>
            <a:endParaRPr lang="en-US" sz="1150" dirty="0"/>
          </a:p>
        </p:txBody>
      </p:sp>
      <p:sp>
        <p:nvSpPr>
          <p:cNvPr id="35" name="Text 33"/>
          <p:cNvSpPr/>
          <p:nvPr/>
        </p:nvSpPr>
        <p:spPr>
          <a:xfrm>
            <a:off x="6675120" y="5596128"/>
            <a:ext cx="4846320" cy="256032"/>
          </a:xfrm>
          <a:prstGeom prst="rect">
            <a:avLst/>
          </a:prstGeom>
          <a:noFill/>
          <a:ln/>
        </p:spPr>
        <p:txBody>
          <a:bodyPr wrap="square" lIns="0" tIns="0" rIns="0" bIns="0" rtlCol="0" anchor="ctr"/>
          <a:lstStyle/>
          <a:p>
            <a:pPr indent="0" marL="0">
              <a:buNone/>
            </a:pPr>
            <a:r>
              <a:rPr lang="en-US" sz="1000" dirty="0">
                <a:solidFill>
                  <a:srgbClr val="8A98A5"/>
                </a:solidFill>
                <a:latin typeface="Calibri" pitchFamily="34" charset="0"/>
                <a:ea typeface="Calibri" pitchFamily="34" charset="-122"/>
                <a:cs typeface="Calibri" pitchFamily="34" charset="-120"/>
              </a:rPr>
              <a:t>Figure 3: Console output of create_model.py (own screenshot).</a:t>
            </a:r>
            <a:endParaRPr lang="en-US" sz="1000" dirty="0"/>
          </a:p>
        </p:txBody>
      </p:sp>
      <p:sp>
        <p:nvSpPr>
          <p:cNvPr id="36" name="Text 34"/>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37" name="Text 35"/>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05 · THE MODEL AS A SERVICE</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Packaging the model as a RESTful service</a:t>
            </a:r>
            <a:endParaRPr lang="en-US" sz="3200" dirty="0"/>
          </a:p>
        </p:txBody>
      </p:sp>
      <p:sp>
        <p:nvSpPr>
          <p:cNvPr id="4" name="Shape 2"/>
          <p:cNvSpPr/>
          <p:nvPr/>
        </p:nvSpPr>
        <p:spPr>
          <a:xfrm>
            <a:off x="640080" y="1572768"/>
            <a:ext cx="5029200" cy="4206240"/>
          </a:xfrm>
          <a:prstGeom prst="roundRect">
            <a:avLst>
              <a:gd name="adj" fmla="val 1739"/>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5" name="Text 3"/>
          <p:cNvSpPr/>
          <p:nvPr/>
        </p:nvSpPr>
        <p:spPr>
          <a:xfrm>
            <a:off x="932688" y="1755648"/>
            <a:ext cx="4480560" cy="320040"/>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Two endpoints, one contract</a:t>
            </a:r>
            <a:endParaRPr lang="en-US" sz="1600" dirty="0"/>
          </a:p>
        </p:txBody>
      </p:sp>
      <p:sp>
        <p:nvSpPr>
          <p:cNvPr id="6" name="Shape 4"/>
          <p:cNvSpPr/>
          <p:nvPr/>
        </p:nvSpPr>
        <p:spPr>
          <a:xfrm>
            <a:off x="932688" y="2194560"/>
            <a:ext cx="658368" cy="292608"/>
          </a:xfrm>
          <a:prstGeom prst="roundRect">
            <a:avLst>
              <a:gd name="adj" fmla="val 12500"/>
            </a:avLst>
          </a:prstGeom>
          <a:solidFill>
            <a:srgbClr val="D4881F"/>
          </a:solidFill>
          <a:ln w="12700">
            <a:solidFill>
              <a:srgbClr val="333333"/>
            </a:solidFill>
            <a:prstDash val="solid"/>
          </a:ln>
        </p:spPr>
      </p:sp>
      <p:sp>
        <p:nvSpPr>
          <p:cNvPr id="7" name="Text 5"/>
          <p:cNvSpPr/>
          <p:nvPr/>
        </p:nvSpPr>
        <p:spPr>
          <a:xfrm>
            <a:off x="932688" y="2194560"/>
            <a:ext cx="65836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POST</a:t>
            </a:r>
            <a:endParaRPr lang="en-US" sz="950" dirty="0"/>
          </a:p>
        </p:txBody>
      </p:sp>
      <p:sp>
        <p:nvSpPr>
          <p:cNvPr id="8" name="Text 6"/>
          <p:cNvSpPr/>
          <p:nvPr/>
        </p:nvSpPr>
        <p:spPr>
          <a:xfrm>
            <a:off x="1682496" y="2194560"/>
            <a:ext cx="2743200" cy="292608"/>
          </a:xfrm>
          <a:prstGeom prst="rect">
            <a:avLst/>
          </a:prstGeom>
          <a:noFill/>
          <a:ln/>
        </p:spPr>
        <p:txBody>
          <a:bodyPr wrap="square" lIns="0" tIns="0" rIns="0" bIns="0" rtlCol="0" anchor="ctr"/>
          <a:lstStyle/>
          <a:p>
            <a:pPr indent="0" marL="0">
              <a:buNone/>
            </a:pPr>
            <a:r>
              <a:rPr lang="en-US" sz="1400" b="1" dirty="0">
                <a:solidFill>
                  <a:srgbClr val="36454F"/>
                </a:solidFill>
                <a:latin typeface="Courier New" pitchFamily="34" charset="0"/>
                <a:ea typeface="Courier New" pitchFamily="34" charset="-122"/>
                <a:cs typeface="Courier New" pitchFamily="34" charset="-120"/>
              </a:rPr>
              <a:t>/predict</a:t>
            </a:r>
            <a:endParaRPr lang="en-US" sz="1400" dirty="0"/>
          </a:p>
        </p:txBody>
      </p:sp>
      <p:sp>
        <p:nvSpPr>
          <p:cNvPr id="9" name="Text 7"/>
          <p:cNvSpPr/>
          <p:nvPr/>
        </p:nvSpPr>
        <p:spPr>
          <a:xfrm>
            <a:off x="932688" y="2560320"/>
            <a:ext cx="4434840" cy="59436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Accepts a single reading or a batch (a JSON list) and returns an anomaly score plus a boolean flag.</a:t>
            </a:r>
            <a:endParaRPr lang="en-US" sz="1200" dirty="0"/>
          </a:p>
        </p:txBody>
      </p:sp>
      <p:sp>
        <p:nvSpPr>
          <p:cNvPr id="10" name="Shape 8"/>
          <p:cNvSpPr/>
          <p:nvPr/>
        </p:nvSpPr>
        <p:spPr>
          <a:xfrm>
            <a:off x="932688" y="3246120"/>
            <a:ext cx="658368" cy="292608"/>
          </a:xfrm>
          <a:prstGeom prst="roundRect">
            <a:avLst>
              <a:gd name="adj" fmla="val 12500"/>
            </a:avLst>
          </a:prstGeom>
          <a:solidFill>
            <a:srgbClr val="44708C"/>
          </a:solidFill>
          <a:ln w="12700">
            <a:solidFill>
              <a:srgbClr val="333333"/>
            </a:solidFill>
            <a:prstDash val="solid"/>
          </a:ln>
        </p:spPr>
      </p:sp>
      <p:sp>
        <p:nvSpPr>
          <p:cNvPr id="11" name="Text 9"/>
          <p:cNvSpPr/>
          <p:nvPr/>
        </p:nvSpPr>
        <p:spPr>
          <a:xfrm>
            <a:off x="932688" y="3246120"/>
            <a:ext cx="658368"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12" name="Text 10"/>
          <p:cNvSpPr/>
          <p:nvPr/>
        </p:nvSpPr>
        <p:spPr>
          <a:xfrm>
            <a:off x="1682496" y="3246120"/>
            <a:ext cx="2743200" cy="292608"/>
          </a:xfrm>
          <a:prstGeom prst="rect">
            <a:avLst/>
          </a:prstGeom>
          <a:noFill/>
          <a:ln/>
        </p:spPr>
        <p:txBody>
          <a:bodyPr wrap="square" lIns="0" tIns="0" rIns="0" bIns="0" rtlCol="0" anchor="ctr"/>
          <a:lstStyle/>
          <a:p>
            <a:pPr indent="0" marL="0">
              <a:buNone/>
            </a:pPr>
            <a:r>
              <a:rPr lang="en-US" sz="1400" b="1" dirty="0">
                <a:solidFill>
                  <a:srgbClr val="36454F"/>
                </a:solidFill>
                <a:latin typeface="Courier New" pitchFamily="34" charset="0"/>
                <a:ea typeface="Courier New" pitchFamily="34" charset="-122"/>
                <a:cs typeface="Courier New" pitchFamily="34" charset="-120"/>
              </a:rPr>
              <a:t>/health</a:t>
            </a:r>
            <a:endParaRPr lang="en-US" sz="1400" dirty="0"/>
          </a:p>
        </p:txBody>
      </p:sp>
      <p:sp>
        <p:nvSpPr>
          <p:cNvPr id="13" name="Text 11"/>
          <p:cNvSpPr/>
          <p:nvPr/>
        </p:nvSpPr>
        <p:spPr>
          <a:xfrm>
            <a:off x="932688" y="3611880"/>
            <a:ext cx="4434840" cy="59436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Returns status and a timestamp — what an uptime monitor or a load balancer polls.</a:t>
            </a:r>
            <a:endParaRPr lang="en-US" sz="1200" dirty="0"/>
          </a:p>
        </p:txBody>
      </p:sp>
      <p:sp>
        <p:nvSpPr>
          <p:cNvPr id="14" name="Shape 12"/>
          <p:cNvSpPr/>
          <p:nvPr/>
        </p:nvSpPr>
        <p:spPr>
          <a:xfrm>
            <a:off x="932688" y="4370832"/>
            <a:ext cx="4443984" cy="1207008"/>
          </a:xfrm>
          <a:prstGeom prst="roundRect">
            <a:avLst>
              <a:gd name="adj" fmla="val 3788"/>
            </a:avLst>
          </a:prstGeom>
          <a:solidFill>
            <a:srgbClr val="2C3743"/>
          </a:solidFill>
          <a:ln w="12700">
            <a:solidFill>
              <a:srgbClr val="333333"/>
            </a:solidFill>
            <a:prstDash val="solid"/>
          </a:ln>
        </p:spPr>
      </p:sp>
      <p:sp>
        <p:nvSpPr>
          <p:cNvPr id="15" name="Text 13"/>
          <p:cNvSpPr/>
          <p:nvPr/>
        </p:nvSpPr>
        <p:spPr>
          <a:xfrm>
            <a:off x="1115568" y="4443984"/>
            <a:ext cx="4114800" cy="1078992"/>
          </a:xfrm>
          <a:prstGeom prst="rect">
            <a:avLst/>
          </a:prstGeom>
          <a:noFill/>
          <a:ln/>
        </p:spPr>
        <p:txBody>
          <a:bodyPr wrap="square" lIns="0" tIns="0" rIns="0" bIns="0" rtlCol="0" anchor="ctr"/>
          <a:lstStyle/>
          <a:p>
            <a:pPr indent="0" marL="0">
              <a:lnSpc>
                <a:spcPct val="115000"/>
              </a:lnSpc>
              <a:buNone/>
            </a:pPr>
            <a:r>
              <a:rPr lang="en-US" sz="1050" dirty="0">
                <a:solidFill>
                  <a:srgbClr val="C9D6E0"/>
                </a:solidFill>
                <a:latin typeface="Courier New" pitchFamily="34" charset="0"/>
                <a:ea typeface="Courier New" pitchFamily="34" charset="-122"/>
                <a:cs typeface="Courier New" pitchFamily="34" charset="-120"/>
              </a:rPr>
              <a:t>POST /predict</a:t>
            </a:r>
            <a:endParaRPr lang="en-US" sz="1050" dirty="0"/>
          </a:p>
          <a:p>
            <a:pPr indent="0" marL="0">
              <a:lnSpc>
                <a:spcPct val="115000"/>
              </a:lnSpc>
              <a:buNone/>
            </a:pPr>
            <a:r>
              <a:rPr lang="en-US" sz="1050" dirty="0">
                <a:solidFill>
                  <a:srgbClr val="C9D6E0"/>
                </a:solidFill>
                <a:latin typeface="Courier New" pitchFamily="34" charset="0"/>
                <a:ea typeface="Courier New" pitchFamily="34" charset="-122"/>
                <a:cs typeface="Courier New" pitchFamily="34" charset="-120"/>
              </a:rPr>
              <a:t>{"temperature": 88, "humidity": 73, "sound": 95}</a:t>
            </a:r>
            <a:endParaRPr lang="en-US" sz="1050" dirty="0"/>
          </a:p>
          <a:p>
            <a:pPr indent="0" marL="0">
              <a:lnSpc>
                <a:spcPct val="115000"/>
              </a:lnSpc>
              <a:buNone/>
            </a:pPr>
            <a:r>
              <a:rPr lang="en-US" sz="1050" dirty="0">
                <a:solidFill>
                  <a:srgbClr val="C9D6E0"/>
                </a:solidFill>
                <a:latin typeface="Courier New" pitchFamily="34" charset="0"/>
                <a:ea typeface="Courier New" pitchFamily="34" charset="-122"/>
                <a:cs typeface="Courier New" pitchFamily="34" charset="-120"/>
              </a:rPr>
              <a:t>→ {"input": {...}, "anomaly_score": 0.7445,</a:t>
            </a:r>
            <a:endParaRPr lang="en-US" sz="1050" dirty="0"/>
          </a:p>
          <a:p>
            <a:pPr indent="0" marL="0">
              <a:lnSpc>
                <a:spcPct val="115000"/>
              </a:lnSpc>
              <a:buNone/>
            </a:pPr>
            <a:r>
              <a:rPr lang="en-US" sz="1050" dirty="0">
                <a:solidFill>
                  <a:srgbClr val="C9D6E0"/>
                </a:solidFill>
                <a:latin typeface="Courier New" pitchFamily="34" charset="0"/>
                <a:ea typeface="Courier New" pitchFamily="34" charset="-122"/>
                <a:cs typeface="Courier New" pitchFamily="34" charset="-120"/>
              </a:rPr>
              <a:t>   "is_anomaly": true}</a:t>
            </a:r>
            <a:endParaRPr lang="en-US" sz="1050" dirty="0"/>
          </a:p>
        </p:txBody>
      </p:sp>
      <p:sp>
        <p:nvSpPr>
          <p:cNvPr id="16" name="Shape 14"/>
          <p:cNvSpPr/>
          <p:nvPr/>
        </p:nvSpPr>
        <p:spPr>
          <a:xfrm>
            <a:off x="5989320" y="1572768"/>
            <a:ext cx="5532120" cy="3977640"/>
          </a:xfrm>
          <a:prstGeom prst="roundRect">
            <a:avLst>
              <a:gd name="adj" fmla="val 1379"/>
            </a:avLst>
          </a:prstGeom>
          <a:solidFill>
            <a:srgbClr val="FCFDFD"/>
          </a:solidFill>
          <a:ln w="22225">
            <a:solidFill>
              <a:srgbClr val="D4881F"/>
            </a:solidFill>
            <a:prstDash val="dash"/>
          </a:ln>
        </p:spPr>
      </p:sp>
      <p:sp>
        <p:nvSpPr>
          <p:cNvPr id="17" name="Text 15"/>
          <p:cNvSpPr/>
          <p:nvPr/>
        </p:nvSpPr>
        <p:spPr>
          <a:xfrm>
            <a:off x="5989320" y="3058668"/>
            <a:ext cx="5532120" cy="292608"/>
          </a:xfrm>
          <a:prstGeom prst="rect">
            <a:avLst/>
          </a:prstGeom>
          <a:noFill/>
          <a:ln/>
        </p:spPr>
        <p:txBody>
          <a:bodyPr wrap="square" lIns="0" tIns="0" rIns="0" bIns="0" rtlCol="0" anchor="ctr"/>
          <a:lstStyle/>
          <a:p>
            <a:pPr algn="ctr" indent="0" marL="0">
              <a:buNone/>
            </a:pPr>
            <a:r>
              <a:rPr lang="en-US" sz="1200" b="1" spc="200" kern="0" dirty="0">
                <a:solidFill>
                  <a:srgbClr val="D4881F"/>
                </a:solidFill>
                <a:latin typeface="Calibri" pitchFamily="34" charset="0"/>
                <a:ea typeface="Calibri" pitchFamily="34" charset="-122"/>
                <a:cs typeface="Calibri" pitchFamily="34" charset="-120"/>
              </a:rPr>
              <a:t>SCREENSHOT PLACEHOLDER</a:t>
            </a:r>
            <a:endParaRPr lang="en-US" sz="1200" dirty="0"/>
          </a:p>
        </p:txBody>
      </p:sp>
      <p:sp>
        <p:nvSpPr>
          <p:cNvPr id="18" name="Text 16"/>
          <p:cNvSpPr/>
          <p:nvPr/>
        </p:nvSpPr>
        <p:spPr>
          <a:xfrm>
            <a:off x="6263640" y="3396996"/>
            <a:ext cx="4983480" cy="36576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The API answering a request</a:t>
            </a:r>
            <a:endParaRPr lang="en-US" sz="1500" dirty="0"/>
          </a:p>
        </p:txBody>
      </p:sp>
      <p:sp>
        <p:nvSpPr>
          <p:cNvPr id="19" name="Text 17"/>
          <p:cNvSpPr/>
          <p:nvPr/>
        </p:nvSpPr>
        <p:spPr>
          <a:xfrm>
            <a:off x="6355080" y="3799332"/>
            <a:ext cx="4800600" cy="548640"/>
          </a:xfrm>
          <a:prstGeom prst="rect">
            <a:avLst/>
          </a:prstGeom>
          <a:noFill/>
          <a:ln/>
        </p:spPr>
        <p:txBody>
          <a:bodyPr wrap="square" lIns="0" tIns="0" rIns="0" bIns="0" rtlCol="0" anchor="ctr"/>
          <a:lstStyle/>
          <a:p>
            <a:pPr algn="ctr" indent="0" marL="0">
              <a:buNone/>
            </a:pPr>
            <a:r>
              <a:rPr lang="en-US" sz="1150" dirty="0">
                <a:solidFill>
                  <a:srgbClr val="8A98A5"/>
                </a:solidFill>
                <a:latin typeface="Calibri" pitchFamily="34" charset="0"/>
                <a:ea typeface="Calibri" pitchFamily="34" charset="-122"/>
                <a:cs typeface="Calibri" pitchFamily="34" charset="-120"/>
              </a:rPr>
              <a:t>Capture app.py running in one terminal, plus a</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curl or Postman call to /predict showing the JSON</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response — and a /health check alongside it.</a:t>
            </a:r>
            <a:endParaRPr lang="en-US" sz="1150" dirty="0"/>
          </a:p>
        </p:txBody>
      </p:sp>
      <p:sp>
        <p:nvSpPr>
          <p:cNvPr id="20" name="Text 18"/>
          <p:cNvSpPr/>
          <p:nvPr/>
        </p:nvSpPr>
        <p:spPr>
          <a:xfrm>
            <a:off x="5989320" y="5614416"/>
            <a:ext cx="5532120" cy="256032"/>
          </a:xfrm>
          <a:prstGeom prst="rect">
            <a:avLst/>
          </a:prstGeom>
          <a:noFill/>
          <a:ln/>
        </p:spPr>
        <p:txBody>
          <a:bodyPr wrap="square" lIns="0" tIns="0" rIns="0" bIns="0" rtlCol="0" anchor="ctr"/>
          <a:lstStyle/>
          <a:p>
            <a:pPr indent="0" marL="0">
              <a:buNone/>
            </a:pPr>
            <a:r>
              <a:rPr lang="en-US" sz="1000" dirty="0">
                <a:solidFill>
                  <a:srgbClr val="8A98A5"/>
                </a:solidFill>
                <a:latin typeface="Calibri" pitchFamily="34" charset="0"/>
                <a:ea typeface="Calibri" pitchFamily="34" charset="-122"/>
                <a:cs typeface="Calibri" pitchFamily="34" charset="-120"/>
              </a:rPr>
              <a:t>Figure 4: Flask REST API responding to a /predict request (own screenshot).</a:t>
            </a:r>
            <a:endParaRPr lang="en-US" sz="1000" dirty="0"/>
          </a:p>
        </p:txBody>
      </p:sp>
      <p:sp>
        <p:nvSpPr>
          <p:cNvPr id="21" name="Text 19"/>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2" name="Text 20"/>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05 · THE MODEL AS A SERVICE</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Stream processing in action</a:t>
            </a:r>
            <a:endParaRPr lang="en-US" sz="3200" dirty="0"/>
          </a:p>
        </p:txBody>
      </p:sp>
      <p:sp>
        <p:nvSpPr>
          <p:cNvPr id="4" name="Text 2"/>
          <p:cNvSpPr/>
          <p:nvPr/>
        </p:nvSpPr>
        <p:spPr>
          <a:xfrm>
            <a:off x="640080" y="1481328"/>
            <a:ext cx="10881360" cy="411480"/>
          </a:xfrm>
          <a:prstGeom prst="rect">
            <a:avLst/>
          </a:prstGeom>
          <a:noFill/>
          <a:ln/>
        </p:spPr>
        <p:txBody>
          <a:bodyPr wrap="square" lIns="0" tIns="0" rIns="0" bIns="0" rtlCol="0" anchor="ctr"/>
          <a:lstStyle/>
          <a:p>
            <a:pPr indent="0" marL="0">
              <a:buNone/>
            </a:pPr>
            <a:r>
              <a:rPr lang="en-US" sz="1400" dirty="0">
                <a:solidFill>
                  <a:srgbClr val="4A5866"/>
                </a:solidFill>
                <a:latin typeface="Calibri" pitchFamily="34" charset="0"/>
                <a:ea typeface="Calibri" pitchFamily="34" charset="-122"/>
                <a:cs typeface="Calibri" pitchFamily="34" charset="-120"/>
              </a:rPr>
              <a:t>One reading per second is POSTed to the API; the response is scored against the alert threshold and a flagged item immediately raises an ALERT on the shop floor.</a:t>
            </a:r>
            <a:endParaRPr lang="en-US" sz="1400" dirty="0"/>
          </a:p>
        </p:txBody>
      </p:sp>
      <p:sp>
        <p:nvSpPr>
          <p:cNvPr id="5" name="Shape 3"/>
          <p:cNvSpPr/>
          <p:nvPr/>
        </p:nvSpPr>
        <p:spPr>
          <a:xfrm>
            <a:off x="640080" y="2011680"/>
            <a:ext cx="5349240" cy="3520440"/>
          </a:xfrm>
          <a:prstGeom prst="roundRect">
            <a:avLst>
              <a:gd name="adj" fmla="val 1558"/>
            </a:avLst>
          </a:prstGeom>
          <a:solidFill>
            <a:srgbClr val="FCFDFD"/>
          </a:solidFill>
          <a:ln w="22225">
            <a:solidFill>
              <a:srgbClr val="D4881F"/>
            </a:solidFill>
            <a:prstDash val="dash"/>
          </a:ln>
        </p:spPr>
      </p:sp>
      <p:sp>
        <p:nvSpPr>
          <p:cNvPr id="6" name="Text 4"/>
          <p:cNvSpPr/>
          <p:nvPr/>
        </p:nvSpPr>
        <p:spPr>
          <a:xfrm>
            <a:off x="640080" y="3268980"/>
            <a:ext cx="5349240" cy="292608"/>
          </a:xfrm>
          <a:prstGeom prst="rect">
            <a:avLst/>
          </a:prstGeom>
          <a:noFill/>
          <a:ln/>
        </p:spPr>
        <p:txBody>
          <a:bodyPr wrap="square" lIns="0" tIns="0" rIns="0" bIns="0" rtlCol="0" anchor="ctr"/>
          <a:lstStyle/>
          <a:p>
            <a:pPr algn="ctr" indent="0" marL="0">
              <a:buNone/>
            </a:pPr>
            <a:r>
              <a:rPr lang="en-US" sz="1200" b="1" spc="200" kern="0" dirty="0">
                <a:solidFill>
                  <a:srgbClr val="D4881F"/>
                </a:solidFill>
                <a:latin typeface="Calibri" pitchFamily="34" charset="0"/>
                <a:ea typeface="Calibri" pitchFamily="34" charset="-122"/>
                <a:cs typeface="Calibri" pitchFamily="34" charset="-120"/>
              </a:rPr>
              <a:t>SCREENSHOT PLACEHOLDER</a:t>
            </a:r>
            <a:endParaRPr lang="en-US" sz="1200" dirty="0"/>
          </a:p>
        </p:txBody>
      </p:sp>
      <p:sp>
        <p:nvSpPr>
          <p:cNvPr id="7" name="Text 5"/>
          <p:cNvSpPr/>
          <p:nvPr/>
        </p:nvSpPr>
        <p:spPr>
          <a:xfrm>
            <a:off x="914400" y="3607308"/>
            <a:ext cx="4800600" cy="36576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Live output of stream_simulator.py</a:t>
            </a:r>
            <a:endParaRPr lang="en-US" sz="1500" dirty="0"/>
          </a:p>
        </p:txBody>
      </p:sp>
      <p:sp>
        <p:nvSpPr>
          <p:cNvPr id="8" name="Text 6"/>
          <p:cNvSpPr/>
          <p:nvPr/>
        </p:nvSpPr>
        <p:spPr>
          <a:xfrm>
            <a:off x="1005840" y="4009644"/>
            <a:ext cx="4617720" cy="548640"/>
          </a:xfrm>
          <a:prstGeom prst="rect">
            <a:avLst/>
          </a:prstGeom>
          <a:noFill/>
          <a:ln/>
        </p:spPr>
        <p:txBody>
          <a:bodyPr wrap="square" lIns="0" tIns="0" rIns="0" bIns="0" rtlCol="0" anchor="ctr"/>
          <a:lstStyle/>
          <a:p>
            <a:pPr algn="ctr" indent="0" marL="0">
              <a:buNone/>
            </a:pPr>
            <a:r>
              <a:rPr lang="en-US" sz="1150" dirty="0">
                <a:solidFill>
                  <a:srgbClr val="8A98A5"/>
                </a:solidFill>
                <a:latin typeface="Calibri" pitchFamily="34" charset="0"/>
                <a:ea typeface="Calibri" pitchFamily="34" charset="-122"/>
                <a:cs typeface="Calibri" pitchFamily="34" charset="-120"/>
              </a:rPr>
              <a:t>Capture the scrolling stream: normal readings</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with low scores and at least two flagged lines</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showing “← ALERT: anomaly detected!”</a:t>
            </a:r>
            <a:endParaRPr lang="en-US" sz="1150" dirty="0"/>
          </a:p>
        </p:txBody>
      </p:sp>
      <p:sp>
        <p:nvSpPr>
          <p:cNvPr id="9" name="Text 7"/>
          <p:cNvSpPr/>
          <p:nvPr/>
        </p:nvSpPr>
        <p:spPr>
          <a:xfrm>
            <a:off x="640080" y="5596128"/>
            <a:ext cx="5349240" cy="256032"/>
          </a:xfrm>
          <a:prstGeom prst="rect">
            <a:avLst/>
          </a:prstGeom>
          <a:noFill/>
          <a:ln/>
        </p:spPr>
        <p:txBody>
          <a:bodyPr wrap="square" lIns="0" tIns="0" rIns="0" bIns="0" rtlCol="0" anchor="ctr"/>
          <a:lstStyle/>
          <a:p>
            <a:pPr indent="0" marL="0">
              <a:buNone/>
            </a:pPr>
            <a:r>
              <a:rPr lang="en-US" sz="1000" dirty="0">
                <a:solidFill>
                  <a:srgbClr val="8A98A5"/>
                </a:solidFill>
                <a:latin typeface="Calibri" pitchFamily="34" charset="0"/>
                <a:ea typeface="Calibri" pitchFamily="34" charset="-122"/>
                <a:cs typeface="Calibri" pitchFamily="34" charset="-120"/>
              </a:rPr>
              <a:t>Figure 5: Live output of stream_simulator.py with alerts (own screenshot).</a:t>
            </a:r>
            <a:endParaRPr lang="en-US" sz="1000" dirty="0"/>
          </a:p>
        </p:txBody>
      </p:sp>
      <p:pic>
        <p:nvPicPr>
          <p:cNvPr id="10" name="Image 0" descr="/sessions/nifty-busy-babbage/mnt/outputs/chart_stream.png">    </p:cNvPr>
          <p:cNvPicPr>
            <a:picLocks noChangeAspect="1"/>
          </p:cNvPicPr>
          <p:nvPr/>
        </p:nvPicPr>
        <p:blipFill>
          <a:blip r:embed="rId1"/>
          <a:stretch>
            <a:fillRect/>
          </a:stretch>
        </p:blipFill>
        <p:spPr>
          <a:xfrm>
            <a:off x="6172200" y="2011680"/>
            <a:ext cx="5349240" cy="2724912"/>
          </a:xfrm>
          <a:prstGeom prst="rect">
            <a:avLst/>
          </a:prstGeom>
        </p:spPr>
      </p:pic>
      <p:sp>
        <p:nvSpPr>
          <p:cNvPr id="11" name="Text 8"/>
          <p:cNvSpPr/>
          <p:nvPr/>
        </p:nvSpPr>
        <p:spPr>
          <a:xfrm>
            <a:off x="6172200" y="4754880"/>
            <a:ext cx="5349240" cy="256032"/>
          </a:xfrm>
          <a:prstGeom prst="rect">
            <a:avLst/>
          </a:prstGeom>
          <a:noFill/>
          <a:ln/>
        </p:spPr>
        <p:txBody>
          <a:bodyPr wrap="square" lIns="0" tIns="0" rIns="0" bIns="0" rtlCol="0" anchor="ctr"/>
          <a:lstStyle/>
          <a:p>
            <a:pPr indent="0" marL="0">
              <a:buNone/>
            </a:pPr>
            <a:r>
              <a:rPr lang="en-US" sz="1000" dirty="0">
                <a:solidFill>
                  <a:srgbClr val="8A98A5"/>
                </a:solidFill>
                <a:latin typeface="Calibri" pitchFamily="34" charset="0"/>
                <a:ea typeface="Calibri" pitchFamily="34" charset="-122"/>
                <a:cs typeface="Calibri" pitchFamily="34" charset="-120"/>
              </a:rPr>
              <a:t>Figure 6: Anomaly score for every reading of one recorded run (own illustration).</a:t>
            </a:r>
            <a:endParaRPr lang="en-US" sz="1000" dirty="0"/>
          </a:p>
        </p:txBody>
      </p:sp>
      <p:sp>
        <p:nvSpPr>
          <p:cNvPr id="12" name="Shape 9"/>
          <p:cNvSpPr/>
          <p:nvPr/>
        </p:nvSpPr>
        <p:spPr>
          <a:xfrm>
            <a:off x="6172200" y="5120640"/>
            <a:ext cx="1691640" cy="868680"/>
          </a:xfrm>
          <a:prstGeom prst="roundRect">
            <a:avLst>
              <a:gd name="adj" fmla="val 8421"/>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13" name="Text 10"/>
          <p:cNvSpPr/>
          <p:nvPr/>
        </p:nvSpPr>
        <p:spPr>
          <a:xfrm>
            <a:off x="6172200" y="5175504"/>
            <a:ext cx="1691640" cy="402336"/>
          </a:xfrm>
          <a:prstGeom prst="rect">
            <a:avLst/>
          </a:prstGeom>
          <a:noFill/>
          <a:ln/>
        </p:spPr>
        <p:txBody>
          <a:bodyPr wrap="square" lIns="0" tIns="0" rIns="0" bIns="0" rtlCol="0" anchor="ctr"/>
          <a:lstStyle/>
          <a:p>
            <a:pPr algn="ctr" indent="0" marL="0">
              <a:buNone/>
            </a:pPr>
            <a:r>
              <a:rPr lang="en-US" sz="1900" b="1" dirty="0">
                <a:solidFill>
                  <a:srgbClr val="44708C"/>
                </a:solidFill>
                <a:latin typeface="Cambria" pitchFamily="34" charset="0"/>
                <a:ea typeface="Cambria" pitchFamily="34" charset="-122"/>
                <a:cs typeface="Cambria" pitchFamily="34" charset="-120"/>
              </a:rPr>
              <a:t>281</a:t>
            </a:r>
            <a:endParaRPr lang="en-US" sz="1900" dirty="0"/>
          </a:p>
        </p:txBody>
      </p:sp>
      <p:sp>
        <p:nvSpPr>
          <p:cNvPr id="14" name="Text 11"/>
          <p:cNvSpPr/>
          <p:nvPr/>
        </p:nvSpPr>
        <p:spPr>
          <a:xfrm>
            <a:off x="6172200" y="5559552"/>
            <a:ext cx="169164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readings scored</a:t>
            </a:r>
            <a:endParaRPr lang="en-US" sz="950" dirty="0"/>
          </a:p>
        </p:txBody>
      </p:sp>
      <p:sp>
        <p:nvSpPr>
          <p:cNvPr id="15" name="Shape 12"/>
          <p:cNvSpPr/>
          <p:nvPr/>
        </p:nvSpPr>
        <p:spPr>
          <a:xfrm>
            <a:off x="8001000" y="5120640"/>
            <a:ext cx="1691640" cy="868680"/>
          </a:xfrm>
          <a:prstGeom prst="roundRect">
            <a:avLst>
              <a:gd name="adj" fmla="val 8421"/>
            </a:avLst>
          </a:prstGeom>
          <a:solidFill>
            <a:srgbClr val="FBF1E1"/>
          </a:solidFill>
          <a:ln w="12700">
            <a:solidFill>
              <a:srgbClr val="FBF1E1"/>
            </a:solidFill>
            <a:prstDash val="solid"/>
          </a:ln>
          <a:effectLst>
            <a:outerShdw sx="100000" sy="100000" kx="0" ky="0" algn="bl" rotWithShape="0" blurRad="101600" dist="25400" dir="5400000">
              <a:srgbClr val="AAB4BD">
                <a:alpha val="25000"/>
              </a:srgbClr>
            </a:outerShdw>
          </a:effectLst>
        </p:spPr>
      </p:sp>
      <p:sp>
        <p:nvSpPr>
          <p:cNvPr id="16" name="Text 13"/>
          <p:cNvSpPr/>
          <p:nvPr/>
        </p:nvSpPr>
        <p:spPr>
          <a:xfrm>
            <a:off x="8001000" y="5175504"/>
            <a:ext cx="1691640" cy="402336"/>
          </a:xfrm>
          <a:prstGeom prst="rect">
            <a:avLst/>
          </a:prstGeom>
          <a:noFill/>
          <a:ln/>
        </p:spPr>
        <p:txBody>
          <a:bodyPr wrap="square" lIns="0" tIns="0" rIns="0" bIns="0" rtlCol="0" anchor="ctr"/>
          <a:lstStyle/>
          <a:p>
            <a:pPr algn="ctr" indent="0" marL="0">
              <a:buNone/>
            </a:pPr>
            <a:r>
              <a:rPr lang="en-US" sz="1900" b="1" dirty="0">
                <a:solidFill>
                  <a:srgbClr val="D4881F"/>
                </a:solidFill>
                <a:latin typeface="Cambria" pitchFamily="34" charset="0"/>
                <a:ea typeface="Cambria" pitchFamily="34" charset="-122"/>
                <a:cs typeface="Cambria" pitchFamily="34" charset="-120"/>
              </a:rPr>
              <a:t>39</a:t>
            </a:r>
            <a:endParaRPr lang="en-US" sz="1900" dirty="0"/>
          </a:p>
        </p:txBody>
      </p:sp>
      <p:sp>
        <p:nvSpPr>
          <p:cNvPr id="17" name="Text 14"/>
          <p:cNvSpPr/>
          <p:nvPr/>
        </p:nvSpPr>
        <p:spPr>
          <a:xfrm>
            <a:off x="8001000" y="5559552"/>
            <a:ext cx="169164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flagged = 13.9%</a:t>
            </a:r>
            <a:endParaRPr lang="en-US" sz="950" dirty="0"/>
          </a:p>
        </p:txBody>
      </p:sp>
      <p:sp>
        <p:nvSpPr>
          <p:cNvPr id="18" name="Shape 15"/>
          <p:cNvSpPr/>
          <p:nvPr/>
        </p:nvSpPr>
        <p:spPr>
          <a:xfrm>
            <a:off x="9829800" y="5120640"/>
            <a:ext cx="1691640" cy="868680"/>
          </a:xfrm>
          <a:prstGeom prst="roundRect">
            <a:avLst>
              <a:gd name="adj" fmla="val 8421"/>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19" name="Text 16"/>
          <p:cNvSpPr/>
          <p:nvPr/>
        </p:nvSpPr>
        <p:spPr>
          <a:xfrm>
            <a:off x="9829800" y="5175504"/>
            <a:ext cx="1691640" cy="402336"/>
          </a:xfrm>
          <a:prstGeom prst="rect">
            <a:avLst/>
          </a:prstGeom>
          <a:noFill/>
          <a:ln/>
        </p:spPr>
        <p:txBody>
          <a:bodyPr wrap="square" lIns="0" tIns="0" rIns="0" bIns="0" rtlCol="0" anchor="ctr"/>
          <a:lstStyle/>
          <a:p>
            <a:pPr algn="ctr" indent="0" marL="0">
              <a:buNone/>
            </a:pPr>
            <a:r>
              <a:rPr lang="en-US" sz="1900" b="1" dirty="0">
                <a:solidFill>
                  <a:srgbClr val="44708C"/>
                </a:solidFill>
                <a:latin typeface="Cambria" pitchFamily="34" charset="0"/>
                <a:ea typeface="Cambria" pitchFamily="34" charset="-122"/>
                <a:cs typeface="Cambria" pitchFamily="34" charset="-120"/>
              </a:rPr>
              <a:t>10%</a:t>
            </a:r>
            <a:endParaRPr lang="en-US" sz="1900" dirty="0"/>
          </a:p>
        </p:txBody>
      </p:sp>
      <p:sp>
        <p:nvSpPr>
          <p:cNvPr id="20" name="Text 17"/>
          <p:cNvSpPr/>
          <p:nvPr/>
        </p:nvSpPr>
        <p:spPr>
          <a:xfrm>
            <a:off x="9829800" y="5559552"/>
            <a:ext cx="1691640" cy="274320"/>
          </a:xfrm>
          <a:prstGeom prst="rect">
            <a:avLst/>
          </a:prstGeom>
          <a:noFill/>
          <a:ln/>
        </p:spPr>
        <p:txBody>
          <a:bodyPr wrap="square" lIns="0" tIns="0" rIns="0" bIns="0" rtlCol="0" anchor="ctr"/>
          <a:lstStyle/>
          <a:p>
            <a:pPr algn="ctr" indent="0" marL="0">
              <a:buNone/>
            </a:pPr>
            <a:r>
              <a:rPr lang="en-US" sz="950" dirty="0">
                <a:solidFill>
                  <a:srgbClr val="4A5866"/>
                </a:solidFill>
                <a:latin typeface="Calibri" pitchFamily="34" charset="0"/>
                <a:ea typeface="Calibri" pitchFamily="34" charset="-122"/>
                <a:cs typeface="Calibri" pitchFamily="34" charset="-120"/>
              </a:rPr>
              <a:t>faults injected</a:t>
            </a:r>
            <a:endParaRPr lang="en-US" sz="950" dirty="0"/>
          </a:p>
        </p:txBody>
      </p:sp>
      <p:sp>
        <p:nvSpPr>
          <p:cNvPr id="21" name="Text 18"/>
          <p:cNvSpPr/>
          <p:nvPr/>
        </p:nvSpPr>
        <p:spPr>
          <a:xfrm>
            <a:off x="640080" y="5943600"/>
            <a:ext cx="5349240" cy="457200"/>
          </a:xfrm>
          <a:prstGeom prst="rect">
            <a:avLst/>
          </a:prstGeom>
          <a:noFill/>
          <a:ln/>
        </p:spPr>
        <p:txBody>
          <a:bodyPr wrap="square" lIns="0" tIns="0" rIns="0" bIns="0" rtlCol="0" anchor="t"/>
          <a:lstStyle/>
          <a:p>
            <a:pPr indent="0" marL="0">
              <a:lnSpc>
                <a:spcPct val="110000"/>
              </a:lnSpc>
              <a:buNone/>
            </a:pPr>
            <a:r>
              <a:rPr lang="en-US" sz="1050" i="1" dirty="0">
                <a:solidFill>
                  <a:srgbClr val="8A98A5"/>
                </a:solidFill>
                <a:latin typeface="Calibri" pitchFamily="34" charset="0"/>
                <a:ea typeface="Calibri" pitchFamily="34" charset="-122"/>
                <a:cs typeface="Calibri" pitchFamily="34" charset="-120"/>
              </a:rPr>
              <a:t>One recorded run; the stream is not seeded, so these figures vary.</a:t>
            </a:r>
            <a:endParaRPr lang="en-US" sz="1050" dirty="0"/>
          </a:p>
          <a:p>
            <a:pPr indent="0" marL="0">
              <a:lnSpc>
                <a:spcPct val="110000"/>
              </a:lnSpc>
              <a:buNone/>
            </a:pPr>
            <a:r>
              <a:rPr lang="en-US" sz="1050" i="1" dirty="0">
                <a:solidFill>
                  <a:srgbClr val="8A98A5"/>
                </a:solidFill>
                <a:latin typeface="Calibri" pitchFamily="34" charset="0"/>
                <a:ea typeface="Calibri" pitchFamily="34" charset="-122"/>
                <a:cs typeface="Calibri" pitchFamily="34" charset="-120"/>
              </a:rPr>
              <a:t>The model errs cautious — the safer direction for a warning system.</a:t>
            </a:r>
            <a:endParaRPr lang="en-US" sz="1050" dirty="0"/>
          </a:p>
        </p:txBody>
      </p:sp>
      <p:sp>
        <p:nvSpPr>
          <p:cNvPr id="22" name="Text 19"/>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3" name="Text 20"/>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05 · THE MODEL AS A SERVICE</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Monitoring: what keeps it reliable in production</a:t>
            </a:r>
            <a:endParaRPr lang="en-US" sz="3200" dirty="0"/>
          </a:p>
        </p:txBody>
      </p:sp>
      <p:sp>
        <p:nvSpPr>
          <p:cNvPr id="4" name="Shape 2"/>
          <p:cNvSpPr/>
          <p:nvPr/>
        </p:nvSpPr>
        <p:spPr>
          <a:xfrm>
            <a:off x="640080" y="1600200"/>
            <a:ext cx="5669280" cy="1280160"/>
          </a:xfrm>
          <a:prstGeom prst="roundRect">
            <a:avLst>
              <a:gd name="adj" fmla="val 5714"/>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5" name="Shape 3"/>
          <p:cNvSpPr/>
          <p:nvPr/>
        </p:nvSpPr>
        <p:spPr>
          <a:xfrm>
            <a:off x="914400" y="2029968"/>
            <a:ext cx="420624" cy="420624"/>
          </a:xfrm>
          <a:prstGeom prst="ellipse">
            <a:avLst/>
          </a:prstGeom>
          <a:solidFill>
            <a:srgbClr val="44708C"/>
          </a:solidFill>
          <a:ln w="12700">
            <a:solidFill>
              <a:srgbClr val="44708C"/>
            </a:solidFill>
            <a:prstDash val="solid"/>
          </a:ln>
        </p:spPr>
      </p:sp>
      <p:sp>
        <p:nvSpPr>
          <p:cNvPr id="6" name="Text 4"/>
          <p:cNvSpPr/>
          <p:nvPr/>
        </p:nvSpPr>
        <p:spPr>
          <a:xfrm>
            <a:off x="914400" y="20299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08760" y="1764792"/>
            <a:ext cx="4572000" cy="292608"/>
          </a:xfrm>
          <a:prstGeom prst="rect">
            <a:avLst/>
          </a:prstGeom>
          <a:noFill/>
          <a:ln/>
        </p:spPr>
        <p:txBody>
          <a:bodyPr wrap="square" lIns="0" tIns="0" rIns="0" bIns="0" rtlCol="0" anchor="ctr"/>
          <a:lstStyle/>
          <a:p>
            <a:pPr indent="0" marL="0">
              <a:buNone/>
            </a:pPr>
            <a:r>
              <a:rPr lang="en-US" sz="1550" b="1" dirty="0">
                <a:solidFill>
                  <a:srgbClr val="36454F"/>
                </a:solidFill>
                <a:latin typeface="Cambria" pitchFamily="34" charset="0"/>
                <a:ea typeface="Cambria" pitchFamily="34" charset="-122"/>
                <a:cs typeface="Cambria" pitchFamily="34" charset="-120"/>
              </a:rPr>
              <a:t>Liveness</a:t>
            </a:r>
            <a:endParaRPr lang="en-US" sz="1550" dirty="0"/>
          </a:p>
        </p:txBody>
      </p:sp>
      <p:sp>
        <p:nvSpPr>
          <p:cNvPr id="8" name="Text 6"/>
          <p:cNvSpPr/>
          <p:nvPr/>
        </p:nvSpPr>
        <p:spPr>
          <a:xfrm>
            <a:off x="1508760" y="2075688"/>
            <a:ext cx="4617720" cy="713232"/>
          </a:xfrm>
          <a:prstGeom prst="rect">
            <a:avLst/>
          </a:prstGeom>
          <a:noFill/>
          <a:ln/>
        </p:spPr>
        <p:txBody>
          <a:bodyPr wrap="square" lIns="0" tIns="0" rIns="0" bIns="0" rtlCol="0" anchor="t"/>
          <a:lstStyle/>
          <a:p>
            <a:pPr indent="0" marL="0">
              <a:buNone/>
            </a:pPr>
            <a:r>
              <a:rPr lang="en-US" sz="1150" dirty="0">
                <a:solidFill>
                  <a:srgbClr val="4A5866"/>
                </a:solidFill>
                <a:latin typeface="Calibri" pitchFamily="34" charset="0"/>
                <a:ea typeface="Calibri" pitchFamily="34" charset="-122"/>
                <a:cs typeface="Calibri" pitchFamily="34" charset="-120"/>
              </a:rPr>
              <a:t>/health returns status + timestamp, so an uptime monitor can detect a dead service in seconds.</a:t>
            </a:r>
            <a:endParaRPr lang="en-US" sz="1150" dirty="0"/>
          </a:p>
        </p:txBody>
      </p:sp>
      <p:sp>
        <p:nvSpPr>
          <p:cNvPr id="9" name="Shape 7"/>
          <p:cNvSpPr/>
          <p:nvPr/>
        </p:nvSpPr>
        <p:spPr>
          <a:xfrm>
            <a:off x="640080" y="3017520"/>
            <a:ext cx="5669280" cy="1280160"/>
          </a:xfrm>
          <a:prstGeom prst="roundRect">
            <a:avLst>
              <a:gd name="adj" fmla="val 5714"/>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0" name="Shape 8"/>
          <p:cNvSpPr/>
          <p:nvPr/>
        </p:nvSpPr>
        <p:spPr>
          <a:xfrm>
            <a:off x="914400" y="3447288"/>
            <a:ext cx="420624" cy="420624"/>
          </a:xfrm>
          <a:prstGeom prst="ellipse">
            <a:avLst/>
          </a:prstGeom>
          <a:solidFill>
            <a:srgbClr val="44708C"/>
          </a:solidFill>
          <a:ln w="12700">
            <a:solidFill>
              <a:srgbClr val="44708C"/>
            </a:solidFill>
            <a:prstDash val="solid"/>
          </a:ln>
        </p:spPr>
      </p:sp>
      <p:sp>
        <p:nvSpPr>
          <p:cNvPr id="11" name="Text 9"/>
          <p:cNvSpPr/>
          <p:nvPr/>
        </p:nvSpPr>
        <p:spPr>
          <a:xfrm>
            <a:off x="914400" y="3447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508760" y="3182112"/>
            <a:ext cx="4572000" cy="292608"/>
          </a:xfrm>
          <a:prstGeom prst="rect">
            <a:avLst/>
          </a:prstGeom>
          <a:noFill/>
          <a:ln/>
        </p:spPr>
        <p:txBody>
          <a:bodyPr wrap="square" lIns="0" tIns="0" rIns="0" bIns="0" rtlCol="0" anchor="ctr"/>
          <a:lstStyle/>
          <a:p>
            <a:pPr indent="0" marL="0">
              <a:buNone/>
            </a:pPr>
            <a:r>
              <a:rPr lang="en-US" sz="1550" b="1" dirty="0">
                <a:solidFill>
                  <a:srgbClr val="36454F"/>
                </a:solidFill>
                <a:latin typeface="Cambria" pitchFamily="34" charset="0"/>
                <a:ea typeface="Cambria" pitchFamily="34" charset="-122"/>
                <a:cs typeface="Cambria" pitchFamily="34" charset="-120"/>
              </a:rPr>
              <a:t>Traceability</a:t>
            </a:r>
            <a:endParaRPr lang="en-US" sz="1550" dirty="0"/>
          </a:p>
        </p:txBody>
      </p:sp>
      <p:sp>
        <p:nvSpPr>
          <p:cNvPr id="13" name="Text 11"/>
          <p:cNvSpPr/>
          <p:nvPr/>
        </p:nvSpPr>
        <p:spPr>
          <a:xfrm>
            <a:off x="1508760" y="3493008"/>
            <a:ext cx="4617720" cy="713232"/>
          </a:xfrm>
          <a:prstGeom prst="rect">
            <a:avLst/>
          </a:prstGeom>
          <a:noFill/>
          <a:ln/>
        </p:spPr>
        <p:txBody>
          <a:bodyPr wrap="square" lIns="0" tIns="0" rIns="0" bIns="0" rtlCol="0" anchor="t"/>
          <a:lstStyle/>
          <a:p>
            <a:pPr indent="0" marL="0">
              <a:buNone/>
            </a:pPr>
            <a:r>
              <a:rPr lang="en-US" sz="1150" dirty="0">
                <a:solidFill>
                  <a:srgbClr val="4A5866"/>
                </a:solidFill>
                <a:latin typeface="Calibri" pitchFamily="34" charset="0"/>
                <a:ea typeface="Calibri" pitchFamily="34" charset="-122"/>
                <a:cs typeface="Calibri" pitchFamily="34" charset="-120"/>
              </a:rPr>
              <a:t>Every single request is appended to predictions.log with its inputs, score and verdict — so any alert can be explained after the fact.</a:t>
            </a:r>
            <a:endParaRPr lang="en-US" sz="1150" dirty="0"/>
          </a:p>
        </p:txBody>
      </p:sp>
      <p:sp>
        <p:nvSpPr>
          <p:cNvPr id="14" name="Shape 12"/>
          <p:cNvSpPr/>
          <p:nvPr/>
        </p:nvSpPr>
        <p:spPr>
          <a:xfrm>
            <a:off x="640080" y="4434840"/>
            <a:ext cx="5669280" cy="1280160"/>
          </a:xfrm>
          <a:prstGeom prst="roundRect">
            <a:avLst>
              <a:gd name="adj" fmla="val 5714"/>
            </a:avLst>
          </a:prstGeom>
          <a:solidFill>
            <a:srgbClr val="FBF1E1"/>
          </a:solidFill>
          <a:ln w="12700">
            <a:solidFill>
              <a:srgbClr val="FBF1E1"/>
            </a:solidFill>
            <a:prstDash val="solid"/>
          </a:ln>
          <a:effectLst>
            <a:outerShdw sx="100000" sy="100000" kx="0" ky="0" algn="bl" rotWithShape="0" blurRad="101600" dist="25400" dir="5400000">
              <a:srgbClr val="AAB4BD">
                <a:alpha val="25000"/>
              </a:srgbClr>
            </a:outerShdw>
          </a:effectLst>
        </p:spPr>
      </p:sp>
      <p:sp>
        <p:nvSpPr>
          <p:cNvPr id="15" name="Shape 13"/>
          <p:cNvSpPr/>
          <p:nvPr/>
        </p:nvSpPr>
        <p:spPr>
          <a:xfrm>
            <a:off x="914400" y="4864608"/>
            <a:ext cx="420624" cy="420624"/>
          </a:xfrm>
          <a:prstGeom prst="ellipse">
            <a:avLst/>
          </a:prstGeom>
          <a:solidFill>
            <a:srgbClr val="D4881F"/>
          </a:solidFill>
          <a:ln w="12700">
            <a:solidFill>
              <a:srgbClr val="D4881F"/>
            </a:solidFill>
            <a:prstDash val="solid"/>
          </a:ln>
        </p:spPr>
      </p:sp>
      <p:sp>
        <p:nvSpPr>
          <p:cNvPr id="16" name="Text 14"/>
          <p:cNvSpPr/>
          <p:nvPr/>
        </p:nvSpPr>
        <p:spPr>
          <a:xfrm>
            <a:off x="914400" y="48646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508760" y="4599432"/>
            <a:ext cx="4572000" cy="292608"/>
          </a:xfrm>
          <a:prstGeom prst="rect">
            <a:avLst/>
          </a:prstGeom>
          <a:noFill/>
          <a:ln/>
        </p:spPr>
        <p:txBody>
          <a:bodyPr wrap="square" lIns="0" tIns="0" rIns="0" bIns="0" rtlCol="0" anchor="ctr"/>
          <a:lstStyle/>
          <a:p>
            <a:pPr indent="0" marL="0">
              <a:buNone/>
            </a:pPr>
            <a:r>
              <a:rPr lang="en-US" sz="1550" b="1" dirty="0">
                <a:solidFill>
                  <a:srgbClr val="36454F"/>
                </a:solidFill>
                <a:latin typeface="Cambria" pitchFamily="34" charset="0"/>
                <a:ea typeface="Cambria" pitchFamily="34" charset="-122"/>
                <a:cs typeface="Cambria" pitchFamily="34" charset="-120"/>
              </a:rPr>
              <a:t>Drift watch</a:t>
            </a:r>
            <a:endParaRPr lang="en-US" sz="1550" dirty="0"/>
          </a:p>
        </p:txBody>
      </p:sp>
      <p:sp>
        <p:nvSpPr>
          <p:cNvPr id="18" name="Text 16"/>
          <p:cNvSpPr/>
          <p:nvPr/>
        </p:nvSpPr>
        <p:spPr>
          <a:xfrm>
            <a:off x="1508760" y="4910328"/>
            <a:ext cx="4617720" cy="713232"/>
          </a:xfrm>
          <a:prstGeom prst="rect">
            <a:avLst/>
          </a:prstGeom>
          <a:noFill/>
          <a:ln/>
        </p:spPr>
        <p:txBody>
          <a:bodyPr wrap="square" lIns="0" tIns="0" rIns="0" bIns="0" rtlCol="0" anchor="t"/>
          <a:lstStyle/>
          <a:p>
            <a:pPr indent="0" marL="0">
              <a:buNone/>
            </a:pPr>
            <a:r>
              <a:rPr lang="en-US" sz="1150" dirty="0">
                <a:solidFill>
                  <a:srgbClr val="4A5866"/>
                </a:solidFill>
                <a:latin typeface="Calibri" pitchFamily="34" charset="0"/>
                <a:ea typeface="Calibri" pitchFamily="34" charset="-122"/>
                <a:cs typeface="Calibri" pitchFamily="34" charset="-120"/>
              </a:rPr>
              <a:t>The share of items flagged over time is the early-warning signal: a sudden jump means the sensors or the process changed and the model needs retraining.</a:t>
            </a:r>
            <a:endParaRPr lang="en-US" sz="1150" dirty="0"/>
          </a:p>
        </p:txBody>
      </p:sp>
      <p:sp>
        <p:nvSpPr>
          <p:cNvPr id="19" name="Shape 17"/>
          <p:cNvSpPr/>
          <p:nvPr/>
        </p:nvSpPr>
        <p:spPr>
          <a:xfrm>
            <a:off x="6675120" y="1600200"/>
            <a:ext cx="4846320" cy="3931920"/>
          </a:xfrm>
          <a:prstGeom prst="roundRect">
            <a:avLst>
              <a:gd name="adj" fmla="val 1395"/>
            </a:avLst>
          </a:prstGeom>
          <a:solidFill>
            <a:srgbClr val="FCFDFD"/>
          </a:solidFill>
          <a:ln w="22225">
            <a:solidFill>
              <a:srgbClr val="D4881F"/>
            </a:solidFill>
            <a:prstDash val="dash"/>
          </a:ln>
        </p:spPr>
      </p:sp>
      <p:sp>
        <p:nvSpPr>
          <p:cNvPr id="20" name="Text 18"/>
          <p:cNvSpPr/>
          <p:nvPr/>
        </p:nvSpPr>
        <p:spPr>
          <a:xfrm>
            <a:off x="6675120" y="3063240"/>
            <a:ext cx="4846320" cy="292608"/>
          </a:xfrm>
          <a:prstGeom prst="rect">
            <a:avLst/>
          </a:prstGeom>
          <a:noFill/>
          <a:ln/>
        </p:spPr>
        <p:txBody>
          <a:bodyPr wrap="square" lIns="0" tIns="0" rIns="0" bIns="0" rtlCol="0" anchor="ctr"/>
          <a:lstStyle/>
          <a:p>
            <a:pPr algn="ctr" indent="0" marL="0">
              <a:buNone/>
            </a:pPr>
            <a:r>
              <a:rPr lang="en-US" sz="1200" b="1" spc="200" kern="0" dirty="0">
                <a:solidFill>
                  <a:srgbClr val="D4881F"/>
                </a:solidFill>
                <a:latin typeface="Calibri" pitchFamily="34" charset="0"/>
                <a:ea typeface="Calibri" pitchFamily="34" charset="-122"/>
                <a:cs typeface="Calibri" pitchFamily="34" charset="-120"/>
              </a:rPr>
              <a:t>SCREENSHOT PLACEHOLDER</a:t>
            </a:r>
            <a:endParaRPr lang="en-US" sz="1200" dirty="0"/>
          </a:p>
        </p:txBody>
      </p:sp>
      <p:sp>
        <p:nvSpPr>
          <p:cNvPr id="21" name="Text 19"/>
          <p:cNvSpPr/>
          <p:nvPr/>
        </p:nvSpPr>
        <p:spPr>
          <a:xfrm>
            <a:off x="6949440" y="3401568"/>
            <a:ext cx="4297680" cy="365760"/>
          </a:xfrm>
          <a:prstGeom prst="rect">
            <a:avLst/>
          </a:prstGeom>
          <a:noFill/>
          <a:ln/>
        </p:spPr>
        <p:txBody>
          <a:bodyPr wrap="square" lIns="0" tIns="0" rIns="0" bIns="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predictions.log</a:t>
            </a:r>
            <a:endParaRPr lang="en-US" sz="1500" dirty="0"/>
          </a:p>
        </p:txBody>
      </p:sp>
      <p:sp>
        <p:nvSpPr>
          <p:cNvPr id="22" name="Text 20"/>
          <p:cNvSpPr/>
          <p:nvPr/>
        </p:nvSpPr>
        <p:spPr>
          <a:xfrm>
            <a:off x="7040880" y="3803904"/>
            <a:ext cx="4114800" cy="548640"/>
          </a:xfrm>
          <a:prstGeom prst="rect">
            <a:avLst/>
          </a:prstGeom>
          <a:noFill/>
          <a:ln/>
        </p:spPr>
        <p:txBody>
          <a:bodyPr wrap="square" lIns="0" tIns="0" rIns="0" bIns="0" rtlCol="0" anchor="ctr"/>
          <a:lstStyle/>
          <a:p>
            <a:pPr algn="ctr" indent="0" marL="0">
              <a:buNone/>
            </a:pPr>
            <a:r>
              <a:rPr lang="en-US" sz="1150" dirty="0">
                <a:solidFill>
                  <a:srgbClr val="8A98A5"/>
                </a:solidFill>
                <a:latin typeface="Calibri" pitchFamily="34" charset="0"/>
                <a:ea typeface="Calibri" pitchFamily="34" charset="-122"/>
                <a:cs typeface="Calibri" pitchFamily="34" charset="-120"/>
              </a:rPr>
              <a:t>Capture a section of the log file showing timestamped</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entries with inputs, scores and anomaly=True/False —</a:t>
            </a:r>
            <a:endParaRPr lang="en-US" sz="1150" dirty="0"/>
          </a:p>
          <a:p>
            <a:pPr algn="ctr" indent="0" marL="0">
              <a:buNone/>
            </a:pPr>
            <a:r>
              <a:rPr lang="en-US" sz="1150" dirty="0">
                <a:solidFill>
                  <a:srgbClr val="8A98A5"/>
                </a:solidFill>
                <a:latin typeface="Calibri" pitchFamily="34" charset="0"/>
                <a:ea typeface="Calibri" pitchFamily="34" charset="-122"/>
                <a:cs typeface="Calibri" pitchFamily="34" charset="-120"/>
              </a:rPr>
              <a:t>the evidence that every prediction is recorded.</a:t>
            </a:r>
            <a:endParaRPr lang="en-US" sz="1150" dirty="0"/>
          </a:p>
        </p:txBody>
      </p:sp>
      <p:sp>
        <p:nvSpPr>
          <p:cNvPr id="23" name="Text 21"/>
          <p:cNvSpPr/>
          <p:nvPr/>
        </p:nvSpPr>
        <p:spPr>
          <a:xfrm>
            <a:off x="6675120" y="5596128"/>
            <a:ext cx="4846320" cy="256032"/>
          </a:xfrm>
          <a:prstGeom prst="rect">
            <a:avLst/>
          </a:prstGeom>
          <a:noFill/>
          <a:ln/>
        </p:spPr>
        <p:txBody>
          <a:bodyPr wrap="square" lIns="0" tIns="0" rIns="0" bIns="0" rtlCol="0" anchor="ctr"/>
          <a:lstStyle/>
          <a:p>
            <a:pPr indent="0" marL="0">
              <a:buNone/>
            </a:pPr>
            <a:r>
              <a:rPr lang="en-US" sz="1000" dirty="0">
                <a:solidFill>
                  <a:srgbClr val="8A98A5"/>
                </a:solidFill>
                <a:latin typeface="Calibri" pitchFamily="34" charset="0"/>
                <a:ea typeface="Calibri" pitchFamily="34" charset="-122"/>
                <a:cs typeface="Calibri" pitchFamily="34" charset="-120"/>
              </a:rPr>
              <a:t>Figure 7: Extract from predictions.log (own screenshot).</a:t>
            </a:r>
            <a:endParaRPr lang="en-US" sz="1000" dirty="0"/>
          </a:p>
        </p:txBody>
      </p:sp>
      <p:sp>
        <p:nvSpPr>
          <p:cNvPr id="24" name="Text 22"/>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5" name="Text 23"/>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06 · CRITICAL REFLECTION</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Integration challenges and their constraints</a:t>
            </a:r>
            <a:endParaRPr lang="en-US" sz="3200" dirty="0"/>
          </a:p>
        </p:txBody>
      </p:sp>
      <p:sp>
        <p:nvSpPr>
          <p:cNvPr id="4" name="Shape 2"/>
          <p:cNvSpPr/>
          <p:nvPr/>
        </p:nvSpPr>
        <p:spPr>
          <a:xfrm>
            <a:off x="640080" y="1783080"/>
            <a:ext cx="5285232" cy="3429000"/>
          </a:xfrm>
          <a:prstGeom prst="roundRect">
            <a:avLst>
              <a:gd name="adj" fmla="val 2133"/>
            </a:avLst>
          </a:prstGeom>
          <a:solidFill>
            <a:srgbClr val="2C3743"/>
          </a:solidFill>
          <a:ln w="12700">
            <a:solidFill>
              <a:srgbClr val="3A4653"/>
            </a:solidFill>
            <a:prstDash val="solid"/>
          </a:ln>
        </p:spPr>
      </p:sp>
      <p:sp>
        <p:nvSpPr>
          <p:cNvPr id="5" name="Shape 3"/>
          <p:cNvSpPr/>
          <p:nvPr/>
        </p:nvSpPr>
        <p:spPr>
          <a:xfrm>
            <a:off x="960120" y="2029968"/>
            <a:ext cx="182880" cy="182880"/>
          </a:xfrm>
          <a:prstGeom prst="ellipse">
            <a:avLst/>
          </a:prstGeom>
          <a:solidFill>
            <a:srgbClr val="D4881F"/>
          </a:solidFill>
          <a:ln w="12700">
            <a:solidFill>
              <a:srgbClr val="333333"/>
            </a:solidFill>
            <a:prstDash val="solid"/>
          </a:ln>
        </p:spPr>
      </p:sp>
      <p:sp>
        <p:nvSpPr>
          <p:cNvPr id="6" name="Text 4"/>
          <p:cNvSpPr/>
          <p:nvPr/>
        </p:nvSpPr>
        <p:spPr>
          <a:xfrm>
            <a:off x="1261872" y="1956816"/>
            <a:ext cx="438912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 was hard</a:t>
            </a:r>
            <a:endParaRPr lang="en-US" sz="1800" dirty="0"/>
          </a:p>
        </p:txBody>
      </p:sp>
      <p:sp>
        <p:nvSpPr>
          <p:cNvPr id="7" name="Text 5"/>
          <p:cNvSpPr/>
          <p:nvPr/>
        </p:nvSpPr>
        <p:spPr>
          <a:xfrm>
            <a:off x="987552" y="2450592"/>
            <a:ext cx="4663440" cy="2651760"/>
          </a:xfrm>
          <a:prstGeom prst="rect">
            <a:avLst/>
          </a:prstGeom>
          <a:noFill/>
          <a:ln/>
        </p:spPr>
        <p:txBody>
          <a:bodyPr wrap="square" lIns="0" tIns="0" rIns="0" bIns="0" rtlCol="0" anchor="t"/>
          <a:lstStyle/>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Keeping preprocessing identical in training and serving — solved by pickling scaler and detector as one pipeline.</a:t>
            </a:r>
            <a:endParaRPr lang="en-US" sz="1250" dirty="0"/>
          </a:p>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Loading the model once at start-up rather than per request; the first version reloaded the pickle on every call and was far slower.</a:t>
            </a:r>
            <a:endParaRPr lang="en-US" sz="1250" dirty="0"/>
          </a:p>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Input validation is the gap I did not close: a missing field still raises inside the handler and returns a bare 500 instead of a clean 400.</a:t>
            </a:r>
            <a:endParaRPr lang="en-US" sz="1250" dirty="0"/>
          </a:p>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Turning a raw score into a decision — the model outputs a number, the shop floor needs a yes/no.</a:t>
            </a:r>
            <a:endParaRPr lang="en-US" sz="1250" dirty="0"/>
          </a:p>
        </p:txBody>
      </p:sp>
      <p:sp>
        <p:nvSpPr>
          <p:cNvPr id="8" name="Shape 6"/>
          <p:cNvSpPr/>
          <p:nvPr/>
        </p:nvSpPr>
        <p:spPr>
          <a:xfrm>
            <a:off x="6263640" y="1783080"/>
            <a:ext cx="5285232" cy="3429000"/>
          </a:xfrm>
          <a:prstGeom prst="roundRect">
            <a:avLst>
              <a:gd name="adj" fmla="val 2133"/>
            </a:avLst>
          </a:prstGeom>
          <a:solidFill>
            <a:srgbClr val="2C3743"/>
          </a:solidFill>
          <a:ln w="12700">
            <a:solidFill>
              <a:srgbClr val="3A4653"/>
            </a:solidFill>
            <a:prstDash val="solid"/>
          </a:ln>
        </p:spPr>
      </p:sp>
      <p:sp>
        <p:nvSpPr>
          <p:cNvPr id="9" name="Shape 7"/>
          <p:cNvSpPr/>
          <p:nvPr/>
        </p:nvSpPr>
        <p:spPr>
          <a:xfrm>
            <a:off x="6583680" y="2029968"/>
            <a:ext cx="182880" cy="182880"/>
          </a:xfrm>
          <a:prstGeom prst="ellipse">
            <a:avLst/>
          </a:prstGeom>
          <a:solidFill>
            <a:srgbClr val="44708C"/>
          </a:solidFill>
          <a:ln w="12700">
            <a:solidFill>
              <a:srgbClr val="333333"/>
            </a:solidFill>
            <a:prstDash val="solid"/>
          </a:ln>
        </p:spPr>
      </p:sp>
      <p:sp>
        <p:nvSpPr>
          <p:cNvPr id="10" name="Text 8"/>
          <p:cNvSpPr/>
          <p:nvPr/>
        </p:nvSpPr>
        <p:spPr>
          <a:xfrm>
            <a:off x="6885432" y="1956816"/>
            <a:ext cx="438912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 the service must accept</a:t>
            </a:r>
            <a:endParaRPr lang="en-US" sz="1800" dirty="0"/>
          </a:p>
        </p:txBody>
      </p:sp>
      <p:sp>
        <p:nvSpPr>
          <p:cNvPr id="11" name="Text 9"/>
          <p:cNvSpPr/>
          <p:nvPr/>
        </p:nvSpPr>
        <p:spPr>
          <a:xfrm>
            <a:off x="6611112" y="2450592"/>
            <a:ext cx="4663440" cy="2651760"/>
          </a:xfrm>
          <a:prstGeom prst="rect">
            <a:avLst/>
          </a:prstGeom>
          <a:noFill/>
          <a:ln/>
        </p:spPr>
        <p:txBody>
          <a:bodyPr wrap="square" lIns="0" tIns="0" rIns="0" bIns="0" rtlCol="0" anchor="t"/>
          <a:lstStyle/>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It must be stateless: every request independent, nothing remembered between calls.</a:t>
            </a:r>
            <a:endParaRPr lang="en-US" sz="1250" dirty="0"/>
          </a:p>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A fixed input/output contract — change the JSON schema and every caller breaks.</a:t>
            </a:r>
            <a:endParaRPr lang="en-US" sz="1250" dirty="0"/>
          </a:p>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It must answer fast enough to keep up with the stream; a slow model is a broken model here.</a:t>
            </a:r>
            <a:endParaRPr lang="en-US" sz="1250" dirty="0"/>
          </a:p>
          <a:p>
            <a:pPr marL="203200" indent="-203200">
              <a:spcAft>
                <a:spcPts val="1100"/>
              </a:spcAft>
              <a:buSzPct val="100000"/>
              <a:buChar char="•"/>
            </a:pPr>
            <a:r>
              <a:rPr lang="en-US" sz="1250" dirty="0">
                <a:solidFill>
                  <a:srgbClr val="AEBBC6"/>
                </a:solidFill>
                <a:latin typeface="Calibri" pitchFamily="34" charset="0"/>
                <a:ea typeface="Calibri" pitchFamily="34" charset="-122"/>
                <a:cs typeface="Calibri" pitchFamily="34" charset="-120"/>
              </a:rPr>
              <a:t>It must be versioned, so a retrained model can replace the old one without downtime for callers.</a:t>
            </a:r>
            <a:endParaRPr lang="en-US" sz="1250" dirty="0"/>
          </a:p>
        </p:txBody>
      </p:sp>
      <p:sp>
        <p:nvSpPr>
          <p:cNvPr id="12" name="Text 10"/>
          <p:cNvSpPr/>
          <p:nvPr/>
        </p:nvSpPr>
        <p:spPr>
          <a:xfrm>
            <a:off x="640080" y="5440680"/>
            <a:ext cx="10908792" cy="548640"/>
          </a:xfrm>
          <a:prstGeom prst="rect">
            <a:avLst/>
          </a:prstGeom>
          <a:noFill/>
          <a:ln/>
        </p:spPr>
        <p:txBody>
          <a:bodyPr wrap="square" lIns="0" tIns="0" rIns="0" bIns="0" rtlCol="0" anchor="ctr"/>
          <a:lstStyle/>
          <a:p>
            <a:pPr indent="0" marL="0">
              <a:buNone/>
            </a:pPr>
            <a:r>
              <a:rPr lang="en-US" sz="1350" i="1" dirty="0">
                <a:solidFill>
                  <a:srgbClr val="D4881F"/>
                </a:solidFill>
                <a:latin typeface="Calibri" pitchFamily="34" charset="0"/>
                <a:ea typeface="Calibri" pitchFamily="34" charset="-122"/>
                <a:cs typeface="Calibri" pitchFamily="34" charset="-120"/>
              </a:rPr>
              <a:t>In short: the model was the easy part. Everything hard about this project lived at the boundary between the model and the system around it.</a:t>
            </a:r>
            <a:endParaRPr lang="en-US" sz="1350" dirty="0"/>
          </a:p>
        </p:txBody>
      </p:sp>
      <p:sp>
        <p:nvSpPr>
          <p:cNvPr id="13" name="Text 11"/>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14" name="Text 12"/>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D4881F"/>
                </a:solidFill>
                <a:latin typeface="Calibri" pitchFamily="34" charset="0"/>
                <a:ea typeface="Calibri" pitchFamily="34" charset="-122"/>
                <a:cs typeface="Calibri" pitchFamily="34" charset="-120"/>
              </a:rPr>
              <a:t>06 · CRITICAL REFLECTION</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Critical reflection: what I would do differently</a:t>
            </a:r>
            <a:endParaRPr lang="en-US" sz="3200" dirty="0"/>
          </a:p>
        </p:txBody>
      </p:sp>
      <p:sp>
        <p:nvSpPr>
          <p:cNvPr id="4" name="Shape 2"/>
          <p:cNvSpPr/>
          <p:nvPr/>
        </p:nvSpPr>
        <p:spPr>
          <a:xfrm>
            <a:off x="640080" y="1600200"/>
            <a:ext cx="5285232" cy="1993392"/>
          </a:xfrm>
          <a:prstGeom prst="roundRect">
            <a:avLst>
              <a:gd name="adj" fmla="val 367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5" name="Shape 3"/>
          <p:cNvSpPr/>
          <p:nvPr/>
        </p:nvSpPr>
        <p:spPr>
          <a:xfrm>
            <a:off x="914400" y="1819656"/>
            <a:ext cx="1188720" cy="310896"/>
          </a:xfrm>
          <a:prstGeom prst="roundRect">
            <a:avLst>
              <a:gd name="adj" fmla="val 14706"/>
            </a:avLst>
          </a:prstGeom>
          <a:solidFill>
            <a:srgbClr val="D4881F"/>
          </a:solidFill>
          <a:ln w="12700">
            <a:solidFill>
              <a:srgbClr val="333333"/>
            </a:solidFill>
            <a:prstDash val="solid"/>
          </a:ln>
        </p:spPr>
      </p:sp>
      <p:sp>
        <p:nvSpPr>
          <p:cNvPr id="6" name="Text 4"/>
          <p:cNvSpPr/>
          <p:nvPr/>
        </p:nvSpPr>
        <p:spPr>
          <a:xfrm>
            <a:off x="914400" y="1819656"/>
            <a:ext cx="11887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7" name="Text 5"/>
          <p:cNvSpPr/>
          <p:nvPr/>
        </p:nvSpPr>
        <p:spPr>
          <a:xfrm>
            <a:off x="914400" y="2258568"/>
            <a:ext cx="4736592" cy="114300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Synthetic data with cleanly separated faults makes the model look better than it would on real sensor readings, where faults are subtle and overlap with normal operation. The honest reading of 0.94 F1 is “the plumbing works”, not “the model is excellent”.</a:t>
            </a:r>
            <a:endParaRPr lang="en-US" sz="1200" dirty="0"/>
          </a:p>
        </p:txBody>
      </p:sp>
      <p:sp>
        <p:nvSpPr>
          <p:cNvPr id="8" name="Shape 6"/>
          <p:cNvSpPr/>
          <p:nvPr/>
        </p:nvSpPr>
        <p:spPr>
          <a:xfrm>
            <a:off x="6263640" y="1600200"/>
            <a:ext cx="5285232" cy="1993392"/>
          </a:xfrm>
          <a:prstGeom prst="roundRect">
            <a:avLst>
              <a:gd name="adj" fmla="val 367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9" name="Shape 7"/>
          <p:cNvSpPr/>
          <p:nvPr/>
        </p:nvSpPr>
        <p:spPr>
          <a:xfrm>
            <a:off x="6537960" y="1819656"/>
            <a:ext cx="1188720" cy="310896"/>
          </a:xfrm>
          <a:prstGeom prst="roundRect">
            <a:avLst>
              <a:gd name="adj" fmla="val 14706"/>
            </a:avLst>
          </a:prstGeom>
          <a:solidFill>
            <a:srgbClr val="44708C"/>
          </a:solidFill>
          <a:ln w="12700">
            <a:solidFill>
              <a:srgbClr val="333333"/>
            </a:solidFill>
            <a:prstDash val="solid"/>
          </a:ln>
        </p:spPr>
      </p:sp>
      <p:sp>
        <p:nvSpPr>
          <p:cNvPr id="10" name="Text 8"/>
          <p:cNvSpPr/>
          <p:nvPr/>
        </p:nvSpPr>
        <p:spPr>
          <a:xfrm>
            <a:off x="6537960" y="1819656"/>
            <a:ext cx="11887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Threshold</a:t>
            </a:r>
            <a:endParaRPr lang="en-US" sz="1100" dirty="0"/>
          </a:p>
        </p:txBody>
      </p:sp>
      <p:sp>
        <p:nvSpPr>
          <p:cNvPr id="11" name="Text 9"/>
          <p:cNvSpPr/>
          <p:nvPr/>
        </p:nvSpPr>
        <p:spPr>
          <a:xfrm>
            <a:off x="6537960" y="2258568"/>
            <a:ext cx="4736592" cy="114300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The alert threshold is currently the model's own default. In practice it should be chosen with the shop floor, trading false alarms against missed faults — an ignored alarm is worse than no alarm.</a:t>
            </a:r>
            <a:endParaRPr lang="en-US" sz="1200" dirty="0"/>
          </a:p>
        </p:txBody>
      </p:sp>
      <p:sp>
        <p:nvSpPr>
          <p:cNvPr id="12" name="Shape 10"/>
          <p:cNvSpPr/>
          <p:nvPr/>
        </p:nvSpPr>
        <p:spPr>
          <a:xfrm>
            <a:off x="640080" y="3813048"/>
            <a:ext cx="5285232" cy="1993392"/>
          </a:xfrm>
          <a:prstGeom prst="roundRect">
            <a:avLst>
              <a:gd name="adj" fmla="val 367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3" name="Shape 11"/>
          <p:cNvSpPr/>
          <p:nvPr/>
        </p:nvSpPr>
        <p:spPr>
          <a:xfrm>
            <a:off x="914400" y="4032504"/>
            <a:ext cx="1188720" cy="310896"/>
          </a:xfrm>
          <a:prstGeom prst="roundRect">
            <a:avLst>
              <a:gd name="adj" fmla="val 14706"/>
            </a:avLst>
          </a:prstGeom>
          <a:solidFill>
            <a:srgbClr val="D4881F"/>
          </a:solidFill>
          <a:ln w="12700">
            <a:solidFill>
              <a:srgbClr val="333333"/>
            </a:solidFill>
            <a:prstDash val="solid"/>
          </a:ln>
        </p:spPr>
      </p:sp>
      <p:sp>
        <p:nvSpPr>
          <p:cNvPr id="14" name="Text 12"/>
          <p:cNvSpPr/>
          <p:nvPr/>
        </p:nvSpPr>
        <p:spPr>
          <a:xfrm>
            <a:off x="914400" y="4032504"/>
            <a:ext cx="11887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Storage</a:t>
            </a:r>
            <a:endParaRPr lang="en-US" sz="1100" dirty="0"/>
          </a:p>
        </p:txBody>
      </p:sp>
      <p:sp>
        <p:nvSpPr>
          <p:cNvPr id="15" name="Text 13"/>
          <p:cNvSpPr/>
          <p:nvPr/>
        </p:nvSpPr>
        <p:spPr>
          <a:xfrm>
            <a:off x="914400" y="4471416"/>
            <a:ext cx="4736592" cy="114300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A log file is enough to demonstrate monitorability, but it does not scale. The next step is a message queue (e.g. Kafka) in front of the API and a time-series database behind it.</a:t>
            </a:r>
            <a:endParaRPr lang="en-US" sz="1200" dirty="0"/>
          </a:p>
        </p:txBody>
      </p:sp>
      <p:sp>
        <p:nvSpPr>
          <p:cNvPr id="16" name="Shape 14"/>
          <p:cNvSpPr/>
          <p:nvPr/>
        </p:nvSpPr>
        <p:spPr>
          <a:xfrm>
            <a:off x="6263640" y="3813048"/>
            <a:ext cx="5285232" cy="1993392"/>
          </a:xfrm>
          <a:prstGeom prst="roundRect">
            <a:avLst>
              <a:gd name="adj" fmla="val 3670"/>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17" name="Shape 15"/>
          <p:cNvSpPr/>
          <p:nvPr/>
        </p:nvSpPr>
        <p:spPr>
          <a:xfrm>
            <a:off x="6537960" y="4032504"/>
            <a:ext cx="1188720" cy="310896"/>
          </a:xfrm>
          <a:prstGeom prst="roundRect">
            <a:avLst>
              <a:gd name="adj" fmla="val 14706"/>
            </a:avLst>
          </a:prstGeom>
          <a:solidFill>
            <a:srgbClr val="44708C"/>
          </a:solidFill>
          <a:ln w="12700">
            <a:solidFill>
              <a:srgbClr val="333333"/>
            </a:solidFill>
            <a:prstDash val="solid"/>
          </a:ln>
        </p:spPr>
      </p:sp>
      <p:sp>
        <p:nvSpPr>
          <p:cNvPr id="18" name="Text 16"/>
          <p:cNvSpPr/>
          <p:nvPr/>
        </p:nvSpPr>
        <p:spPr>
          <a:xfrm>
            <a:off x="6537960" y="4032504"/>
            <a:ext cx="11887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Automation</a:t>
            </a:r>
            <a:endParaRPr lang="en-US" sz="1100" dirty="0"/>
          </a:p>
        </p:txBody>
      </p:sp>
      <p:sp>
        <p:nvSpPr>
          <p:cNvPr id="19" name="Text 17"/>
          <p:cNvSpPr/>
          <p:nvPr/>
        </p:nvSpPr>
        <p:spPr>
          <a:xfrm>
            <a:off x="6537960" y="4471416"/>
            <a:ext cx="4736592" cy="1143000"/>
          </a:xfrm>
          <a:prstGeom prst="rect">
            <a:avLst/>
          </a:prstGeom>
          <a:noFill/>
          <a:ln/>
        </p:spPr>
        <p:txBody>
          <a:bodyPr wrap="square" lIns="0" tIns="0" rIns="0" bIns="0" rtlCol="0" anchor="t"/>
          <a:lstStyle/>
          <a:p>
            <a:pPr indent="0" marL="0">
              <a:buNone/>
            </a:pPr>
            <a:r>
              <a:rPr lang="en-US" sz="1200" dirty="0">
                <a:solidFill>
                  <a:srgbClr val="4A5866"/>
                </a:solidFill>
                <a:latin typeface="Calibri" pitchFamily="34" charset="0"/>
                <a:ea typeface="Calibri" pitchFamily="34" charset="-122"/>
                <a:cs typeface="Calibri" pitchFamily="34" charset="-120"/>
              </a:rPr>
              <a:t>Retraining is manual today — the glue code and manual steps Sculley et al. (2015) warn about. A scheduled job triggered by the drift signal would close the loop. Containerising the API and deploying it to a cloud host is the natural extension I did not attempt.</a:t>
            </a:r>
            <a:endParaRPr lang="en-US" sz="1200" dirty="0"/>
          </a:p>
        </p:txBody>
      </p:sp>
      <p:sp>
        <p:nvSpPr>
          <p:cNvPr id="20" name="Text 18"/>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1" name="Text 19"/>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Conclusion: goal versus result</a:t>
            </a:r>
            <a:endParaRPr lang="en-US" sz="3200" dirty="0"/>
          </a:p>
        </p:txBody>
      </p:sp>
      <p:sp>
        <p:nvSpPr>
          <p:cNvPr id="3" name="Shape 1"/>
          <p:cNvSpPr/>
          <p:nvPr/>
        </p:nvSpPr>
        <p:spPr>
          <a:xfrm>
            <a:off x="640080" y="1554480"/>
            <a:ext cx="10908792" cy="731520"/>
          </a:xfrm>
          <a:prstGeom prst="roundRect">
            <a:avLst>
              <a:gd name="adj" fmla="val 6250"/>
            </a:avLst>
          </a:prstGeom>
          <a:solidFill>
            <a:srgbClr val="2C3743"/>
          </a:solidFill>
          <a:ln w="12700">
            <a:solidFill>
              <a:srgbClr val="333333"/>
            </a:solidFill>
            <a:prstDash val="solid"/>
          </a:ln>
        </p:spPr>
      </p:sp>
      <p:sp>
        <p:nvSpPr>
          <p:cNvPr id="4" name="Shape 2"/>
          <p:cNvSpPr/>
          <p:nvPr/>
        </p:nvSpPr>
        <p:spPr>
          <a:xfrm>
            <a:off x="914400" y="1783080"/>
            <a:ext cx="274320" cy="274320"/>
          </a:xfrm>
          <a:prstGeom prst="ellipse">
            <a:avLst/>
          </a:prstGeom>
          <a:solidFill>
            <a:srgbClr val="3E7C59"/>
          </a:solidFill>
          <a:ln w="12700">
            <a:solidFill>
              <a:srgbClr val="333333"/>
            </a:solidFill>
            <a:prstDash val="solid"/>
          </a:ln>
        </p:spPr>
      </p:sp>
      <p:sp>
        <p:nvSpPr>
          <p:cNvPr id="5" name="Text 3"/>
          <p:cNvSpPr/>
          <p:nvPr/>
        </p:nvSpPr>
        <p:spPr>
          <a:xfrm>
            <a:off x="914400" y="17830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1353312" y="1554480"/>
            <a:ext cx="42062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Process a continuous data stream</a:t>
            </a:r>
            <a:endParaRPr lang="en-US" sz="1400" dirty="0"/>
          </a:p>
        </p:txBody>
      </p:sp>
      <p:sp>
        <p:nvSpPr>
          <p:cNvPr id="7" name="Text 5"/>
          <p:cNvSpPr/>
          <p:nvPr/>
        </p:nvSpPr>
        <p:spPr>
          <a:xfrm>
            <a:off x="5669280" y="1554480"/>
            <a:ext cx="5669280" cy="731520"/>
          </a:xfrm>
          <a:prstGeom prst="rect">
            <a:avLst/>
          </a:prstGeom>
          <a:noFill/>
          <a:ln/>
        </p:spPr>
        <p:txBody>
          <a:bodyPr wrap="square" lIns="0" tIns="0" rIns="0" bIns="0" rtlCol="0" anchor="ctr"/>
          <a:lstStyle/>
          <a:p>
            <a:pPr indent="0" marL="0">
              <a:buNone/>
            </a:pPr>
            <a:r>
              <a:rPr lang="en-US" sz="1300" dirty="0">
                <a:solidFill>
                  <a:srgbClr val="AEBBC6"/>
                </a:solidFill>
                <a:latin typeface="Calibri" pitchFamily="34" charset="0"/>
                <a:ea typeface="Calibri" pitchFamily="34" charset="-122"/>
                <a:cs typeface="Calibri" pitchFamily="34" charset="-120"/>
              </a:rPr>
              <a:t>One reading per second, scored end-to-end in real time</a:t>
            </a:r>
            <a:endParaRPr lang="en-US" sz="1300" dirty="0"/>
          </a:p>
        </p:txBody>
      </p:sp>
      <p:sp>
        <p:nvSpPr>
          <p:cNvPr id="8" name="Shape 6"/>
          <p:cNvSpPr/>
          <p:nvPr/>
        </p:nvSpPr>
        <p:spPr>
          <a:xfrm>
            <a:off x="640080" y="2395728"/>
            <a:ext cx="10908792" cy="731520"/>
          </a:xfrm>
          <a:prstGeom prst="roundRect">
            <a:avLst>
              <a:gd name="adj" fmla="val 6250"/>
            </a:avLst>
          </a:prstGeom>
          <a:solidFill>
            <a:srgbClr val="2C3743"/>
          </a:solidFill>
          <a:ln w="12700">
            <a:solidFill>
              <a:srgbClr val="333333"/>
            </a:solidFill>
            <a:prstDash val="solid"/>
          </a:ln>
        </p:spPr>
      </p:sp>
      <p:sp>
        <p:nvSpPr>
          <p:cNvPr id="9" name="Shape 7"/>
          <p:cNvSpPr/>
          <p:nvPr/>
        </p:nvSpPr>
        <p:spPr>
          <a:xfrm>
            <a:off x="914400" y="2624328"/>
            <a:ext cx="274320" cy="274320"/>
          </a:xfrm>
          <a:prstGeom prst="ellipse">
            <a:avLst/>
          </a:prstGeom>
          <a:solidFill>
            <a:srgbClr val="3E7C59"/>
          </a:solidFill>
          <a:ln w="12700">
            <a:solidFill>
              <a:srgbClr val="333333"/>
            </a:solidFill>
            <a:prstDash val="solid"/>
          </a:ln>
        </p:spPr>
      </p:sp>
      <p:sp>
        <p:nvSpPr>
          <p:cNvPr id="10" name="Text 8"/>
          <p:cNvSpPr/>
          <p:nvPr/>
        </p:nvSpPr>
        <p:spPr>
          <a:xfrm>
            <a:off x="914400" y="2624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353312" y="2395728"/>
            <a:ext cx="42062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Serve predictions over a standardised API</a:t>
            </a:r>
            <a:endParaRPr lang="en-US" sz="1400" dirty="0"/>
          </a:p>
        </p:txBody>
      </p:sp>
      <p:sp>
        <p:nvSpPr>
          <p:cNvPr id="12" name="Text 10"/>
          <p:cNvSpPr/>
          <p:nvPr/>
        </p:nvSpPr>
        <p:spPr>
          <a:xfrm>
            <a:off x="5669280" y="2395728"/>
            <a:ext cx="5669280" cy="731520"/>
          </a:xfrm>
          <a:prstGeom prst="rect">
            <a:avLst/>
          </a:prstGeom>
          <a:noFill/>
          <a:ln/>
        </p:spPr>
        <p:txBody>
          <a:bodyPr wrap="square" lIns="0" tIns="0" rIns="0" bIns="0" rtlCol="0" anchor="ctr"/>
          <a:lstStyle/>
          <a:p>
            <a:pPr indent="0" marL="0">
              <a:buNone/>
            </a:pPr>
            <a:r>
              <a:rPr lang="en-US" sz="1300" dirty="0">
                <a:solidFill>
                  <a:srgbClr val="AEBBC6"/>
                </a:solidFill>
                <a:latin typeface="Calibri" pitchFamily="34" charset="0"/>
                <a:ea typeface="Calibri" pitchFamily="34" charset="-122"/>
                <a:cs typeface="Calibri" pitchFamily="34" charset="-120"/>
              </a:rPr>
              <a:t>Flask REST service: POST /predict, GET /health</a:t>
            </a:r>
            <a:endParaRPr lang="en-US" sz="1300" dirty="0"/>
          </a:p>
        </p:txBody>
      </p:sp>
      <p:sp>
        <p:nvSpPr>
          <p:cNvPr id="13" name="Shape 11"/>
          <p:cNvSpPr/>
          <p:nvPr/>
        </p:nvSpPr>
        <p:spPr>
          <a:xfrm>
            <a:off x="640080" y="3236976"/>
            <a:ext cx="10908792" cy="731520"/>
          </a:xfrm>
          <a:prstGeom prst="roundRect">
            <a:avLst>
              <a:gd name="adj" fmla="val 6250"/>
            </a:avLst>
          </a:prstGeom>
          <a:solidFill>
            <a:srgbClr val="2C3743"/>
          </a:solidFill>
          <a:ln w="12700">
            <a:solidFill>
              <a:srgbClr val="333333"/>
            </a:solidFill>
            <a:prstDash val="solid"/>
          </a:ln>
        </p:spPr>
      </p:sp>
      <p:sp>
        <p:nvSpPr>
          <p:cNvPr id="14" name="Shape 12"/>
          <p:cNvSpPr/>
          <p:nvPr/>
        </p:nvSpPr>
        <p:spPr>
          <a:xfrm>
            <a:off x="914400" y="3465576"/>
            <a:ext cx="274320" cy="274320"/>
          </a:xfrm>
          <a:prstGeom prst="ellipse">
            <a:avLst/>
          </a:prstGeom>
          <a:solidFill>
            <a:srgbClr val="3E7C59"/>
          </a:solidFill>
          <a:ln w="12700">
            <a:solidFill>
              <a:srgbClr val="333333"/>
            </a:solidFill>
            <a:prstDash val="solid"/>
          </a:ln>
        </p:spPr>
      </p:sp>
      <p:sp>
        <p:nvSpPr>
          <p:cNvPr id="15" name="Text 13"/>
          <p:cNvSpPr/>
          <p:nvPr/>
        </p:nvSpPr>
        <p:spPr>
          <a:xfrm>
            <a:off x="914400" y="346557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1353312" y="3236976"/>
            <a:ext cx="42062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 monitorable</a:t>
            </a:r>
            <a:endParaRPr lang="en-US" sz="1400" dirty="0"/>
          </a:p>
        </p:txBody>
      </p:sp>
      <p:sp>
        <p:nvSpPr>
          <p:cNvPr id="17" name="Text 15"/>
          <p:cNvSpPr/>
          <p:nvPr/>
        </p:nvSpPr>
        <p:spPr>
          <a:xfrm>
            <a:off x="5669280" y="3236976"/>
            <a:ext cx="5669280" cy="731520"/>
          </a:xfrm>
          <a:prstGeom prst="rect">
            <a:avLst/>
          </a:prstGeom>
          <a:noFill/>
          <a:ln/>
        </p:spPr>
        <p:txBody>
          <a:bodyPr wrap="square" lIns="0" tIns="0" rIns="0" bIns="0" rtlCol="0" anchor="ctr"/>
          <a:lstStyle/>
          <a:p>
            <a:pPr indent="0" marL="0">
              <a:buNone/>
            </a:pPr>
            <a:r>
              <a:rPr lang="en-US" sz="1300" dirty="0">
                <a:solidFill>
                  <a:srgbClr val="AEBBC6"/>
                </a:solidFill>
                <a:latin typeface="Calibri" pitchFamily="34" charset="0"/>
                <a:ea typeface="Calibri" pitchFamily="34" charset="-122"/>
                <a:cs typeface="Calibri" pitchFamily="34" charset="-120"/>
              </a:rPr>
              <a:t>Health endpoint, full prediction log, drift signal</a:t>
            </a:r>
            <a:endParaRPr lang="en-US" sz="1300" dirty="0"/>
          </a:p>
        </p:txBody>
      </p:sp>
      <p:sp>
        <p:nvSpPr>
          <p:cNvPr id="18" name="Shape 16"/>
          <p:cNvSpPr/>
          <p:nvPr/>
        </p:nvSpPr>
        <p:spPr>
          <a:xfrm>
            <a:off x="640080" y="4078224"/>
            <a:ext cx="10908792" cy="731520"/>
          </a:xfrm>
          <a:prstGeom prst="roundRect">
            <a:avLst>
              <a:gd name="adj" fmla="val 6250"/>
            </a:avLst>
          </a:prstGeom>
          <a:solidFill>
            <a:srgbClr val="2C3743"/>
          </a:solidFill>
          <a:ln w="12700">
            <a:solidFill>
              <a:srgbClr val="333333"/>
            </a:solidFill>
            <a:prstDash val="solid"/>
          </a:ln>
        </p:spPr>
      </p:sp>
      <p:sp>
        <p:nvSpPr>
          <p:cNvPr id="19" name="Shape 17"/>
          <p:cNvSpPr/>
          <p:nvPr/>
        </p:nvSpPr>
        <p:spPr>
          <a:xfrm>
            <a:off x="914400" y="4306824"/>
            <a:ext cx="274320" cy="274320"/>
          </a:xfrm>
          <a:prstGeom prst="ellipse">
            <a:avLst/>
          </a:prstGeom>
          <a:solidFill>
            <a:srgbClr val="3E7C59"/>
          </a:solidFill>
          <a:ln w="12700">
            <a:solidFill>
              <a:srgbClr val="333333"/>
            </a:solidFill>
            <a:prstDash val="solid"/>
          </a:ln>
        </p:spPr>
      </p:sp>
      <p:sp>
        <p:nvSpPr>
          <p:cNvPr id="20" name="Text 18"/>
          <p:cNvSpPr/>
          <p:nvPr/>
        </p:nvSpPr>
        <p:spPr>
          <a:xfrm>
            <a:off x="914400" y="4306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1353312" y="4078224"/>
            <a:ext cx="42062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 maintainable &amp; adaptable</a:t>
            </a:r>
            <a:endParaRPr lang="en-US" sz="1400" dirty="0"/>
          </a:p>
        </p:txBody>
      </p:sp>
      <p:sp>
        <p:nvSpPr>
          <p:cNvPr id="22" name="Text 20"/>
          <p:cNvSpPr/>
          <p:nvPr/>
        </p:nvSpPr>
        <p:spPr>
          <a:xfrm>
            <a:off x="5669280" y="4078224"/>
            <a:ext cx="5669280" cy="731520"/>
          </a:xfrm>
          <a:prstGeom prst="rect">
            <a:avLst/>
          </a:prstGeom>
          <a:noFill/>
          <a:ln/>
        </p:spPr>
        <p:txBody>
          <a:bodyPr wrap="square" lIns="0" tIns="0" rIns="0" bIns="0" rtlCol="0" anchor="ctr"/>
          <a:lstStyle/>
          <a:p>
            <a:pPr indent="0" marL="0">
              <a:buNone/>
            </a:pPr>
            <a:r>
              <a:rPr lang="en-US" sz="1300" dirty="0">
                <a:solidFill>
                  <a:srgbClr val="AEBBC6"/>
                </a:solidFill>
                <a:latin typeface="Calibri" pitchFamily="34" charset="0"/>
                <a:ea typeface="Calibri" pitchFamily="34" charset="-122"/>
                <a:cs typeface="Calibri" pitchFamily="34" charset="-120"/>
              </a:rPr>
              <a:t>Four small scripts; retrain and swap model.pkl, contract unchanged</a:t>
            </a:r>
            <a:endParaRPr lang="en-US" sz="1300" dirty="0"/>
          </a:p>
        </p:txBody>
      </p:sp>
      <p:sp>
        <p:nvSpPr>
          <p:cNvPr id="23" name="Shape 21"/>
          <p:cNvSpPr/>
          <p:nvPr/>
        </p:nvSpPr>
        <p:spPr>
          <a:xfrm>
            <a:off x="640080" y="4919472"/>
            <a:ext cx="10908792" cy="731520"/>
          </a:xfrm>
          <a:prstGeom prst="roundRect">
            <a:avLst>
              <a:gd name="adj" fmla="val 6250"/>
            </a:avLst>
          </a:prstGeom>
          <a:solidFill>
            <a:srgbClr val="2C3743"/>
          </a:solidFill>
          <a:ln w="12700">
            <a:solidFill>
              <a:srgbClr val="333333"/>
            </a:solidFill>
            <a:prstDash val="solid"/>
          </a:ln>
        </p:spPr>
      </p:sp>
      <p:sp>
        <p:nvSpPr>
          <p:cNvPr id="24" name="Shape 22"/>
          <p:cNvSpPr/>
          <p:nvPr/>
        </p:nvSpPr>
        <p:spPr>
          <a:xfrm>
            <a:off x="914400" y="5148072"/>
            <a:ext cx="274320" cy="274320"/>
          </a:xfrm>
          <a:prstGeom prst="ellipse">
            <a:avLst/>
          </a:prstGeom>
          <a:solidFill>
            <a:srgbClr val="3E7C59"/>
          </a:solidFill>
          <a:ln w="12700">
            <a:solidFill>
              <a:srgbClr val="333333"/>
            </a:solidFill>
            <a:prstDash val="solid"/>
          </a:ln>
        </p:spPr>
      </p:sp>
      <p:sp>
        <p:nvSpPr>
          <p:cNvPr id="25" name="Text 23"/>
          <p:cNvSpPr/>
          <p:nvPr/>
        </p:nvSpPr>
        <p:spPr>
          <a:xfrm>
            <a:off x="914400" y="51480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353312" y="4919472"/>
            <a:ext cx="42062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 scalable</a:t>
            </a:r>
            <a:endParaRPr lang="en-US" sz="1400" dirty="0"/>
          </a:p>
        </p:txBody>
      </p:sp>
      <p:sp>
        <p:nvSpPr>
          <p:cNvPr id="27" name="Text 25"/>
          <p:cNvSpPr/>
          <p:nvPr/>
        </p:nvSpPr>
        <p:spPr>
          <a:xfrm>
            <a:off x="5669280" y="4919472"/>
            <a:ext cx="5669280" cy="731520"/>
          </a:xfrm>
          <a:prstGeom prst="rect">
            <a:avLst/>
          </a:prstGeom>
          <a:noFill/>
          <a:ln/>
        </p:spPr>
        <p:txBody>
          <a:bodyPr wrap="square" lIns="0" tIns="0" rIns="0" bIns="0" rtlCol="0" anchor="ctr"/>
          <a:lstStyle/>
          <a:p>
            <a:pPr indent="0" marL="0">
              <a:buNone/>
            </a:pPr>
            <a:r>
              <a:rPr lang="en-US" sz="1300" dirty="0">
                <a:solidFill>
                  <a:srgbClr val="AEBBC6"/>
                </a:solidFill>
                <a:latin typeface="Calibri" pitchFamily="34" charset="0"/>
                <a:ea typeface="Calibri" pitchFamily="34" charset="-122"/>
                <a:cs typeface="Calibri" pitchFamily="34" charset="-120"/>
              </a:rPr>
              <a:t>Stateless design — replicate the API to add capacity</a:t>
            </a:r>
            <a:endParaRPr lang="en-US" sz="1300" dirty="0"/>
          </a:p>
        </p:txBody>
      </p:sp>
      <p:sp>
        <p:nvSpPr>
          <p:cNvPr id="28" name="Text 26"/>
          <p:cNvSpPr/>
          <p:nvPr/>
        </p:nvSpPr>
        <p:spPr>
          <a:xfrm>
            <a:off x="640080" y="5806440"/>
            <a:ext cx="10908792" cy="457200"/>
          </a:xfrm>
          <a:prstGeom prst="rect">
            <a:avLst/>
          </a:prstGeom>
          <a:noFill/>
          <a:ln/>
        </p:spPr>
        <p:txBody>
          <a:bodyPr wrap="square" lIns="0" tIns="0" rIns="0" bIns="0" rtlCol="0" anchor="ctr"/>
          <a:lstStyle/>
          <a:p>
            <a:pPr indent="0" marL="0">
              <a:buNone/>
            </a:pPr>
            <a:r>
              <a:rPr lang="en-US" sz="1300" i="1" dirty="0">
                <a:solidFill>
                  <a:srgbClr val="D4881F"/>
                </a:solidFill>
                <a:latin typeface="Calibri" pitchFamily="34" charset="0"/>
                <a:ea typeface="Calibri" pitchFamily="34" charset="-122"/>
                <a:cs typeface="Calibri" pitchFamily="34" charset="-120"/>
              </a:rPr>
              <a:t>The requirement the task called the most work-intensive — putting the model into production — is the part that is fully delivered. The model itself is deliberately simple, exactly as the brief asked.</a:t>
            </a:r>
            <a:endParaRPr lang="en-US" sz="1300" dirty="0"/>
          </a:p>
        </p:txBody>
      </p:sp>
      <p:sp>
        <p:nvSpPr>
          <p:cNvPr id="29" name="Text 27"/>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30" name="Text 28"/>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List of figures</a:t>
            </a:r>
            <a:endParaRPr lang="en-US" sz="3200" dirty="0"/>
          </a:p>
        </p:txBody>
      </p:sp>
      <p:sp>
        <p:nvSpPr>
          <p:cNvPr id="3" name="Shape 1"/>
          <p:cNvSpPr/>
          <p:nvPr/>
        </p:nvSpPr>
        <p:spPr>
          <a:xfrm>
            <a:off x="640080" y="1600200"/>
            <a:ext cx="10908792" cy="530352"/>
          </a:xfrm>
          <a:prstGeom prst="roundRect">
            <a:avLst>
              <a:gd name="adj" fmla="val 8621"/>
            </a:avLst>
          </a:prstGeom>
          <a:solidFill>
            <a:srgbClr val="F4F6F7"/>
          </a:solidFill>
          <a:ln w="12700">
            <a:solidFill>
              <a:srgbClr val="F4F6F7"/>
            </a:solidFill>
            <a:prstDash val="solid"/>
          </a:ln>
        </p:spPr>
      </p:sp>
      <p:sp>
        <p:nvSpPr>
          <p:cNvPr id="4" name="Text 2"/>
          <p:cNvSpPr/>
          <p:nvPr/>
        </p:nvSpPr>
        <p:spPr>
          <a:xfrm>
            <a:off x="914400" y="1600200"/>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1</a:t>
            </a:r>
            <a:endParaRPr lang="en-US" sz="1200" dirty="0"/>
          </a:p>
        </p:txBody>
      </p:sp>
      <p:sp>
        <p:nvSpPr>
          <p:cNvPr id="5" name="Text 3"/>
          <p:cNvSpPr/>
          <p:nvPr/>
        </p:nvSpPr>
        <p:spPr>
          <a:xfrm>
            <a:off x="1965960" y="1600200"/>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Conceptual architecture of the anomaly-detection service</a:t>
            </a:r>
            <a:endParaRPr lang="en-US" sz="1200" dirty="0"/>
          </a:p>
        </p:txBody>
      </p:sp>
      <p:sp>
        <p:nvSpPr>
          <p:cNvPr id="6" name="Text 4"/>
          <p:cNvSpPr/>
          <p:nvPr/>
        </p:nvSpPr>
        <p:spPr>
          <a:xfrm>
            <a:off x="8138160" y="1600200"/>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illustration</a:t>
            </a:r>
            <a:endParaRPr lang="en-US" sz="1100" dirty="0"/>
          </a:p>
        </p:txBody>
      </p:sp>
      <p:sp>
        <p:nvSpPr>
          <p:cNvPr id="7" name="Text 5"/>
          <p:cNvSpPr/>
          <p:nvPr/>
        </p:nvSpPr>
        <p:spPr>
          <a:xfrm>
            <a:off x="10149840" y="1600200"/>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6</a:t>
            </a:r>
            <a:endParaRPr lang="en-US" sz="1100" dirty="0"/>
          </a:p>
        </p:txBody>
      </p:sp>
      <p:sp>
        <p:nvSpPr>
          <p:cNvPr id="8" name="Shape 6"/>
          <p:cNvSpPr/>
          <p:nvPr/>
        </p:nvSpPr>
        <p:spPr>
          <a:xfrm>
            <a:off x="640080" y="2221992"/>
            <a:ext cx="10908792" cy="530352"/>
          </a:xfrm>
          <a:prstGeom prst="roundRect">
            <a:avLst>
              <a:gd name="adj" fmla="val 8621"/>
            </a:avLst>
          </a:prstGeom>
          <a:solidFill>
            <a:srgbClr val="FFFFFF"/>
          </a:solidFill>
          <a:ln w="12700">
            <a:solidFill>
              <a:srgbClr val="F4F6F7"/>
            </a:solidFill>
            <a:prstDash val="solid"/>
          </a:ln>
        </p:spPr>
      </p:sp>
      <p:sp>
        <p:nvSpPr>
          <p:cNvPr id="9" name="Text 7"/>
          <p:cNvSpPr/>
          <p:nvPr/>
        </p:nvSpPr>
        <p:spPr>
          <a:xfrm>
            <a:off x="914400" y="2221992"/>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2</a:t>
            </a:r>
            <a:endParaRPr lang="en-US" sz="1200" dirty="0"/>
          </a:p>
        </p:txBody>
      </p:sp>
      <p:sp>
        <p:nvSpPr>
          <p:cNvPr id="10" name="Text 8"/>
          <p:cNvSpPr/>
          <p:nvPr/>
        </p:nvSpPr>
        <p:spPr>
          <a:xfrm>
            <a:off x="1965960" y="2221992"/>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Planted anomalies against normal operation (temperature vs. sound)</a:t>
            </a:r>
            <a:endParaRPr lang="en-US" sz="1200" dirty="0"/>
          </a:p>
        </p:txBody>
      </p:sp>
      <p:sp>
        <p:nvSpPr>
          <p:cNvPr id="11" name="Text 9"/>
          <p:cNvSpPr/>
          <p:nvPr/>
        </p:nvSpPr>
        <p:spPr>
          <a:xfrm>
            <a:off x="8138160" y="2221992"/>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illustration</a:t>
            </a:r>
            <a:endParaRPr lang="en-US" sz="1100" dirty="0"/>
          </a:p>
        </p:txBody>
      </p:sp>
      <p:sp>
        <p:nvSpPr>
          <p:cNvPr id="12" name="Text 10"/>
          <p:cNvSpPr/>
          <p:nvPr/>
        </p:nvSpPr>
        <p:spPr>
          <a:xfrm>
            <a:off x="10149840" y="2221992"/>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8</a:t>
            </a:r>
            <a:endParaRPr lang="en-US" sz="1100" dirty="0"/>
          </a:p>
        </p:txBody>
      </p:sp>
      <p:sp>
        <p:nvSpPr>
          <p:cNvPr id="13" name="Shape 11"/>
          <p:cNvSpPr/>
          <p:nvPr/>
        </p:nvSpPr>
        <p:spPr>
          <a:xfrm>
            <a:off x="640080" y="2843784"/>
            <a:ext cx="10908792" cy="530352"/>
          </a:xfrm>
          <a:prstGeom prst="roundRect">
            <a:avLst>
              <a:gd name="adj" fmla="val 8621"/>
            </a:avLst>
          </a:prstGeom>
          <a:solidFill>
            <a:srgbClr val="F4F6F7"/>
          </a:solidFill>
          <a:ln w="12700">
            <a:solidFill>
              <a:srgbClr val="F4F6F7"/>
            </a:solidFill>
            <a:prstDash val="solid"/>
          </a:ln>
        </p:spPr>
      </p:sp>
      <p:sp>
        <p:nvSpPr>
          <p:cNvPr id="14" name="Text 12"/>
          <p:cNvSpPr/>
          <p:nvPr/>
        </p:nvSpPr>
        <p:spPr>
          <a:xfrm>
            <a:off x="914400" y="2843784"/>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3</a:t>
            </a:r>
            <a:endParaRPr lang="en-US" sz="1200" dirty="0"/>
          </a:p>
        </p:txBody>
      </p:sp>
      <p:sp>
        <p:nvSpPr>
          <p:cNvPr id="15" name="Text 13"/>
          <p:cNvSpPr/>
          <p:nvPr/>
        </p:nvSpPr>
        <p:spPr>
          <a:xfrm>
            <a:off x="1965960" y="2843784"/>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Console output of create_model.py (confusion matrix, classification report)</a:t>
            </a:r>
            <a:endParaRPr lang="en-US" sz="1200" dirty="0"/>
          </a:p>
        </p:txBody>
      </p:sp>
      <p:sp>
        <p:nvSpPr>
          <p:cNvPr id="16" name="Text 14"/>
          <p:cNvSpPr/>
          <p:nvPr/>
        </p:nvSpPr>
        <p:spPr>
          <a:xfrm>
            <a:off x="8138160" y="2843784"/>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screenshot</a:t>
            </a:r>
            <a:endParaRPr lang="en-US" sz="1100" dirty="0"/>
          </a:p>
        </p:txBody>
      </p:sp>
      <p:sp>
        <p:nvSpPr>
          <p:cNvPr id="17" name="Text 15"/>
          <p:cNvSpPr/>
          <p:nvPr/>
        </p:nvSpPr>
        <p:spPr>
          <a:xfrm>
            <a:off x="10149840" y="2843784"/>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10</a:t>
            </a:r>
            <a:endParaRPr lang="en-US" sz="1100" dirty="0"/>
          </a:p>
        </p:txBody>
      </p:sp>
      <p:sp>
        <p:nvSpPr>
          <p:cNvPr id="18" name="Shape 16"/>
          <p:cNvSpPr/>
          <p:nvPr/>
        </p:nvSpPr>
        <p:spPr>
          <a:xfrm>
            <a:off x="640080" y="3465576"/>
            <a:ext cx="10908792" cy="530352"/>
          </a:xfrm>
          <a:prstGeom prst="roundRect">
            <a:avLst>
              <a:gd name="adj" fmla="val 8621"/>
            </a:avLst>
          </a:prstGeom>
          <a:solidFill>
            <a:srgbClr val="FFFFFF"/>
          </a:solidFill>
          <a:ln w="12700">
            <a:solidFill>
              <a:srgbClr val="F4F6F7"/>
            </a:solidFill>
            <a:prstDash val="solid"/>
          </a:ln>
        </p:spPr>
      </p:sp>
      <p:sp>
        <p:nvSpPr>
          <p:cNvPr id="19" name="Text 17"/>
          <p:cNvSpPr/>
          <p:nvPr/>
        </p:nvSpPr>
        <p:spPr>
          <a:xfrm>
            <a:off x="914400" y="3465576"/>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4</a:t>
            </a:r>
            <a:endParaRPr lang="en-US" sz="1200" dirty="0"/>
          </a:p>
        </p:txBody>
      </p:sp>
      <p:sp>
        <p:nvSpPr>
          <p:cNvPr id="20" name="Text 18"/>
          <p:cNvSpPr/>
          <p:nvPr/>
        </p:nvSpPr>
        <p:spPr>
          <a:xfrm>
            <a:off x="1965960" y="3465576"/>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Flask REST API responding to a /predict request</a:t>
            </a:r>
            <a:endParaRPr lang="en-US" sz="1200" dirty="0"/>
          </a:p>
        </p:txBody>
      </p:sp>
      <p:sp>
        <p:nvSpPr>
          <p:cNvPr id="21" name="Text 19"/>
          <p:cNvSpPr/>
          <p:nvPr/>
        </p:nvSpPr>
        <p:spPr>
          <a:xfrm>
            <a:off x="8138160" y="3465576"/>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screenshot</a:t>
            </a:r>
            <a:endParaRPr lang="en-US" sz="1100" dirty="0"/>
          </a:p>
        </p:txBody>
      </p:sp>
      <p:sp>
        <p:nvSpPr>
          <p:cNvPr id="22" name="Text 20"/>
          <p:cNvSpPr/>
          <p:nvPr/>
        </p:nvSpPr>
        <p:spPr>
          <a:xfrm>
            <a:off x="10149840" y="3465576"/>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11</a:t>
            </a:r>
            <a:endParaRPr lang="en-US" sz="1100" dirty="0"/>
          </a:p>
        </p:txBody>
      </p:sp>
      <p:sp>
        <p:nvSpPr>
          <p:cNvPr id="23" name="Shape 21"/>
          <p:cNvSpPr/>
          <p:nvPr/>
        </p:nvSpPr>
        <p:spPr>
          <a:xfrm>
            <a:off x="640080" y="4087368"/>
            <a:ext cx="10908792" cy="530352"/>
          </a:xfrm>
          <a:prstGeom prst="roundRect">
            <a:avLst>
              <a:gd name="adj" fmla="val 8621"/>
            </a:avLst>
          </a:prstGeom>
          <a:solidFill>
            <a:srgbClr val="F4F6F7"/>
          </a:solidFill>
          <a:ln w="12700">
            <a:solidFill>
              <a:srgbClr val="F4F6F7"/>
            </a:solidFill>
            <a:prstDash val="solid"/>
          </a:ln>
        </p:spPr>
      </p:sp>
      <p:sp>
        <p:nvSpPr>
          <p:cNvPr id="24" name="Text 22"/>
          <p:cNvSpPr/>
          <p:nvPr/>
        </p:nvSpPr>
        <p:spPr>
          <a:xfrm>
            <a:off x="914400" y="4087368"/>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5</a:t>
            </a:r>
            <a:endParaRPr lang="en-US" sz="1200" dirty="0"/>
          </a:p>
        </p:txBody>
      </p:sp>
      <p:sp>
        <p:nvSpPr>
          <p:cNvPr id="25" name="Text 23"/>
          <p:cNvSpPr/>
          <p:nvPr/>
        </p:nvSpPr>
        <p:spPr>
          <a:xfrm>
            <a:off x="1965960" y="4087368"/>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Live output of stream_simulator.py with anomaly alerts</a:t>
            </a:r>
            <a:endParaRPr lang="en-US" sz="1200" dirty="0"/>
          </a:p>
        </p:txBody>
      </p:sp>
      <p:sp>
        <p:nvSpPr>
          <p:cNvPr id="26" name="Text 24"/>
          <p:cNvSpPr/>
          <p:nvPr/>
        </p:nvSpPr>
        <p:spPr>
          <a:xfrm>
            <a:off x="8138160" y="4087368"/>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screenshot</a:t>
            </a:r>
            <a:endParaRPr lang="en-US" sz="1100" dirty="0"/>
          </a:p>
        </p:txBody>
      </p:sp>
      <p:sp>
        <p:nvSpPr>
          <p:cNvPr id="27" name="Text 25"/>
          <p:cNvSpPr/>
          <p:nvPr/>
        </p:nvSpPr>
        <p:spPr>
          <a:xfrm>
            <a:off x="10149840" y="4087368"/>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12</a:t>
            </a:r>
            <a:endParaRPr lang="en-US" sz="1100" dirty="0"/>
          </a:p>
        </p:txBody>
      </p:sp>
      <p:sp>
        <p:nvSpPr>
          <p:cNvPr id="28" name="Shape 26"/>
          <p:cNvSpPr/>
          <p:nvPr/>
        </p:nvSpPr>
        <p:spPr>
          <a:xfrm>
            <a:off x="640080" y="4709160"/>
            <a:ext cx="10908792" cy="530352"/>
          </a:xfrm>
          <a:prstGeom prst="roundRect">
            <a:avLst>
              <a:gd name="adj" fmla="val 8621"/>
            </a:avLst>
          </a:prstGeom>
          <a:solidFill>
            <a:srgbClr val="FFFFFF"/>
          </a:solidFill>
          <a:ln w="12700">
            <a:solidFill>
              <a:srgbClr val="F4F6F7"/>
            </a:solidFill>
            <a:prstDash val="solid"/>
          </a:ln>
        </p:spPr>
      </p:sp>
      <p:sp>
        <p:nvSpPr>
          <p:cNvPr id="29" name="Text 27"/>
          <p:cNvSpPr/>
          <p:nvPr/>
        </p:nvSpPr>
        <p:spPr>
          <a:xfrm>
            <a:off x="914400" y="4709160"/>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6</a:t>
            </a:r>
            <a:endParaRPr lang="en-US" sz="1200" dirty="0"/>
          </a:p>
        </p:txBody>
      </p:sp>
      <p:sp>
        <p:nvSpPr>
          <p:cNvPr id="30" name="Text 28"/>
          <p:cNvSpPr/>
          <p:nvPr/>
        </p:nvSpPr>
        <p:spPr>
          <a:xfrm>
            <a:off x="1965960" y="4709160"/>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Anomaly score for every reading of one recorded stream run</a:t>
            </a:r>
            <a:endParaRPr lang="en-US" sz="1200" dirty="0"/>
          </a:p>
        </p:txBody>
      </p:sp>
      <p:sp>
        <p:nvSpPr>
          <p:cNvPr id="31" name="Text 29"/>
          <p:cNvSpPr/>
          <p:nvPr/>
        </p:nvSpPr>
        <p:spPr>
          <a:xfrm>
            <a:off x="8138160" y="4709160"/>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illustration</a:t>
            </a:r>
            <a:endParaRPr lang="en-US" sz="1100" dirty="0"/>
          </a:p>
        </p:txBody>
      </p:sp>
      <p:sp>
        <p:nvSpPr>
          <p:cNvPr id="32" name="Text 30"/>
          <p:cNvSpPr/>
          <p:nvPr/>
        </p:nvSpPr>
        <p:spPr>
          <a:xfrm>
            <a:off x="10149840" y="4709160"/>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12</a:t>
            </a:r>
            <a:endParaRPr lang="en-US" sz="1100" dirty="0"/>
          </a:p>
        </p:txBody>
      </p:sp>
      <p:sp>
        <p:nvSpPr>
          <p:cNvPr id="33" name="Shape 31"/>
          <p:cNvSpPr/>
          <p:nvPr/>
        </p:nvSpPr>
        <p:spPr>
          <a:xfrm>
            <a:off x="640080" y="5330952"/>
            <a:ext cx="10908792" cy="530352"/>
          </a:xfrm>
          <a:prstGeom prst="roundRect">
            <a:avLst>
              <a:gd name="adj" fmla="val 8621"/>
            </a:avLst>
          </a:prstGeom>
          <a:solidFill>
            <a:srgbClr val="F4F6F7"/>
          </a:solidFill>
          <a:ln w="12700">
            <a:solidFill>
              <a:srgbClr val="F4F6F7"/>
            </a:solidFill>
            <a:prstDash val="solid"/>
          </a:ln>
        </p:spPr>
      </p:sp>
      <p:sp>
        <p:nvSpPr>
          <p:cNvPr id="34" name="Text 32"/>
          <p:cNvSpPr/>
          <p:nvPr/>
        </p:nvSpPr>
        <p:spPr>
          <a:xfrm>
            <a:off x="914400" y="5330952"/>
            <a:ext cx="1005840" cy="530352"/>
          </a:xfrm>
          <a:prstGeom prst="rect">
            <a:avLst/>
          </a:prstGeom>
          <a:noFill/>
          <a:ln/>
        </p:spPr>
        <p:txBody>
          <a:bodyPr wrap="square" lIns="0" tIns="0" rIns="0" bIns="0" rtlCol="0" anchor="ctr"/>
          <a:lstStyle/>
          <a:p>
            <a:pPr indent="0" marL="0">
              <a:buNone/>
            </a:pPr>
            <a:r>
              <a:rPr lang="en-US" sz="1200" b="1" dirty="0">
                <a:solidFill>
                  <a:srgbClr val="D4881F"/>
                </a:solidFill>
                <a:latin typeface="Calibri" pitchFamily="34" charset="0"/>
                <a:ea typeface="Calibri" pitchFamily="34" charset="-122"/>
                <a:cs typeface="Calibri" pitchFamily="34" charset="-120"/>
              </a:rPr>
              <a:t>Figure 7</a:t>
            </a:r>
            <a:endParaRPr lang="en-US" sz="1200" dirty="0"/>
          </a:p>
        </p:txBody>
      </p:sp>
      <p:sp>
        <p:nvSpPr>
          <p:cNvPr id="35" name="Text 33"/>
          <p:cNvSpPr/>
          <p:nvPr/>
        </p:nvSpPr>
        <p:spPr>
          <a:xfrm>
            <a:off x="1965960" y="5330952"/>
            <a:ext cx="6035040" cy="530352"/>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Extract from predictions.log</a:t>
            </a:r>
            <a:endParaRPr lang="en-US" sz="1200" dirty="0"/>
          </a:p>
        </p:txBody>
      </p:sp>
      <p:sp>
        <p:nvSpPr>
          <p:cNvPr id="36" name="Text 34"/>
          <p:cNvSpPr/>
          <p:nvPr/>
        </p:nvSpPr>
        <p:spPr>
          <a:xfrm>
            <a:off x="8138160" y="5330952"/>
            <a:ext cx="2011680" cy="530352"/>
          </a:xfrm>
          <a:prstGeom prst="rect">
            <a:avLst/>
          </a:prstGeom>
          <a:noFill/>
          <a:ln/>
        </p:spPr>
        <p:txBody>
          <a:bodyPr wrap="square" lIns="0" tIns="0" rIns="0" bIns="0" rtlCol="0" anchor="ctr"/>
          <a:lstStyle/>
          <a:p>
            <a:pPr indent="0" marL="0">
              <a:buNone/>
            </a:pPr>
            <a:r>
              <a:rPr lang="en-US" sz="1100" i="1" dirty="0">
                <a:solidFill>
                  <a:srgbClr val="4A5866"/>
                </a:solidFill>
                <a:latin typeface="Calibri" pitchFamily="34" charset="0"/>
                <a:ea typeface="Calibri" pitchFamily="34" charset="-122"/>
                <a:cs typeface="Calibri" pitchFamily="34" charset="-120"/>
              </a:rPr>
              <a:t>Own screenshot</a:t>
            </a:r>
            <a:endParaRPr lang="en-US" sz="1100" dirty="0"/>
          </a:p>
        </p:txBody>
      </p:sp>
      <p:sp>
        <p:nvSpPr>
          <p:cNvPr id="37" name="Text 35"/>
          <p:cNvSpPr/>
          <p:nvPr/>
        </p:nvSpPr>
        <p:spPr>
          <a:xfrm>
            <a:off x="10149840" y="5330952"/>
            <a:ext cx="1097280" cy="530352"/>
          </a:xfrm>
          <a:prstGeom prst="rect">
            <a:avLst/>
          </a:prstGeom>
          <a:noFill/>
          <a:ln/>
        </p:spPr>
        <p:txBody>
          <a:bodyPr wrap="square" lIns="0" tIns="0" rIns="0" bIns="0" rtlCol="0" anchor="ctr"/>
          <a:lstStyle/>
          <a:p>
            <a:pPr algn="r" indent="0" marL="0">
              <a:buNone/>
            </a:pPr>
            <a:r>
              <a:rPr lang="en-US" sz="1100" dirty="0">
                <a:solidFill>
                  <a:srgbClr val="8A98A5"/>
                </a:solidFill>
                <a:latin typeface="Calibri" pitchFamily="34" charset="0"/>
                <a:ea typeface="Calibri" pitchFamily="34" charset="-122"/>
                <a:cs typeface="Calibri" pitchFamily="34" charset="-120"/>
              </a:rPr>
              <a:t>Slide 13</a:t>
            </a:r>
            <a:endParaRPr lang="en-US" sz="1100" dirty="0"/>
          </a:p>
        </p:txBody>
      </p:sp>
      <p:sp>
        <p:nvSpPr>
          <p:cNvPr id="38" name="Text 36"/>
          <p:cNvSpPr/>
          <p:nvPr/>
        </p:nvSpPr>
        <p:spPr>
          <a:xfrm>
            <a:off x="640080" y="5989320"/>
            <a:ext cx="10881360" cy="320040"/>
          </a:xfrm>
          <a:prstGeom prst="rect">
            <a:avLst/>
          </a:prstGeom>
          <a:noFill/>
          <a:ln/>
        </p:spPr>
        <p:txBody>
          <a:bodyPr wrap="square" lIns="0" tIns="0" rIns="0" bIns="0" rtlCol="0" anchor="ctr"/>
          <a:lstStyle/>
          <a:p>
            <a:pPr indent="0" marL="0">
              <a:buNone/>
            </a:pPr>
            <a:r>
              <a:rPr lang="en-US" sz="1150" i="1" dirty="0">
                <a:solidFill>
                  <a:srgbClr val="8A98A5"/>
                </a:solidFill>
                <a:latin typeface="Calibri" pitchFamily="34" charset="0"/>
                <a:ea typeface="Calibri" pitchFamily="34" charset="-122"/>
                <a:cs typeface="Calibri" pitchFamily="34" charset="-120"/>
              </a:rPr>
              <a:t>All figures in this presentation are own work; no third-party images were used.</a:t>
            </a:r>
            <a:endParaRPr lang="en-US" sz="1150" dirty="0"/>
          </a:p>
        </p:txBody>
      </p:sp>
      <p:sp>
        <p:nvSpPr>
          <p:cNvPr id="39" name="Text 37"/>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40" name="Text 38"/>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Reference list</a:t>
            </a:r>
            <a:endParaRPr lang="en-US" sz="3200" dirty="0"/>
          </a:p>
        </p:txBody>
      </p:sp>
      <p:sp>
        <p:nvSpPr>
          <p:cNvPr id="3" name="Text 1"/>
          <p:cNvSpPr/>
          <p:nvPr/>
        </p:nvSpPr>
        <p:spPr>
          <a:xfrm>
            <a:off x="640080" y="1600200"/>
            <a:ext cx="10881360" cy="4297680"/>
          </a:xfrm>
          <a:prstGeom prst="rect">
            <a:avLst/>
          </a:prstGeom>
          <a:noFill/>
          <a:ln/>
        </p:spPr>
        <p:txBody>
          <a:bodyPr wrap="square" lIns="0" tIns="0" rIns="0" bIns="0" rtlCol="0" anchor="t"/>
          <a:lstStyle/>
          <a:p>
            <a:pPr indent="0" marL="0">
              <a:spcAft>
                <a:spcPts val="1300"/>
              </a:spcAft>
              <a:buNone/>
            </a:pPr>
            <a:r>
              <a:rPr lang="en-US" sz="1250" dirty="0">
                <a:solidFill>
                  <a:srgbClr val="4A5866"/>
                </a:solidFill>
                <a:latin typeface="Calibri" pitchFamily="34" charset="0"/>
                <a:ea typeface="Calibri" pitchFamily="34" charset="-122"/>
                <a:cs typeface="Calibri" pitchFamily="34" charset="-120"/>
              </a:rPr>
              <a:t>Liu, F. T., Ting, K. M., &amp; Zhou, Z.-H. (2008). Isolation forest. In 2008 Eighth IEEE International Conference on Data Mining (pp. 413–422). IEEE. https://doi.org/10.1109/ICDM.2008.17</a:t>
            </a:r>
            <a:endParaRPr lang="en-US" sz="1250" dirty="0"/>
          </a:p>
          <a:p>
            <a:pPr indent="0" marL="0">
              <a:spcAft>
                <a:spcPts val="1300"/>
              </a:spcAft>
              <a:buNone/>
            </a:pPr>
            <a:r>
              <a:rPr lang="en-US" sz="1250" dirty="0">
                <a:solidFill>
                  <a:srgbClr val="4A5866"/>
                </a:solidFill>
                <a:latin typeface="Calibri" pitchFamily="34" charset="0"/>
                <a:ea typeface="Calibri" pitchFamily="34" charset="-122"/>
                <a:cs typeface="Calibri" pitchFamily="34" charset="-120"/>
              </a:rPr>
              <a:t>Pedregosa, F., Varoquaux, G., Gramfort, A., Michel, V., Thirion, B., Grisel, O., Blondel, M., Prettenhofer, P., Weiss, R., Dubourg, V., Vanderplas, J., Passos, A., Cournapeau, D., Brucher, M., Perrot, M., &amp; Duchesnay, É. (2011). Scikit-learn: Machine learning in Python. Journal of Machine Learning Research, 12, 2825–2830.</a:t>
            </a:r>
            <a:endParaRPr lang="en-US" sz="1250" dirty="0"/>
          </a:p>
          <a:p>
            <a:pPr indent="0" marL="0">
              <a:spcAft>
                <a:spcPts val="1300"/>
              </a:spcAft>
              <a:buNone/>
            </a:pPr>
            <a:r>
              <a:rPr lang="en-US" sz="1250" dirty="0">
                <a:solidFill>
                  <a:srgbClr val="4A5866"/>
                </a:solidFill>
                <a:latin typeface="Calibri" pitchFamily="34" charset="0"/>
                <a:ea typeface="Calibri" pitchFamily="34" charset="-122"/>
                <a:cs typeface="Calibri" pitchFamily="34" charset="-120"/>
              </a:rPr>
              <a:t>Pallets. (2024). Flask documentation (Version 3.0). https://flask.palletsprojects.com/</a:t>
            </a:r>
            <a:endParaRPr lang="en-US" sz="1250" dirty="0"/>
          </a:p>
          <a:p>
            <a:pPr indent="0" marL="0">
              <a:spcAft>
                <a:spcPts val="1300"/>
              </a:spcAft>
              <a:buNone/>
            </a:pPr>
            <a:r>
              <a:rPr lang="en-US" sz="1250" dirty="0">
                <a:solidFill>
                  <a:srgbClr val="4A5866"/>
                </a:solidFill>
                <a:latin typeface="Calibri" pitchFamily="34" charset="0"/>
                <a:ea typeface="Calibri" pitchFamily="34" charset="-122"/>
                <a:cs typeface="Calibri" pitchFamily="34" charset="-120"/>
              </a:rPr>
              <a:t>Scikit-learn developers. (2024). sklearn.ensemble.IsolationForest — API reference. https://scikit-learn.org/stable/modules/generated/sklearn.ensemble.IsolationForest.html</a:t>
            </a:r>
            <a:endParaRPr lang="en-US" sz="1250" dirty="0"/>
          </a:p>
          <a:p>
            <a:pPr indent="0" marL="0">
              <a:spcAft>
                <a:spcPts val="1300"/>
              </a:spcAft>
              <a:buNone/>
            </a:pPr>
            <a:r>
              <a:rPr lang="en-US" sz="1250" dirty="0">
                <a:solidFill>
                  <a:srgbClr val="4A5866"/>
                </a:solidFill>
                <a:latin typeface="Calibri" pitchFamily="34" charset="0"/>
                <a:ea typeface="Calibri" pitchFamily="34" charset="-122"/>
                <a:cs typeface="Calibri" pitchFamily="34" charset="-120"/>
              </a:rPr>
              <a:t>Sculley, D., Holt, G., Golovin, D., Davydov, E., Phillips, T., Ebner, D., Chaudhary, V., Young, M., Crespo, J.-F., &amp; Dennison, D. (2015). Hidden technical debt in machine learning systems. Advances in Neural Information Processing Systems, 28, 2503–2511.</a:t>
            </a:r>
            <a:endParaRPr lang="en-US" sz="1250" dirty="0"/>
          </a:p>
          <a:p>
            <a:pPr indent="0" marL="0">
              <a:spcAft>
                <a:spcPts val="1300"/>
              </a:spcAft>
              <a:buNone/>
            </a:pPr>
            <a:r>
              <a:rPr lang="en-US" sz="1250" dirty="0">
                <a:solidFill>
                  <a:srgbClr val="4A5866"/>
                </a:solidFill>
                <a:latin typeface="Calibri" pitchFamily="34" charset="0"/>
                <a:ea typeface="Calibri" pitchFamily="34" charset="-122"/>
                <a:cs typeface="Calibri" pitchFamily="34" charset="-120"/>
              </a:rPr>
              <a:t>IU International University of Applied Sciences. (2024). Course DLBDSMTP01: Project — From model to production [Course material].</a:t>
            </a:r>
            <a:endParaRPr lang="en-US" sz="1250" dirty="0"/>
          </a:p>
        </p:txBody>
      </p:sp>
      <p:sp>
        <p:nvSpPr>
          <p:cNvPr id="4" name="Text 2"/>
          <p:cNvSpPr/>
          <p:nvPr/>
        </p:nvSpPr>
        <p:spPr>
          <a:xfrm>
            <a:off x="640080" y="5897880"/>
            <a:ext cx="10881360" cy="320040"/>
          </a:xfrm>
          <a:prstGeom prst="rect">
            <a:avLst/>
          </a:prstGeom>
          <a:noFill/>
          <a:ln/>
        </p:spPr>
        <p:txBody>
          <a:bodyPr wrap="square" lIns="0" tIns="0" rIns="0" bIns="0" rtlCol="0" anchor="ctr"/>
          <a:lstStyle/>
          <a:p>
            <a:pPr indent="0" marL="0">
              <a:buNone/>
            </a:pPr>
            <a:r>
              <a:rPr lang="en-US" sz="1100" i="1" dirty="0">
                <a:solidFill>
                  <a:srgbClr val="8A98A5"/>
                </a:solidFill>
                <a:latin typeface="Calibri" pitchFamily="34" charset="0"/>
                <a:ea typeface="Calibri" pitchFamily="34" charset="-122"/>
                <a:cs typeface="Calibri" pitchFamily="34" charset="-120"/>
              </a:rPr>
              <a:t>Citation style: APA 7th edition, in line with the IU General Citation Guidelines.</a:t>
            </a:r>
            <a:endParaRPr lang="en-US" sz="1100" dirty="0"/>
          </a:p>
        </p:txBody>
      </p:sp>
      <p:sp>
        <p:nvSpPr>
          <p:cNvPr id="5" name="Text 3"/>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6" name="Text 4"/>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200" b="1" dirty="0">
                <a:solidFill>
                  <a:srgbClr val="36454F"/>
                </a:solidFill>
                <a:latin typeface="Cambria" pitchFamily="34" charset="0"/>
                <a:ea typeface="Cambria" pitchFamily="34" charset="-122"/>
                <a:cs typeface="Cambria" pitchFamily="34" charset="-120"/>
              </a:rPr>
              <a:t>Follow and reproduce the code</a:t>
            </a:r>
            <a:endParaRPr lang="en-US" sz="3200" dirty="0"/>
          </a:p>
        </p:txBody>
      </p:sp>
      <p:sp>
        <p:nvSpPr>
          <p:cNvPr id="3" name="Shape 1"/>
          <p:cNvSpPr/>
          <p:nvPr/>
        </p:nvSpPr>
        <p:spPr>
          <a:xfrm>
            <a:off x="640080" y="1600200"/>
            <a:ext cx="5760720" cy="4160520"/>
          </a:xfrm>
          <a:prstGeom prst="roundRect">
            <a:avLst>
              <a:gd name="adj" fmla="val 1758"/>
            </a:avLst>
          </a:prstGeom>
          <a:solidFill>
            <a:srgbClr val="F4F6F7"/>
          </a:solidFill>
          <a:ln w="12700">
            <a:solidFill>
              <a:srgbClr val="F4F6F7"/>
            </a:solidFill>
            <a:prstDash val="solid"/>
          </a:ln>
          <a:effectLst>
            <a:outerShdw sx="100000" sy="100000" kx="0" ky="0" algn="bl" rotWithShape="0" blurRad="101600" dist="25400" dir="5400000">
              <a:srgbClr val="AAB4BD">
                <a:alpha val="25000"/>
              </a:srgbClr>
            </a:outerShdw>
          </a:effectLst>
        </p:spPr>
      </p:sp>
      <p:sp>
        <p:nvSpPr>
          <p:cNvPr id="4" name="Text 2"/>
          <p:cNvSpPr/>
          <p:nvPr/>
        </p:nvSpPr>
        <p:spPr>
          <a:xfrm>
            <a:off x="960120" y="1828800"/>
            <a:ext cx="5120640" cy="32004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Repository</a:t>
            </a:r>
            <a:endParaRPr lang="en-US" sz="1700" dirty="0"/>
          </a:p>
        </p:txBody>
      </p:sp>
      <p:sp>
        <p:nvSpPr>
          <p:cNvPr id="5" name="Shape 3"/>
          <p:cNvSpPr/>
          <p:nvPr/>
        </p:nvSpPr>
        <p:spPr>
          <a:xfrm>
            <a:off x="960120" y="2286000"/>
            <a:ext cx="5120640" cy="658368"/>
          </a:xfrm>
          <a:prstGeom prst="roundRect">
            <a:avLst>
              <a:gd name="adj" fmla="val 6944"/>
            </a:avLst>
          </a:prstGeom>
          <a:solidFill>
            <a:srgbClr val="FBF1E1"/>
          </a:solidFill>
          <a:ln w="15875">
            <a:solidFill>
              <a:srgbClr val="D4881F"/>
            </a:solidFill>
            <a:prstDash val="dash"/>
          </a:ln>
        </p:spPr>
      </p:sp>
      <p:sp>
        <p:nvSpPr>
          <p:cNvPr id="6" name="Text 4"/>
          <p:cNvSpPr/>
          <p:nvPr/>
        </p:nvSpPr>
        <p:spPr>
          <a:xfrm>
            <a:off x="960120" y="2286000"/>
            <a:ext cx="5120640" cy="658368"/>
          </a:xfrm>
          <a:prstGeom prst="rect">
            <a:avLst/>
          </a:prstGeom>
          <a:noFill/>
          <a:ln/>
        </p:spPr>
        <p:txBody>
          <a:bodyPr wrap="square" lIns="0" tIns="0" rIns="0" bIns="0" rtlCol="0" anchor="ctr"/>
          <a:lstStyle/>
          <a:p>
            <a:pPr algn="ctr" indent="0" marL="0">
              <a:buNone/>
            </a:pPr>
            <a:r>
              <a:rPr lang="en-US" sz="1300" b="1" dirty="0">
                <a:solidFill>
                  <a:srgbClr val="D4881F"/>
                </a:solidFill>
                <a:latin typeface="Courier New" pitchFamily="34" charset="0"/>
                <a:ea typeface="Courier New" pitchFamily="34" charset="-122"/>
                <a:cs typeface="Courier New" pitchFamily="34" charset="-120"/>
              </a:rPr>
              <a:t>[ PASTE YOUR GITHUB REPOSITORY URL HERE ]</a:t>
            </a:r>
            <a:endParaRPr lang="en-US" sz="1300" dirty="0"/>
          </a:p>
        </p:txBody>
      </p:sp>
      <p:sp>
        <p:nvSpPr>
          <p:cNvPr id="7" name="Text 5"/>
          <p:cNvSpPr/>
          <p:nvPr/>
        </p:nvSpPr>
        <p:spPr>
          <a:xfrm>
            <a:off x="960120" y="3108960"/>
            <a:ext cx="5120640" cy="822960"/>
          </a:xfrm>
          <a:prstGeom prst="rect">
            <a:avLst/>
          </a:prstGeom>
          <a:noFill/>
          <a:ln/>
        </p:spPr>
        <p:txBody>
          <a:bodyPr wrap="square" lIns="0" tIns="0" rIns="0" bIns="0" rtlCol="0" anchor="t"/>
          <a:lstStyle/>
          <a:p>
            <a:pPr indent="0" marL="0">
              <a:buNone/>
            </a:pPr>
            <a:r>
              <a:rPr lang="en-US" sz="1250" dirty="0">
                <a:solidFill>
                  <a:srgbClr val="4A5866"/>
                </a:solidFill>
                <a:latin typeface="Calibri" pitchFamily="34" charset="0"/>
                <a:ea typeface="Calibri" pitchFamily="34" charset="-122"/>
                <a:cs typeface="Calibri" pitchFamily="34" charset="-120"/>
              </a:rPr>
              <a:t>Reproducible from a clean checkout: the data generator is seeded, so the dataset, the trained model and the evaluation metrics come out identical. The stream simulator is not seeded — its figures describe one recorded run.</a:t>
            </a:r>
            <a:endParaRPr lang="en-US" sz="1250" dirty="0"/>
          </a:p>
        </p:txBody>
      </p:sp>
      <p:sp>
        <p:nvSpPr>
          <p:cNvPr id="8" name="Shape 6"/>
          <p:cNvSpPr/>
          <p:nvPr/>
        </p:nvSpPr>
        <p:spPr>
          <a:xfrm>
            <a:off x="960120" y="3977640"/>
            <a:ext cx="5120640" cy="1572768"/>
          </a:xfrm>
          <a:prstGeom prst="roundRect">
            <a:avLst>
              <a:gd name="adj" fmla="val 2907"/>
            </a:avLst>
          </a:prstGeom>
          <a:solidFill>
            <a:srgbClr val="2C3743"/>
          </a:solidFill>
          <a:ln w="12700">
            <a:solidFill>
              <a:srgbClr val="333333"/>
            </a:solidFill>
            <a:prstDash val="solid"/>
          </a:ln>
        </p:spPr>
      </p:sp>
      <p:sp>
        <p:nvSpPr>
          <p:cNvPr id="9" name="Text 7"/>
          <p:cNvSpPr/>
          <p:nvPr/>
        </p:nvSpPr>
        <p:spPr>
          <a:xfrm>
            <a:off x="1143000" y="4069080"/>
            <a:ext cx="4754880" cy="1417320"/>
          </a:xfrm>
          <a:prstGeom prst="rect">
            <a:avLst/>
          </a:prstGeom>
          <a:noFill/>
          <a:ln/>
        </p:spPr>
        <p:txBody>
          <a:bodyPr wrap="square" lIns="0" tIns="0" rIns="0" bIns="0" rtlCol="0" anchor="ctr"/>
          <a:lstStyle/>
          <a:p>
            <a:pPr indent="0" marL="0">
              <a:lnSpc>
                <a:spcPct val="120000"/>
              </a:lnSpc>
              <a:buNone/>
            </a:pPr>
            <a:r>
              <a:rPr lang="en-US" sz="1050" dirty="0">
                <a:solidFill>
                  <a:srgbClr val="C9D6E0"/>
                </a:solidFill>
                <a:latin typeface="Courier New" pitchFamily="34" charset="0"/>
                <a:ea typeface="Courier New" pitchFamily="34" charset="-122"/>
                <a:cs typeface="Courier New" pitchFamily="34" charset="-120"/>
              </a:rPr>
              <a:t>pip install -r requirements.txt</a:t>
            </a:r>
            <a:endParaRPr lang="en-US" sz="1050" dirty="0"/>
          </a:p>
          <a:p>
            <a:pPr indent="0" marL="0">
              <a:lnSpc>
                <a:spcPct val="120000"/>
              </a:lnSpc>
              <a:buNone/>
            </a:pPr>
            <a:r>
              <a:rPr lang="en-US" sz="1050" dirty="0">
                <a:solidFill>
                  <a:srgbClr val="C9D6E0"/>
                </a:solidFill>
                <a:latin typeface="Courier New" pitchFamily="34" charset="0"/>
                <a:ea typeface="Courier New" pitchFamily="34" charset="-122"/>
                <a:cs typeface="Courier New" pitchFamily="34" charset="-120"/>
              </a:rPr>
              <a:t>python generate_data.py</a:t>
            </a:r>
            <a:endParaRPr lang="en-US" sz="1050" dirty="0"/>
          </a:p>
          <a:p>
            <a:pPr indent="0" marL="0">
              <a:lnSpc>
                <a:spcPct val="120000"/>
              </a:lnSpc>
              <a:buNone/>
            </a:pPr>
            <a:r>
              <a:rPr lang="en-US" sz="1050" dirty="0">
                <a:solidFill>
                  <a:srgbClr val="C9D6E0"/>
                </a:solidFill>
                <a:latin typeface="Courier New" pitchFamily="34" charset="0"/>
                <a:ea typeface="Courier New" pitchFamily="34" charset="-122"/>
                <a:cs typeface="Courier New" pitchFamily="34" charset="-120"/>
              </a:rPr>
              <a:t>python create_model.py</a:t>
            </a:r>
            <a:endParaRPr lang="en-US" sz="1050" dirty="0"/>
          </a:p>
          <a:p>
            <a:pPr indent="0" marL="0">
              <a:lnSpc>
                <a:spcPct val="120000"/>
              </a:lnSpc>
              <a:buNone/>
            </a:pPr>
            <a:r>
              <a:rPr lang="en-US" sz="1050" dirty="0">
                <a:solidFill>
                  <a:srgbClr val="C9D6E0"/>
                </a:solidFill>
                <a:latin typeface="Courier New" pitchFamily="34" charset="0"/>
                <a:ea typeface="Courier New" pitchFamily="34" charset="-122"/>
                <a:cs typeface="Courier New" pitchFamily="34" charset="-120"/>
              </a:rPr>
              <a:t>python app.py          # terminal 1</a:t>
            </a:r>
            <a:endParaRPr lang="en-US" sz="1050" dirty="0"/>
          </a:p>
          <a:p>
            <a:pPr indent="0" marL="0">
              <a:lnSpc>
                <a:spcPct val="120000"/>
              </a:lnSpc>
              <a:buNone/>
            </a:pPr>
            <a:r>
              <a:rPr lang="en-US" sz="1050" dirty="0">
                <a:solidFill>
                  <a:srgbClr val="C9D6E0"/>
                </a:solidFill>
                <a:latin typeface="Courier New" pitchFamily="34" charset="0"/>
                <a:ea typeface="Courier New" pitchFamily="34" charset="-122"/>
                <a:cs typeface="Courier New" pitchFamily="34" charset="-120"/>
              </a:rPr>
              <a:t>python stream_simulator.py   # terminal 2</a:t>
            </a:r>
            <a:endParaRPr lang="en-US" sz="1050" dirty="0"/>
          </a:p>
        </p:txBody>
      </p:sp>
      <p:sp>
        <p:nvSpPr>
          <p:cNvPr id="10" name="Shape 8"/>
          <p:cNvSpPr/>
          <p:nvPr/>
        </p:nvSpPr>
        <p:spPr>
          <a:xfrm>
            <a:off x="6720840" y="1600200"/>
            <a:ext cx="4828032" cy="4160520"/>
          </a:xfrm>
          <a:prstGeom prst="roundRect">
            <a:avLst>
              <a:gd name="adj" fmla="val 1758"/>
            </a:avLst>
          </a:prstGeom>
          <a:solidFill>
            <a:srgbClr val="E7EEF3"/>
          </a:solidFill>
          <a:ln w="12700">
            <a:solidFill>
              <a:srgbClr val="E7EEF3"/>
            </a:solidFill>
            <a:prstDash val="solid"/>
          </a:ln>
          <a:effectLst>
            <a:outerShdw sx="100000" sy="100000" kx="0" ky="0" algn="bl" rotWithShape="0" blurRad="101600" dist="25400" dir="5400000">
              <a:srgbClr val="AAB4BD">
                <a:alpha val="25000"/>
              </a:srgbClr>
            </a:outerShdw>
          </a:effectLst>
        </p:spPr>
      </p:sp>
      <p:sp>
        <p:nvSpPr>
          <p:cNvPr id="11" name="Text 9"/>
          <p:cNvSpPr/>
          <p:nvPr/>
        </p:nvSpPr>
        <p:spPr>
          <a:xfrm>
            <a:off x="7022592" y="1828800"/>
            <a:ext cx="4297680" cy="32004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What is in the repository</a:t>
            </a:r>
            <a:endParaRPr lang="en-US" sz="1700" dirty="0"/>
          </a:p>
        </p:txBody>
      </p:sp>
      <p:sp>
        <p:nvSpPr>
          <p:cNvPr id="12" name="Text 10"/>
          <p:cNvSpPr/>
          <p:nvPr/>
        </p:nvSpPr>
        <p:spPr>
          <a:xfrm>
            <a:off x="7022592" y="2286000"/>
            <a:ext cx="1920240" cy="274320"/>
          </a:xfrm>
          <a:prstGeom prst="rect">
            <a:avLst/>
          </a:prstGeom>
          <a:noFill/>
          <a:ln/>
        </p:spPr>
        <p:txBody>
          <a:bodyPr wrap="square" lIns="0" tIns="0" rIns="0" bIns="0" rtlCol="0" anchor="ctr"/>
          <a:lstStyle/>
          <a:p>
            <a:pPr indent="0" marL="0">
              <a:buNone/>
            </a:pPr>
            <a:r>
              <a:rPr lang="en-US" sz="1150" b="1" dirty="0">
                <a:solidFill>
                  <a:srgbClr val="36454F"/>
                </a:solidFill>
                <a:latin typeface="Courier New" pitchFamily="34" charset="0"/>
                <a:ea typeface="Courier New" pitchFamily="34" charset="-122"/>
                <a:cs typeface="Courier New" pitchFamily="34" charset="-120"/>
              </a:rPr>
              <a:t>generate_data.py</a:t>
            </a:r>
            <a:endParaRPr lang="en-US" sz="1150" dirty="0"/>
          </a:p>
        </p:txBody>
      </p:sp>
      <p:sp>
        <p:nvSpPr>
          <p:cNvPr id="13" name="Text 11"/>
          <p:cNvSpPr/>
          <p:nvPr/>
        </p:nvSpPr>
        <p:spPr>
          <a:xfrm>
            <a:off x="9006840" y="2286000"/>
            <a:ext cx="2331720" cy="457200"/>
          </a:xfrm>
          <a:prstGeom prst="rect">
            <a:avLst/>
          </a:prstGeom>
          <a:noFill/>
          <a:ln/>
        </p:spPr>
        <p:txBody>
          <a:bodyPr wrap="square" lIns="0" tIns="0" rIns="0" bIns="0" rtlCol="0" anchor="t"/>
          <a:lstStyle/>
          <a:p>
            <a:pPr indent="0" marL="0">
              <a:buNone/>
            </a:pPr>
            <a:r>
              <a:rPr lang="en-US" sz="1050" dirty="0">
                <a:solidFill>
                  <a:srgbClr val="4A5866"/>
                </a:solidFill>
                <a:latin typeface="Calibri" pitchFamily="34" charset="0"/>
                <a:ea typeface="Calibri" pitchFamily="34" charset="-122"/>
                <a:cs typeface="Calibri" pitchFamily="34" charset="-120"/>
              </a:rPr>
              <a:t>creates the synthetic sensor dataset</a:t>
            </a:r>
            <a:endParaRPr lang="en-US" sz="1050" dirty="0"/>
          </a:p>
        </p:txBody>
      </p:sp>
      <p:sp>
        <p:nvSpPr>
          <p:cNvPr id="14" name="Text 12"/>
          <p:cNvSpPr/>
          <p:nvPr/>
        </p:nvSpPr>
        <p:spPr>
          <a:xfrm>
            <a:off x="7022592" y="2852928"/>
            <a:ext cx="1920240" cy="274320"/>
          </a:xfrm>
          <a:prstGeom prst="rect">
            <a:avLst/>
          </a:prstGeom>
          <a:noFill/>
          <a:ln/>
        </p:spPr>
        <p:txBody>
          <a:bodyPr wrap="square" lIns="0" tIns="0" rIns="0" bIns="0" rtlCol="0" anchor="ctr"/>
          <a:lstStyle/>
          <a:p>
            <a:pPr indent="0" marL="0">
              <a:buNone/>
            </a:pPr>
            <a:r>
              <a:rPr lang="en-US" sz="1150" b="1" dirty="0">
                <a:solidFill>
                  <a:srgbClr val="36454F"/>
                </a:solidFill>
                <a:latin typeface="Courier New" pitchFamily="34" charset="0"/>
                <a:ea typeface="Courier New" pitchFamily="34" charset="-122"/>
                <a:cs typeface="Courier New" pitchFamily="34" charset="-120"/>
              </a:rPr>
              <a:t>create_model.py</a:t>
            </a:r>
            <a:endParaRPr lang="en-US" sz="1150" dirty="0"/>
          </a:p>
        </p:txBody>
      </p:sp>
      <p:sp>
        <p:nvSpPr>
          <p:cNvPr id="15" name="Text 13"/>
          <p:cNvSpPr/>
          <p:nvPr/>
        </p:nvSpPr>
        <p:spPr>
          <a:xfrm>
            <a:off x="9006840" y="2852928"/>
            <a:ext cx="2331720" cy="457200"/>
          </a:xfrm>
          <a:prstGeom prst="rect">
            <a:avLst/>
          </a:prstGeom>
          <a:noFill/>
          <a:ln/>
        </p:spPr>
        <p:txBody>
          <a:bodyPr wrap="square" lIns="0" tIns="0" rIns="0" bIns="0" rtlCol="0" anchor="t"/>
          <a:lstStyle/>
          <a:p>
            <a:pPr indent="0" marL="0">
              <a:buNone/>
            </a:pPr>
            <a:r>
              <a:rPr lang="en-US" sz="1050" dirty="0">
                <a:solidFill>
                  <a:srgbClr val="4A5866"/>
                </a:solidFill>
                <a:latin typeface="Calibri" pitchFamily="34" charset="0"/>
                <a:ea typeface="Calibri" pitchFamily="34" charset="-122"/>
                <a:cs typeface="Calibri" pitchFamily="34" charset="-120"/>
              </a:rPr>
              <a:t>trains and evaluates, writes model.pkl</a:t>
            </a:r>
            <a:endParaRPr lang="en-US" sz="1050" dirty="0"/>
          </a:p>
        </p:txBody>
      </p:sp>
      <p:sp>
        <p:nvSpPr>
          <p:cNvPr id="16" name="Text 14"/>
          <p:cNvSpPr/>
          <p:nvPr/>
        </p:nvSpPr>
        <p:spPr>
          <a:xfrm>
            <a:off x="7022592" y="3419856"/>
            <a:ext cx="1920240" cy="274320"/>
          </a:xfrm>
          <a:prstGeom prst="rect">
            <a:avLst/>
          </a:prstGeom>
          <a:noFill/>
          <a:ln/>
        </p:spPr>
        <p:txBody>
          <a:bodyPr wrap="square" lIns="0" tIns="0" rIns="0" bIns="0" rtlCol="0" anchor="ctr"/>
          <a:lstStyle/>
          <a:p>
            <a:pPr indent="0" marL="0">
              <a:buNone/>
            </a:pPr>
            <a:r>
              <a:rPr lang="en-US" sz="1150" b="1" dirty="0">
                <a:solidFill>
                  <a:srgbClr val="36454F"/>
                </a:solidFill>
                <a:latin typeface="Courier New" pitchFamily="34" charset="0"/>
                <a:ea typeface="Courier New" pitchFamily="34" charset="-122"/>
                <a:cs typeface="Courier New" pitchFamily="34" charset="-120"/>
              </a:rPr>
              <a:t>app.py</a:t>
            </a:r>
            <a:endParaRPr lang="en-US" sz="1150" dirty="0"/>
          </a:p>
        </p:txBody>
      </p:sp>
      <p:sp>
        <p:nvSpPr>
          <p:cNvPr id="17" name="Text 15"/>
          <p:cNvSpPr/>
          <p:nvPr/>
        </p:nvSpPr>
        <p:spPr>
          <a:xfrm>
            <a:off x="9006840" y="3419856"/>
            <a:ext cx="2331720" cy="457200"/>
          </a:xfrm>
          <a:prstGeom prst="rect">
            <a:avLst/>
          </a:prstGeom>
          <a:noFill/>
          <a:ln/>
        </p:spPr>
        <p:txBody>
          <a:bodyPr wrap="square" lIns="0" tIns="0" rIns="0" bIns="0" rtlCol="0" anchor="t"/>
          <a:lstStyle/>
          <a:p>
            <a:pPr indent="0" marL="0">
              <a:buNone/>
            </a:pPr>
            <a:r>
              <a:rPr lang="en-US" sz="1050" dirty="0">
                <a:solidFill>
                  <a:srgbClr val="4A5866"/>
                </a:solidFill>
                <a:latin typeface="Calibri" pitchFamily="34" charset="0"/>
                <a:ea typeface="Calibri" pitchFamily="34" charset="-122"/>
                <a:cs typeface="Calibri" pitchFamily="34" charset="-120"/>
              </a:rPr>
              <a:t>the Flask REST API</a:t>
            </a:r>
            <a:endParaRPr lang="en-US" sz="1050" dirty="0"/>
          </a:p>
        </p:txBody>
      </p:sp>
      <p:sp>
        <p:nvSpPr>
          <p:cNvPr id="18" name="Text 16"/>
          <p:cNvSpPr/>
          <p:nvPr/>
        </p:nvSpPr>
        <p:spPr>
          <a:xfrm>
            <a:off x="7022592" y="3986784"/>
            <a:ext cx="1920240" cy="274320"/>
          </a:xfrm>
          <a:prstGeom prst="rect">
            <a:avLst/>
          </a:prstGeom>
          <a:noFill/>
          <a:ln/>
        </p:spPr>
        <p:txBody>
          <a:bodyPr wrap="square" lIns="0" tIns="0" rIns="0" bIns="0" rtlCol="0" anchor="ctr"/>
          <a:lstStyle/>
          <a:p>
            <a:pPr indent="0" marL="0">
              <a:buNone/>
            </a:pPr>
            <a:r>
              <a:rPr lang="en-US" sz="1150" b="1" dirty="0">
                <a:solidFill>
                  <a:srgbClr val="36454F"/>
                </a:solidFill>
                <a:latin typeface="Courier New" pitchFamily="34" charset="0"/>
                <a:ea typeface="Courier New" pitchFamily="34" charset="-122"/>
                <a:cs typeface="Courier New" pitchFamily="34" charset="-120"/>
              </a:rPr>
              <a:t>stream_simulator.py</a:t>
            </a:r>
            <a:endParaRPr lang="en-US" sz="1150" dirty="0"/>
          </a:p>
        </p:txBody>
      </p:sp>
      <p:sp>
        <p:nvSpPr>
          <p:cNvPr id="19" name="Text 17"/>
          <p:cNvSpPr/>
          <p:nvPr/>
        </p:nvSpPr>
        <p:spPr>
          <a:xfrm>
            <a:off x="9006840" y="3986784"/>
            <a:ext cx="2331720" cy="457200"/>
          </a:xfrm>
          <a:prstGeom prst="rect">
            <a:avLst/>
          </a:prstGeom>
          <a:noFill/>
          <a:ln/>
        </p:spPr>
        <p:txBody>
          <a:bodyPr wrap="square" lIns="0" tIns="0" rIns="0" bIns="0" rtlCol="0" anchor="t"/>
          <a:lstStyle/>
          <a:p>
            <a:pPr indent="0" marL="0">
              <a:buNone/>
            </a:pPr>
            <a:r>
              <a:rPr lang="en-US" sz="1050" dirty="0">
                <a:solidFill>
                  <a:srgbClr val="4A5866"/>
                </a:solidFill>
                <a:latin typeface="Calibri" pitchFamily="34" charset="0"/>
                <a:ea typeface="Calibri" pitchFamily="34" charset="-122"/>
                <a:cs typeface="Calibri" pitchFamily="34" charset="-120"/>
              </a:rPr>
              <a:t>the continuous sensor stream</a:t>
            </a:r>
            <a:endParaRPr lang="en-US" sz="1050" dirty="0"/>
          </a:p>
        </p:txBody>
      </p:sp>
      <p:sp>
        <p:nvSpPr>
          <p:cNvPr id="20" name="Text 18"/>
          <p:cNvSpPr/>
          <p:nvPr/>
        </p:nvSpPr>
        <p:spPr>
          <a:xfrm>
            <a:off x="7022592" y="4553712"/>
            <a:ext cx="1920240" cy="274320"/>
          </a:xfrm>
          <a:prstGeom prst="rect">
            <a:avLst/>
          </a:prstGeom>
          <a:noFill/>
          <a:ln/>
        </p:spPr>
        <p:txBody>
          <a:bodyPr wrap="square" lIns="0" tIns="0" rIns="0" bIns="0" rtlCol="0" anchor="ctr"/>
          <a:lstStyle/>
          <a:p>
            <a:pPr indent="0" marL="0">
              <a:buNone/>
            </a:pPr>
            <a:r>
              <a:rPr lang="en-US" sz="1150" b="1" dirty="0">
                <a:solidFill>
                  <a:srgbClr val="36454F"/>
                </a:solidFill>
                <a:latin typeface="Courier New" pitchFamily="34" charset="0"/>
                <a:ea typeface="Courier New" pitchFamily="34" charset="-122"/>
                <a:cs typeface="Courier New" pitchFamily="34" charset="-120"/>
              </a:rPr>
              <a:t>predictions.log</a:t>
            </a:r>
            <a:endParaRPr lang="en-US" sz="1150" dirty="0"/>
          </a:p>
        </p:txBody>
      </p:sp>
      <p:sp>
        <p:nvSpPr>
          <p:cNvPr id="21" name="Text 19"/>
          <p:cNvSpPr/>
          <p:nvPr/>
        </p:nvSpPr>
        <p:spPr>
          <a:xfrm>
            <a:off x="9006840" y="4553712"/>
            <a:ext cx="2331720" cy="457200"/>
          </a:xfrm>
          <a:prstGeom prst="rect">
            <a:avLst/>
          </a:prstGeom>
          <a:noFill/>
          <a:ln/>
        </p:spPr>
        <p:txBody>
          <a:bodyPr wrap="square" lIns="0" tIns="0" rIns="0" bIns="0" rtlCol="0" anchor="t"/>
          <a:lstStyle/>
          <a:p>
            <a:pPr indent="0" marL="0">
              <a:buNone/>
            </a:pPr>
            <a:r>
              <a:rPr lang="en-US" sz="1050" dirty="0">
                <a:solidFill>
                  <a:srgbClr val="4A5866"/>
                </a:solidFill>
                <a:latin typeface="Calibri" pitchFamily="34" charset="0"/>
                <a:ea typeface="Calibri" pitchFamily="34" charset="-122"/>
                <a:cs typeface="Calibri" pitchFamily="34" charset="-120"/>
              </a:rPr>
              <a:t>monitoring evidence from a live run</a:t>
            </a:r>
            <a:endParaRPr lang="en-US" sz="1050" dirty="0"/>
          </a:p>
        </p:txBody>
      </p:sp>
      <p:sp>
        <p:nvSpPr>
          <p:cNvPr id="22" name="Text 20"/>
          <p:cNvSpPr/>
          <p:nvPr/>
        </p:nvSpPr>
        <p:spPr>
          <a:xfrm>
            <a:off x="7022592" y="5120640"/>
            <a:ext cx="1920240" cy="274320"/>
          </a:xfrm>
          <a:prstGeom prst="rect">
            <a:avLst/>
          </a:prstGeom>
          <a:noFill/>
          <a:ln/>
        </p:spPr>
        <p:txBody>
          <a:bodyPr wrap="square" lIns="0" tIns="0" rIns="0" bIns="0" rtlCol="0" anchor="ctr"/>
          <a:lstStyle/>
          <a:p>
            <a:pPr indent="0" marL="0">
              <a:buNone/>
            </a:pPr>
            <a:r>
              <a:rPr lang="en-US" sz="1150" b="1" dirty="0">
                <a:solidFill>
                  <a:srgbClr val="36454F"/>
                </a:solidFill>
                <a:latin typeface="Courier New" pitchFamily="34" charset="0"/>
                <a:ea typeface="Courier New" pitchFamily="34" charset="-122"/>
                <a:cs typeface="Courier New" pitchFamily="34" charset="-120"/>
              </a:rPr>
              <a:t>README.md</a:t>
            </a:r>
            <a:endParaRPr lang="en-US" sz="1150" dirty="0"/>
          </a:p>
        </p:txBody>
      </p:sp>
      <p:sp>
        <p:nvSpPr>
          <p:cNvPr id="23" name="Text 21"/>
          <p:cNvSpPr/>
          <p:nvPr/>
        </p:nvSpPr>
        <p:spPr>
          <a:xfrm>
            <a:off x="9006840" y="5120640"/>
            <a:ext cx="2331720" cy="457200"/>
          </a:xfrm>
          <a:prstGeom prst="rect">
            <a:avLst/>
          </a:prstGeom>
          <a:noFill/>
          <a:ln/>
        </p:spPr>
        <p:txBody>
          <a:bodyPr wrap="square" lIns="0" tIns="0" rIns="0" bIns="0" rtlCol="0" anchor="t"/>
          <a:lstStyle/>
          <a:p>
            <a:pPr indent="0" marL="0">
              <a:buNone/>
            </a:pPr>
            <a:r>
              <a:rPr lang="en-US" sz="1050" dirty="0">
                <a:solidFill>
                  <a:srgbClr val="4A5866"/>
                </a:solidFill>
                <a:latin typeface="Calibri" pitchFamily="34" charset="0"/>
                <a:ea typeface="Calibri" pitchFamily="34" charset="-122"/>
                <a:cs typeface="Calibri" pitchFamily="34" charset="-120"/>
              </a:rPr>
              <a:t>architecture, how to run, reflection</a:t>
            </a:r>
            <a:endParaRPr lang="en-US" sz="1050" dirty="0"/>
          </a:p>
        </p:txBody>
      </p:sp>
      <p:sp>
        <p:nvSpPr>
          <p:cNvPr id="24" name="Text 22"/>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25" name="Text 23"/>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640080" y="2468880"/>
            <a:ext cx="77724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p:nvPr/>
        </p:nvSpPr>
        <p:spPr>
          <a:xfrm>
            <a:off x="640080" y="3474720"/>
            <a:ext cx="7772400" cy="457200"/>
          </a:xfrm>
          <a:prstGeom prst="rect">
            <a:avLst/>
          </a:prstGeom>
          <a:noFill/>
          <a:ln/>
        </p:spPr>
        <p:txBody>
          <a:bodyPr wrap="square" lIns="0" tIns="0" rIns="0" bIns="0" rtlCol="0" anchor="ctr"/>
          <a:lstStyle/>
          <a:p>
            <a:pPr indent="0" marL="0">
              <a:buNone/>
            </a:pPr>
            <a:r>
              <a:rPr lang="en-US" sz="1800" i="1" dirty="0">
                <a:solidFill>
                  <a:srgbClr val="AEBBC6"/>
                </a:solidFill>
                <a:latin typeface="Calibri" pitchFamily="34" charset="0"/>
                <a:ea typeface="Calibri" pitchFamily="34" charset="-122"/>
                <a:cs typeface="Calibri" pitchFamily="34" charset="-120"/>
              </a:rPr>
              <a:t>Questions are welcome.</a:t>
            </a:r>
            <a:endParaRPr lang="en-US" sz="1800" dirty="0"/>
          </a:p>
        </p:txBody>
      </p:sp>
      <p:sp>
        <p:nvSpPr>
          <p:cNvPr id="4" name="Shape 2"/>
          <p:cNvSpPr/>
          <p:nvPr/>
        </p:nvSpPr>
        <p:spPr>
          <a:xfrm>
            <a:off x="640080" y="4206240"/>
            <a:ext cx="5669280" cy="658368"/>
          </a:xfrm>
          <a:prstGeom prst="roundRect">
            <a:avLst>
              <a:gd name="adj" fmla="val 6944"/>
            </a:avLst>
          </a:prstGeom>
          <a:solidFill>
            <a:srgbClr val="2C3743"/>
          </a:solidFill>
          <a:ln w="15875">
            <a:solidFill>
              <a:srgbClr val="D4881F"/>
            </a:solidFill>
            <a:prstDash val="dash"/>
          </a:ln>
        </p:spPr>
      </p:sp>
      <p:sp>
        <p:nvSpPr>
          <p:cNvPr id="5" name="Text 3"/>
          <p:cNvSpPr/>
          <p:nvPr/>
        </p:nvSpPr>
        <p:spPr>
          <a:xfrm>
            <a:off x="640080" y="4206240"/>
            <a:ext cx="5669280" cy="658368"/>
          </a:xfrm>
          <a:prstGeom prst="rect">
            <a:avLst/>
          </a:prstGeom>
          <a:noFill/>
          <a:ln/>
        </p:spPr>
        <p:txBody>
          <a:bodyPr wrap="square" lIns="0" tIns="0" rIns="0" bIns="0" rtlCol="0" anchor="ctr"/>
          <a:lstStyle/>
          <a:p>
            <a:pPr algn="ctr" indent="0" marL="0">
              <a:buNone/>
            </a:pPr>
            <a:r>
              <a:rPr lang="en-US" sz="1250" b="1" dirty="0">
                <a:solidFill>
                  <a:srgbClr val="D4881F"/>
                </a:solidFill>
                <a:latin typeface="Courier New" pitchFamily="34" charset="0"/>
                <a:ea typeface="Courier New" pitchFamily="34" charset="-122"/>
                <a:cs typeface="Courier New" pitchFamily="34" charset="-120"/>
              </a:rPr>
              <a:t>[ PASTE YOUR GITHUB REPOSITORY URL HERE ]</a:t>
            </a:r>
            <a:endParaRPr lang="en-US" sz="1250" dirty="0"/>
          </a:p>
        </p:txBody>
      </p:sp>
      <p:sp>
        <p:nvSpPr>
          <p:cNvPr id="6" name="Text 4"/>
          <p:cNvSpPr/>
          <p:nvPr/>
        </p:nvSpPr>
        <p:spPr>
          <a:xfrm>
            <a:off x="640080" y="5120640"/>
            <a:ext cx="7772400" cy="365760"/>
          </a:xfrm>
          <a:prstGeom prst="rect">
            <a:avLst/>
          </a:prstGeom>
          <a:noFill/>
          <a:ln/>
        </p:spPr>
        <p:txBody>
          <a:bodyPr wrap="square" lIns="0" tIns="0" rIns="0" bIns="0" rtlCol="0" anchor="ctr"/>
          <a:lstStyle/>
          <a:p>
            <a:pPr indent="0" marL="0">
              <a:buNone/>
            </a:pPr>
            <a:r>
              <a:rPr lang="en-US" sz="1200" dirty="0">
                <a:solidFill>
                  <a:srgbClr val="8A98A5"/>
                </a:solidFill>
                <a:latin typeface="Calibri" pitchFamily="34" charset="0"/>
                <a:ea typeface="Calibri" pitchFamily="34" charset="-122"/>
                <a:cs typeface="Calibri" pitchFamily="34" charset="-120"/>
              </a:rPr>
              <a:t>Amash Mohamed · DLBDSMTP01 · Project: From Model to Production</a:t>
            </a:r>
            <a:endParaRPr lang="en-US" sz="1200" dirty="0"/>
          </a:p>
        </p:txBody>
      </p:sp>
      <p:sp>
        <p:nvSpPr>
          <p:cNvPr id="7" name="Text 5"/>
          <p:cNvSpPr/>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8A98A5"/>
                </a:solidFill>
                <a:latin typeface="Calibri" pitchFamily="34" charset="0"/>
                <a:ea typeface="Calibri" pitchFamily="34" charset="-122"/>
                <a:cs typeface="Calibri" pitchFamily="34" charset="-120"/>
              </a:rPr>
              <a:t>DLBDSMTP01 · Project: From Model to Production</a:t>
            </a:r>
            <a:endParaRPr lang="en-US" sz="900" dirty="0"/>
          </a:p>
        </p:txBody>
      </p:sp>
      <p:sp>
        <p:nvSpPr>
          <p:cNvPr id="8" name="Text 6"/>
          <p:cNvSpPr/>
          <p:nvPr/>
        </p:nvSpPr>
        <p:spPr>
          <a:xfrm>
            <a:off x="10820095" y="6355080"/>
            <a:ext cx="731520" cy="274320"/>
          </a:xfrm>
          <a:prstGeom prst="rect">
            <a:avLst/>
          </a:prstGeom>
          <a:noFill/>
          <a:ln/>
        </p:spPr>
        <p:txBody>
          <a:bodyPr wrap="square" lIns="0" tIns="0" rIns="0" bIns="0" rtlCol="0" anchor="ctr"/>
          <a:lstStyle/>
          <a:p>
            <a:pPr algn="r" indent="0" marL="0">
              <a:buNone/>
            </a:pPr>
            <a:r>
              <a:rPr lang="en-US" sz="900" dirty="0">
                <a:solidFill>
                  <a:srgbClr val="8A98A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Anomaly Detection in an IoT Setting</dc:title>
  <dc:subject>PptxGenJS Presentation</dc:subject>
  <dc:creator>Amash Mohamed</dc:creator>
  <cp:lastModifiedBy>Amash Mohamed</cp:lastModifiedBy>
  <cp:revision>1</cp:revision>
  <dcterms:created xsi:type="dcterms:W3CDTF">2026-07-26T06:26:03Z</dcterms:created>
  <dcterms:modified xsi:type="dcterms:W3CDTF">2026-07-26T06:26:03Z</dcterms:modified>
</cp:coreProperties>
</file>